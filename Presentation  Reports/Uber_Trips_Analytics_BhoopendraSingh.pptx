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80" r:id="rId6"/>
    <p:sldId id="260" r:id="rId7"/>
    <p:sldId id="261" r:id="rId8"/>
    <p:sldId id="281" r:id="rId9"/>
    <p:sldId id="262" r:id="rId10"/>
    <p:sldId id="263" r:id="rId11"/>
    <p:sldId id="282" r:id="rId12"/>
    <p:sldId id="264" r:id="rId13"/>
    <p:sldId id="265" r:id="rId14"/>
    <p:sldId id="283" r:id="rId15"/>
    <p:sldId id="266" r:id="rId16"/>
    <p:sldId id="267" r:id="rId17"/>
    <p:sldId id="284" r:id="rId18"/>
    <p:sldId id="268" r:id="rId19"/>
    <p:sldId id="269" r:id="rId20"/>
    <p:sldId id="285" r:id="rId21"/>
    <p:sldId id="270" r:id="rId22"/>
    <p:sldId id="271" r:id="rId23"/>
    <p:sldId id="286" r:id="rId24"/>
    <p:sldId id="272" r:id="rId25"/>
    <p:sldId id="273" r:id="rId26"/>
    <p:sldId id="287" r:id="rId27"/>
    <p:sldId id="274" r:id="rId28"/>
    <p:sldId id="275" r:id="rId29"/>
    <p:sldId id="288" r:id="rId30"/>
    <p:sldId id="276" r:id="rId31"/>
    <p:sldId id="277" r:id="rId32"/>
    <p:sldId id="289" r:id="rId33"/>
    <p:sldId id="278" r:id="rId34"/>
    <p:sldId id="27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2" d="100"/>
          <a:sy n="62" d="100"/>
        </p:scale>
        <p:origin x="804"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Result</c:v>
                </c:pt>
              </c:strCache>
            </c:strRef>
          </c:tx>
          <c:invertIfNegative val="1"/>
          <c:dLbls>
            <c:spPr>
              <a:noFill/>
              <a:ln>
                <a:noFill/>
              </a:ln>
              <a:effectLst/>
            </c:spPr>
            <c:txPr>
              <a:bodyPr/>
              <a:lstStyle/>
              <a:p>
                <a:pPr>
                  <a:defRPr sz="9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2017</c:v>
                </c:pt>
                <c:pt idx="1">
                  <c:v>2018</c:v>
                </c:pt>
                <c:pt idx="2">
                  <c:v>2019</c:v>
                </c:pt>
                <c:pt idx="3">
                  <c:v>2020</c:v>
                </c:pt>
              </c:strCache>
            </c:strRef>
          </c:cat>
          <c:val>
            <c:numRef>
              <c:f>Sheet1!$B$2:$B$5</c:f>
              <c:numCache>
                <c:formatCode>General</c:formatCode>
                <c:ptCount val="4"/>
                <c:pt idx="0">
                  <c:v>1048575</c:v>
                </c:pt>
                <c:pt idx="1">
                  <c:v>8807303</c:v>
                </c:pt>
                <c:pt idx="2">
                  <c:v>6045506</c:v>
                </c:pt>
                <c:pt idx="3">
                  <c:v>1735507</c:v>
                </c:pt>
              </c:numCache>
            </c:numRef>
          </c:val>
          <c:extLst>
            <c:ext xmlns:c16="http://schemas.microsoft.com/office/drawing/2014/chart" uri="{C3380CC4-5D6E-409C-BE32-E72D297353CC}">
              <c16:uniqueId val="{00000000-3FE1-498F-87A4-150F2690057B}"/>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Result</c:v>
                </c:pt>
              </c:strCache>
            </c:strRef>
          </c:tx>
          <c:invertIfNegative val="1"/>
          <c:dLbls>
            <c:spPr>
              <a:noFill/>
              <a:ln>
                <a:noFill/>
              </a:ln>
              <a:effectLst/>
            </c:spPr>
            <c:txPr>
              <a:bodyPr/>
              <a:lstStyle/>
              <a:p>
                <a:pPr>
                  <a:defRPr sz="9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4216.6099999999997</c:v>
                </c:pt>
                <c:pt idx="1">
                  <c:v>4037.88</c:v>
                </c:pt>
                <c:pt idx="2">
                  <c:v>4088.43</c:v>
                </c:pt>
                <c:pt idx="3">
                  <c:v>3469.07</c:v>
                </c:pt>
                <c:pt idx="4">
                  <c:v>3718.88</c:v>
                </c:pt>
                <c:pt idx="5">
                  <c:v>4357.57</c:v>
                </c:pt>
                <c:pt idx="6">
                  <c:v>3688</c:v>
                </c:pt>
                <c:pt idx="7">
                  <c:v>4323</c:v>
                </c:pt>
                <c:pt idx="8">
                  <c:v>3734.25</c:v>
                </c:pt>
                <c:pt idx="9">
                  <c:v>4300.22</c:v>
                </c:pt>
                <c:pt idx="10">
                  <c:v>3696.56</c:v>
                </c:pt>
                <c:pt idx="11">
                  <c:v>4673.08</c:v>
                </c:pt>
              </c:numCache>
            </c:numRef>
          </c:val>
          <c:extLst>
            <c:ext xmlns:c16="http://schemas.microsoft.com/office/drawing/2014/chart" uri="{C3380CC4-5D6E-409C-BE32-E72D297353CC}">
              <c16:uniqueId val="{00000000-DE79-452E-BF8B-35A9AD8FA347}"/>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Result</c:v>
                </c:pt>
              </c:strCache>
            </c:strRef>
          </c:tx>
          <c:invertIfNegative val="1"/>
          <c:dLbls>
            <c:spPr>
              <a:noFill/>
              <a:ln>
                <a:noFill/>
              </a:ln>
              <a:effectLst/>
            </c:spPr>
            <c:txPr>
              <a:bodyPr/>
              <a:lstStyle/>
              <a:p>
                <a:pPr>
                  <a:defRPr sz="9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Fri 17–18</c:v>
                </c:pt>
                <c:pt idx="1">
                  <c:v>Fri 19–20</c:v>
                </c:pt>
                <c:pt idx="2">
                  <c:v>Thu 18–19</c:v>
                </c:pt>
                <c:pt idx="3">
                  <c:v>Fri 16–17</c:v>
                </c:pt>
                <c:pt idx="4">
                  <c:v>Thu 17–18</c:v>
                </c:pt>
              </c:strCache>
            </c:strRef>
          </c:cat>
          <c:val>
            <c:numRef>
              <c:f>Sheet1!$B$2:$B$6</c:f>
              <c:numCache>
                <c:formatCode>General</c:formatCode>
                <c:ptCount val="5"/>
                <c:pt idx="0">
                  <c:v>1166.8599999999999</c:v>
                </c:pt>
                <c:pt idx="1">
                  <c:v>1120.03</c:v>
                </c:pt>
                <c:pt idx="2">
                  <c:v>1115.69</c:v>
                </c:pt>
                <c:pt idx="3">
                  <c:v>1086.6500000000001</c:v>
                </c:pt>
                <c:pt idx="4">
                  <c:v>1085.3900000000001</c:v>
                </c:pt>
              </c:numCache>
            </c:numRef>
          </c:val>
          <c:extLst>
            <c:ext xmlns:c16="http://schemas.microsoft.com/office/drawing/2014/chart" uri="{C3380CC4-5D6E-409C-BE32-E72D297353CC}">
              <c16:uniqueId val="{00000000-55C6-4756-96A0-B3D59037544D}"/>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pt idx="0">
                  <c:v>Result</c:v>
                </c:pt>
              </c:strCache>
            </c:strRef>
          </c:tx>
          <c:dLbls>
            <c:spPr>
              <a:noFill/>
              <a:ln>
                <a:noFill/>
              </a:ln>
              <a:effectLst/>
            </c:spPr>
            <c:txPr>
              <a:bodyPr/>
              <a:lstStyle/>
              <a:p>
                <a:pPr>
                  <a:defRPr sz="1000"/>
                </a:pPr>
                <a:endParaRPr lang="en-US"/>
              </a:p>
            </c:txPr>
            <c:showLegendKey val="0"/>
            <c:showVal val="1"/>
            <c:showCatName val="0"/>
            <c:showSerName val="0"/>
            <c:showPercent val="1"/>
            <c:showBubbleSize val="0"/>
            <c:showLeaderLines val="1"/>
            <c:extLst>
              <c:ext xmlns:c15="http://schemas.microsoft.com/office/drawing/2012/chart" uri="{CE6537A1-D6FC-4f65-9D91-7224C49458BB}"/>
            </c:extLst>
          </c:dLbls>
          <c:cat>
            <c:strRef>
              <c:f>Sheet1!$A$2:$A$6</c:f>
              <c:strCache>
                <c:ptCount val="5"/>
                <c:pt idx="0">
                  <c:v>Manhattan</c:v>
                </c:pt>
                <c:pt idx="1">
                  <c:v>Brooklyn</c:v>
                </c:pt>
                <c:pt idx="2">
                  <c:v>Queens</c:v>
                </c:pt>
                <c:pt idx="3">
                  <c:v>Bronx</c:v>
                </c:pt>
                <c:pt idx="4">
                  <c:v>Unknown</c:v>
                </c:pt>
              </c:strCache>
            </c:strRef>
          </c:cat>
          <c:val>
            <c:numRef>
              <c:f>Sheet1!$B$2:$B$6</c:f>
              <c:numCache>
                <c:formatCode>General</c:formatCode>
                <c:ptCount val="5"/>
                <c:pt idx="0">
                  <c:v>33.4</c:v>
                </c:pt>
                <c:pt idx="1">
                  <c:v>30.96</c:v>
                </c:pt>
                <c:pt idx="2">
                  <c:v>28.93</c:v>
                </c:pt>
                <c:pt idx="3">
                  <c:v>6.48</c:v>
                </c:pt>
                <c:pt idx="4">
                  <c:v>0.19</c:v>
                </c:pt>
              </c:numCache>
            </c:numRef>
          </c:val>
          <c:extLst>
            <c:ext xmlns:c16="http://schemas.microsoft.com/office/drawing/2014/chart" uri="{C3380CC4-5D6E-409C-BE32-E72D297353CC}">
              <c16:uniqueId val="{00000000-D7B1-433C-BB07-95CE153185EE}"/>
            </c:ext>
          </c:extLst>
        </c:ser>
        <c:dLbls>
          <c:showLegendKey val="0"/>
          <c:showVal val="1"/>
          <c:showCatName val="0"/>
          <c:showSerName val="0"/>
          <c:showPercent val="1"/>
          <c:showBubbleSize val="0"/>
          <c:showLeaderLines val="1"/>
        </c:dLbls>
        <c:firstSliceAng val="0"/>
      </c:pieChart>
    </c:plotArea>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Result</c:v>
                </c:pt>
              </c:strCache>
            </c:strRef>
          </c:tx>
          <c:invertIfNegative val="1"/>
          <c:dLbls>
            <c:spPr>
              <a:noFill/>
              <a:ln>
                <a:noFill/>
              </a:ln>
              <a:effectLst/>
            </c:spPr>
            <c:txPr>
              <a:bodyPr/>
              <a:lstStyle/>
              <a:p>
                <a:pPr>
                  <a:defRPr sz="9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Astoria → Astoria</c:v>
                </c:pt>
                <c:pt idx="1">
                  <c:v>E Harlem S → E Harlem N</c:v>
                </c:pt>
                <c:pt idx="2">
                  <c:v>Central Harlem → Central Harlem N</c:v>
                </c:pt>
                <c:pt idx="3">
                  <c:v>E Harlem N → E Harlem S</c:v>
                </c:pt>
                <c:pt idx="4">
                  <c:v>Forest Hills → Forest Hills</c:v>
                </c:pt>
              </c:strCache>
            </c:strRef>
          </c:cat>
          <c:val>
            <c:numRef>
              <c:f>Sheet1!$B$2:$B$6</c:f>
              <c:numCache>
                <c:formatCode>General</c:formatCode>
                <c:ptCount val="5"/>
                <c:pt idx="0">
                  <c:v>212538</c:v>
                </c:pt>
                <c:pt idx="1">
                  <c:v>199548</c:v>
                </c:pt>
                <c:pt idx="2">
                  <c:v>168487</c:v>
                </c:pt>
                <c:pt idx="3">
                  <c:v>165029</c:v>
                </c:pt>
                <c:pt idx="4">
                  <c:v>146291</c:v>
                </c:pt>
              </c:numCache>
            </c:numRef>
          </c:val>
          <c:extLst>
            <c:ext xmlns:c16="http://schemas.microsoft.com/office/drawing/2014/chart" uri="{C3380CC4-5D6E-409C-BE32-E72D297353CC}">
              <c16:uniqueId val="{00000000-7265-4507-A8E7-248290AE1578}"/>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Result</c:v>
                </c:pt>
              </c:strCache>
            </c:strRef>
          </c:tx>
          <c:invertIfNegative val="1"/>
          <c:dLbls>
            <c:spPr>
              <a:noFill/>
              <a:ln>
                <a:noFill/>
              </a:ln>
              <a:effectLst/>
            </c:spPr>
            <c:txPr>
              <a:bodyPr/>
              <a:lstStyle/>
              <a:p>
                <a:pPr>
                  <a:defRPr sz="9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Manhattan</c:v>
                </c:pt>
                <c:pt idx="1">
                  <c:v>Brooklyn</c:v>
                </c:pt>
                <c:pt idx="2">
                  <c:v>Queens</c:v>
                </c:pt>
                <c:pt idx="3">
                  <c:v>Bronx</c:v>
                </c:pt>
                <c:pt idx="4">
                  <c:v>Unknown</c:v>
                </c:pt>
              </c:strCache>
            </c:strRef>
          </c:cat>
          <c:val>
            <c:numRef>
              <c:f>Sheet1!$B$2:$B$6</c:f>
              <c:numCache>
                <c:formatCode>General</c:formatCode>
                <c:ptCount val="5"/>
                <c:pt idx="0">
                  <c:v>1.2887</c:v>
                </c:pt>
                <c:pt idx="1">
                  <c:v>1.3283</c:v>
                </c:pt>
                <c:pt idx="2">
                  <c:v>1.401</c:v>
                </c:pt>
                <c:pt idx="3">
                  <c:v>1.2908999999999999</c:v>
                </c:pt>
                <c:pt idx="4">
                  <c:v>1.2381</c:v>
                </c:pt>
              </c:numCache>
            </c:numRef>
          </c:val>
          <c:extLst>
            <c:ext xmlns:c16="http://schemas.microsoft.com/office/drawing/2014/chart" uri="{C3380CC4-5D6E-409C-BE32-E72D297353CC}">
              <c16:uniqueId val="{00000000-3188-4E98-AC66-16F1C584E268}"/>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Result</c:v>
                </c:pt>
              </c:strCache>
            </c:strRef>
          </c:tx>
          <c:invertIfNegative val="1"/>
          <c:dLbls>
            <c:spPr>
              <a:noFill/>
              <a:ln>
                <a:noFill/>
              </a:ln>
              <a:effectLst/>
            </c:spPr>
            <c:txPr>
              <a:bodyPr/>
              <a:lstStyle/>
              <a:p>
                <a:pPr>
                  <a:defRPr sz="9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Manhattan → Staten</c:v>
                </c:pt>
                <c:pt idx="1">
                  <c:v>Staten → Bronx</c:v>
                </c:pt>
                <c:pt idx="2">
                  <c:v>Bronx → Staten</c:v>
                </c:pt>
                <c:pt idx="3">
                  <c:v>Staten → Queens</c:v>
                </c:pt>
                <c:pt idx="4">
                  <c:v>Queens → Staten</c:v>
                </c:pt>
              </c:strCache>
            </c:strRef>
          </c:cat>
          <c:val>
            <c:numRef>
              <c:f>Sheet1!$B$2:$B$6</c:f>
              <c:numCache>
                <c:formatCode>General</c:formatCode>
                <c:ptCount val="5"/>
                <c:pt idx="0">
                  <c:v>96.16</c:v>
                </c:pt>
                <c:pt idx="1">
                  <c:v>31.58</c:v>
                </c:pt>
                <c:pt idx="2">
                  <c:v>30.52</c:v>
                </c:pt>
                <c:pt idx="3">
                  <c:v>28.36</c:v>
                </c:pt>
                <c:pt idx="4">
                  <c:v>26.18</c:v>
                </c:pt>
              </c:numCache>
            </c:numRef>
          </c:val>
          <c:extLst>
            <c:ext xmlns:c16="http://schemas.microsoft.com/office/drawing/2014/chart" uri="{C3380CC4-5D6E-409C-BE32-E72D297353CC}">
              <c16:uniqueId val="{00000000-82F4-4724-9E18-8B61DF50385E}"/>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pt idx="0">
                  <c:v>Result</c:v>
                </c:pt>
              </c:strCache>
            </c:strRef>
          </c:tx>
          <c:dLbls>
            <c:spPr>
              <a:noFill/>
              <a:ln>
                <a:noFill/>
              </a:ln>
              <a:effectLst/>
            </c:spPr>
            <c:txPr>
              <a:bodyPr/>
              <a:lstStyle/>
              <a:p>
                <a:pPr>
                  <a:defRPr sz="1000"/>
                </a:pPr>
                <a:endParaRPr lang="en-US"/>
              </a:p>
            </c:txPr>
            <c:showLegendKey val="0"/>
            <c:showVal val="1"/>
            <c:showCatName val="0"/>
            <c:showSerName val="0"/>
            <c:showPercent val="1"/>
            <c:showBubbleSize val="0"/>
            <c:showLeaderLines val="1"/>
            <c:extLst>
              <c:ext xmlns:c15="http://schemas.microsoft.com/office/drawing/2012/chart" uri="{CE6537A1-D6FC-4f65-9D91-7224C49458BB}"/>
            </c:extLst>
          </c:dLbls>
          <c:cat>
            <c:strRef>
              <c:f>Sheet1!$A$2:$A$6</c:f>
              <c:strCache>
                <c:ptCount val="5"/>
                <c:pt idx="0">
                  <c:v>Type 1</c:v>
                </c:pt>
                <c:pt idx="1">
                  <c:v>Type 2</c:v>
                </c:pt>
                <c:pt idx="2">
                  <c:v>Type 3</c:v>
                </c:pt>
                <c:pt idx="3">
                  <c:v>Type 4</c:v>
                </c:pt>
                <c:pt idx="4">
                  <c:v>Type 5</c:v>
                </c:pt>
              </c:strCache>
            </c:strRef>
          </c:cat>
          <c:val>
            <c:numRef>
              <c:f>Sheet1!$B$2:$B$6</c:f>
              <c:numCache>
                <c:formatCode>General</c:formatCode>
                <c:ptCount val="5"/>
                <c:pt idx="0">
                  <c:v>53.28</c:v>
                </c:pt>
                <c:pt idx="1">
                  <c:v>40.68</c:v>
                </c:pt>
                <c:pt idx="2">
                  <c:v>0.47</c:v>
                </c:pt>
                <c:pt idx="3">
                  <c:v>0.21</c:v>
                </c:pt>
                <c:pt idx="4">
                  <c:v>0</c:v>
                </c:pt>
              </c:numCache>
            </c:numRef>
          </c:val>
          <c:extLst>
            <c:ext xmlns:c16="http://schemas.microsoft.com/office/drawing/2014/chart" uri="{C3380CC4-5D6E-409C-BE32-E72D297353CC}">
              <c16:uniqueId val="{00000000-F31C-4604-9E54-E855428D421A}"/>
            </c:ext>
          </c:extLst>
        </c:ser>
        <c:dLbls>
          <c:showLegendKey val="0"/>
          <c:showVal val="1"/>
          <c:showCatName val="0"/>
          <c:showSerName val="0"/>
          <c:showPercent val="1"/>
          <c:showBubbleSize val="0"/>
          <c:showLeaderLines val="1"/>
        </c:dLbls>
        <c:firstSliceAng val="0"/>
      </c:pieChart>
    </c:plotArea>
    <c:plotVisOnly val="1"/>
    <c:dispBlanksAs val="gap"/>
    <c:showDLblsOverMax val="1"/>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Result</c:v>
                </c:pt>
              </c:strCache>
            </c:strRef>
          </c:tx>
          <c:invertIfNegative val="1"/>
          <c:dLbls>
            <c:spPr>
              <a:noFill/>
              <a:ln>
                <a:noFill/>
              </a:ln>
              <a:effectLst/>
            </c:spPr>
            <c:txPr>
              <a:bodyPr/>
              <a:lstStyle/>
              <a:p>
                <a:pPr>
                  <a:defRPr sz="9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Washington Hts S → Heartland/Todt</c:v>
                </c:pt>
                <c:pt idx="1">
                  <c:v>Morningside Hts → Elt./Annadale</c:v>
                </c:pt>
                <c:pt idx="2">
                  <c:v>LaGuardia → DUMBO/Vinegar Hill</c:v>
                </c:pt>
                <c:pt idx="3">
                  <c:v>Flatbush/Ditmas → Newark Airport</c:v>
                </c:pt>
                <c:pt idx="4">
                  <c:v>Flushing → Newark Airport</c:v>
                </c:pt>
              </c:strCache>
            </c:strRef>
          </c:cat>
          <c:val>
            <c:numRef>
              <c:f>Sheet1!$B$2:$B$6</c:f>
              <c:numCache>
                <c:formatCode>General</c:formatCode>
                <c:ptCount val="5"/>
                <c:pt idx="0">
                  <c:v>0</c:v>
                </c:pt>
                <c:pt idx="1">
                  <c:v>17.71</c:v>
                </c:pt>
                <c:pt idx="2">
                  <c:v>17.670000000000002</c:v>
                </c:pt>
                <c:pt idx="3">
                  <c:v>17.510000000000002</c:v>
                </c:pt>
                <c:pt idx="4">
                  <c:v>17.39</c:v>
                </c:pt>
              </c:numCache>
            </c:numRef>
          </c:val>
          <c:extLst>
            <c:ext xmlns:c16="http://schemas.microsoft.com/office/drawing/2014/chart" uri="{C3380CC4-5D6E-409C-BE32-E72D297353CC}">
              <c16:uniqueId val="{00000000-7CC7-474B-9C63-55838E73030C}"/>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Result</c:v>
                </c:pt>
              </c:strCache>
            </c:strRef>
          </c:tx>
          <c:invertIfNegative val="1"/>
          <c:dLbls>
            <c:spPr>
              <a:noFill/>
              <a:ln>
                <a:noFill/>
              </a:ln>
              <a:effectLst/>
            </c:spPr>
            <c:txPr>
              <a:bodyPr/>
              <a:lstStyle/>
              <a:p>
                <a:pPr>
                  <a:defRPr sz="9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Manhattan → Manhattan</c:v>
                </c:pt>
                <c:pt idx="1">
                  <c:v>Brooklyn → Brooklyn</c:v>
                </c:pt>
                <c:pt idx="2">
                  <c:v>Queens → Queens</c:v>
                </c:pt>
                <c:pt idx="3">
                  <c:v>Brooklyn → Manhattan</c:v>
                </c:pt>
                <c:pt idx="4">
                  <c:v>Bronx → Bronx</c:v>
                </c:pt>
              </c:strCache>
            </c:strRef>
          </c:cat>
          <c:val>
            <c:numRef>
              <c:f>Sheet1!$B$2:$B$6</c:f>
              <c:numCache>
                <c:formatCode>General</c:formatCode>
                <c:ptCount val="5"/>
                <c:pt idx="0">
                  <c:v>65094919.299999997</c:v>
                </c:pt>
                <c:pt idx="1">
                  <c:v>62748454.979999997</c:v>
                </c:pt>
                <c:pt idx="2">
                  <c:v>57802084.18</c:v>
                </c:pt>
                <c:pt idx="3">
                  <c:v>22919660.329999998</c:v>
                </c:pt>
                <c:pt idx="4">
                  <c:v>12735130.67</c:v>
                </c:pt>
              </c:numCache>
            </c:numRef>
          </c:val>
          <c:extLst>
            <c:ext xmlns:c16="http://schemas.microsoft.com/office/drawing/2014/chart" uri="{C3380CC4-5D6E-409C-BE32-E72D297353CC}">
              <c16:uniqueId val="{00000000-34ED-43C8-8F18-E2D870C5B8BC}"/>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1B31"/>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58368"/>
            <a:ext cx="5486400" cy="292608"/>
          </a:xfrm>
          <a:prstGeom prst="rect">
            <a:avLst/>
          </a:prstGeom>
          <a:noFill/>
        </p:spPr>
        <p:txBody>
          <a:bodyPr wrap="square" lIns="54864" tIns="27432" rIns="54864" bIns="18288">
            <a:spAutoFit/>
          </a:bodyPr>
          <a:lstStyle/>
          <a:p>
            <a:r>
              <a:rPr sz="1200" b="1">
                <a:solidFill>
                  <a:srgbClr val="FFC400"/>
                </a:solidFill>
                <a:latin typeface="Aptos"/>
              </a:rPr>
              <a:t>UBER TRIPS ANALYTICS  |  SQL EDITION</a:t>
            </a:r>
          </a:p>
        </p:txBody>
      </p:sp>
      <p:sp>
        <p:nvSpPr>
          <p:cNvPr id="4" name="TextBox 3"/>
          <p:cNvSpPr txBox="1"/>
          <p:nvPr/>
        </p:nvSpPr>
        <p:spPr>
          <a:xfrm>
            <a:off x="749808" y="1371600"/>
            <a:ext cx="5577840" cy="1325880"/>
          </a:xfrm>
          <a:prstGeom prst="rect">
            <a:avLst/>
          </a:prstGeom>
          <a:noFill/>
        </p:spPr>
        <p:txBody>
          <a:bodyPr wrap="square" lIns="54864" tIns="27432" rIns="54864" bIns="18288">
            <a:spAutoFit/>
          </a:bodyPr>
          <a:lstStyle/>
          <a:p>
            <a:r>
              <a:rPr sz="3500" b="1">
                <a:solidFill>
                  <a:srgbClr val="FFFFFF"/>
                </a:solidFill>
                <a:latin typeface="Aptos"/>
              </a:rPr>
              <a:t>UBER TRIPS
ANALYTICS</a:t>
            </a:r>
          </a:p>
        </p:txBody>
      </p:sp>
      <p:sp>
        <p:nvSpPr>
          <p:cNvPr id="5" name="TextBox 4"/>
          <p:cNvSpPr txBox="1"/>
          <p:nvPr/>
        </p:nvSpPr>
        <p:spPr>
          <a:xfrm>
            <a:off x="804672" y="3063240"/>
            <a:ext cx="5029200" cy="731520"/>
          </a:xfrm>
          <a:prstGeom prst="rect">
            <a:avLst/>
          </a:prstGeom>
          <a:noFill/>
        </p:spPr>
        <p:txBody>
          <a:bodyPr wrap="square" lIns="54864" tIns="27432" rIns="54864" bIns="18288">
            <a:spAutoFit/>
          </a:bodyPr>
          <a:lstStyle/>
          <a:p>
            <a:r>
              <a:rPr sz="1900" b="0">
                <a:solidFill>
                  <a:srgbClr val="DAE7F1"/>
                </a:solidFill>
                <a:latin typeface="Aptos"/>
              </a:rPr>
              <a:t>From raw trip records to clear business decisions</a:t>
            </a:r>
          </a:p>
        </p:txBody>
      </p:sp>
      <p:sp>
        <p:nvSpPr>
          <p:cNvPr id="6" name="Rectangle 5"/>
          <p:cNvSpPr/>
          <p:nvPr/>
        </p:nvSpPr>
        <p:spPr>
          <a:xfrm>
            <a:off x="822960" y="4041648"/>
            <a:ext cx="960120"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4370832"/>
            <a:ext cx="5212080" cy="411480"/>
          </a:xfrm>
          <a:prstGeom prst="rect">
            <a:avLst/>
          </a:prstGeom>
          <a:noFill/>
        </p:spPr>
        <p:txBody>
          <a:bodyPr wrap="square" lIns="54864" tIns="27432" rIns="54864" bIns="18288">
            <a:spAutoFit/>
          </a:bodyPr>
          <a:lstStyle/>
          <a:p>
            <a:r>
              <a:rPr sz="1300" b="1">
                <a:solidFill>
                  <a:srgbClr val="FFFFFF"/>
                </a:solidFill>
                <a:latin typeface="Aptos"/>
              </a:rPr>
              <a:t>SQL ANALYSIS  •  10 QUESTIONS  •  2017–2020</a:t>
            </a:r>
          </a:p>
        </p:txBody>
      </p:sp>
      <p:sp>
        <p:nvSpPr>
          <p:cNvPr id="8" name="TextBox 7"/>
          <p:cNvSpPr txBox="1"/>
          <p:nvPr/>
        </p:nvSpPr>
        <p:spPr>
          <a:xfrm>
            <a:off x="822960" y="5925312"/>
            <a:ext cx="5120640" cy="215444"/>
          </a:xfrm>
          <a:prstGeom prst="rect">
            <a:avLst/>
          </a:prstGeom>
          <a:noFill/>
        </p:spPr>
        <p:txBody>
          <a:bodyPr wrap="square" lIns="54864" tIns="27432" rIns="54864" bIns="18288">
            <a:spAutoFit/>
          </a:bodyPr>
          <a:lstStyle/>
          <a:p>
            <a:r>
              <a:rPr sz="1100" b="0" dirty="0">
                <a:solidFill>
                  <a:srgbClr val="DAE7F1"/>
                </a:solidFill>
                <a:latin typeface="Aptos"/>
              </a:rPr>
              <a:t>Prepared by: [</a:t>
            </a:r>
            <a:r>
              <a:rPr lang="en-US" sz="1100" dirty="0">
                <a:solidFill>
                  <a:srgbClr val="DAE7F1"/>
                </a:solidFill>
                <a:latin typeface="Aptos"/>
              </a:rPr>
              <a:t>Bhoopendra Singh </a:t>
            </a:r>
            <a:r>
              <a:rPr lang="en-US" sz="1100" b="0" dirty="0">
                <a:solidFill>
                  <a:srgbClr val="DAE7F1"/>
                </a:solidFill>
                <a:latin typeface="Aptos"/>
              </a:rPr>
              <a:t>]</a:t>
            </a:r>
            <a:endParaRPr sz="1100" b="0" dirty="0">
              <a:solidFill>
                <a:srgbClr val="DAE7F1"/>
              </a:solidFill>
              <a:latin typeface="Aptos"/>
            </a:endParaRPr>
          </a:p>
        </p:txBody>
      </p:sp>
      <p:sp>
        <p:nvSpPr>
          <p:cNvPr id="9" name="Rounded Rectangle 8"/>
          <p:cNvSpPr/>
          <p:nvPr/>
        </p:nvSpPr>
        <p:spPr>
          <a:xfrm>
            <a:off x="6903720" y="2057400"/>
            <a:ext cx="4069080" cy="1508760"/>
          </a:xfrm>
          <a:prstGeom prst="roundRect">
            <a:avLst/>
          </a:prstGeom>
          <a:solidFill>
            <a:srgbClr val="0D304C"/>
          </a:solidFill>
          <a:ln>
            <a:solidFill>
              <a:srgbClr val="1D4E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0" y="2670048"/>
            <a:ext cx="3246120" cy="566928"/>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909560" y="2212848"/>
            <a:ext cx="1828800" cy="530352"/>
          </a:xfrm>
          <a:prstGeom prst="roundRect">
            <a:avLst/>
          </a:prstGeom>
          <a:solidFill>
            <a:srgbClr val="B4DCEC"/>
          </a:solidFill>
          <a:ln>
            <a:solidFill>
              <a:srgbClr val="B4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074152" y="2304288"/>
            <a:ext cx="694944" cy="320040"/>
          </a:xfrm>
          <a:prstGeom prst="roundRect">
            <a:avLst/>
          </a:prstGeom>
          <a:solidFill>
            <a:srgbClr val="0069AA"/>
          </a:solidFill>
          <a:ln>
            <a:solidFill>
              <a:srgbClr val="00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887968" y="2304288"/>
            <a:ext cx="694944" cy="320040"/>
          </a:xfrm>
          <a:prstGeom prst="roundRect">
            <a:avLst/>
          </a:prstGeom>
          <a:solidFill>
            <a:srgbClr val="0069AA"/>
          </a:solidFill>
          <a:ln>
            <a:solidFill>
              <a:srgbClr val="00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662672" y="3090672"/>
            <a:ext cx="548640" cy="457200"/>
          </a:xfrm>
          <a:prstGeom prst="roundRect">
            <a:avLst/>
          </a:prstGeom>
          <a:solidFill>
            <a:srgbClr val="051B31"/>
          </a:solidFill>
          <a:ln>
            <a:solidFill>
              <a:srgbClr val="051B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646920" y="3090672"/>
            <a:ext cx="548640" cy="457200"/>
          </a:xfrm>
          <a:prstGeom prst="roundRect">
            <a:avLst/>
          </a:prstGeom>
          <a:solidFill>
            <a:srgbClr val="051B31"/>
          </a:solidFill>
          <a:ln>
            <a:solidFill>
              <a:srgbClr val="051B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92440" y="2761488"/>
            <a:ext cx="1645920" cy="237744"/>
          </a:xfrm>
          <a:prstGeom prst="rect">
            <a:avLst/>
          </a:prstGeom>
          <a:noFill/>
        </p:spPr>
        <p:txBody>
          <a:bodyPr wrap="square" lIns="54864" tIns="27432" rIns="54864" bIns="18288">
            <a:spAutoFit/>
          </a:bodyPr>
          <a:lstStyle/>
          <a:p>
            <a:pPr algn="ctr"/>
            <a:r>
              <a:rPr sz="1400" b="1">
                <a:solidFill>
                  <a:srgbClr val="051B31"/>
                </a:solidFill>
                <a:latin typeface="Aptos"/>
              </a:rPr>
              <a:t>TAXI</a:t>
            </a:r>
          </a:p>
        </p:txBody>
      </p:sp>
      <p:sp>
        <p:nvSpPr>
          <p:cNvPr id="17" name="TextBox 16"/>
          <p:cNvSpPr txBox="1"/>
          <p:nvPr/>
        </p:nvSpPr>
        <p:spPr>
          <a:xfrm>
            <a:off x="7040880" y="4069080"/>
            <a:ext cx="3749039" cy="594360"/>
          </a:xfrm>
          <a:prstGeom prst="rect">
            <a:avLst/>
          </a:prstGeom>
          <a:noFill/>
        </p:spPr>
        <p:txBody>
          <a:bodyPr wrap="square" lIns="54864" tIns="27432" rIns="54864" bIns="18288">
            <a:spAutoFit/>
          </a:bodyPr>
          <a:lstStyle/>
          <a:p>
            <a:pPr algn="ctr"/>
            <a:r>
              <a:rPr sz="1500" b="1">
                <a:solidFill>
                  <a:srgbClr val="FFFFFF"/>
                </a:solidFill>
                <a:latin typeface="Aptos"/>
              </a:rPr>
              <a:t>SQL • Demand • Revenue • Geography</a:t>
            </a:r>
          </a:p>
        </p:txBody>
      </p:sp>
      <p:sp>
        <p:nvSpPr>
          <p:cNvPr id="18" name="TextBox 17"/>
          <p:cNvSpPr txBox="1"/>
          <p:nvPr/>
        </p:nvSpPr>
        <p:spPr>
          <a:xfrm>
            <a:off x="7040880" y="4800600"/>
            <a:ext cx="3749039" cy="640080"/>
          </a:xfrm>
          <a:prstGeom prst="rect">
            <a:avLst/>
          </a:prstGeom>
          <a:noFill/>
        </p:spPr>
        <p:txBody>
          <a:bodyPr wrap="square" lIns="54864" tIns="27432" rIns="54864" bIns="18288">
            <a:spAutoFit/>
          </a:bodyPr>
          <a:lstStyle/>
          <a:p>
            <a:pPr algn="ctr"/>
            <a:r>
              <a:rPr sz="1200" b="0">
                <a:solidFill>
                  <a:srgbClr val="DAE7F1"/>
                </a:solidFill>
                <a:latin typeface="Aptos"/>
              </a:rPr>
              <a:t>SQL-only presentation
Power BI deck will be delivered separately</a:t>
            </a:r>
          </a:p>
        </p:txBody>
      </p:sp>
      <p:sp>
        <p:nvSpPr>
          <p:cNvPr id="19" name="TextBox 18"/>
          <p:cNvSpPr txBox="1"/>
          <p:nvPr/>
        </p:nvSpPr>
        <p:spPr>
          <a:xfrm>
            <a:off x="10149840" y="6355080"/>
            <a:ext cx="1280160" cy="182880"/>
          </a:xfrm>
          <a:prstGeom prst="rect">
            <a:avLst/>
          </a:prstGeom>
          <a:noFill/>
        </p:spPr>
        <p:txBody>
          <a:bodyPr wrap="square" lIns="54864" tIns="27432" rIns="54864" bIns="18288">
            <a:spAutoFit/>
          </a:bodyPr>
          <a:lstStyle/>
          <a:p>
            <a:pPr algn="r"/>
            <a:r>
              <a:rPr sz="900" b="1">
                <a:solidFill>
                  <a:srgbClr val="FFFFFF"/>
                </a:solidFill>
                <a:latin typeface="Aptos"/>
              </a:rPr>
              <a:t>SQL DECK  •  01</a:t>
            </a:r>
          </a:p>
        </p:txBody>
      </p:sp>
      <p:sp>
        <p:nvSpPr>
          <p:cNvPr id="20" name="Rounded Rectangle 19"/>
          <p:cNvSpPr/>
          <p:nvPr/>
        </p:nvSpPr>
        <p:spPr>
          <a:xfrm>
            <a:off x="7059168" y="1417320"/>
            <a:ext cx="3611880" cy="3474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150608" y="1481328"/>
            <a:ext cx="3429000" cy="164592"/>
          </a:xfrm>
          <a:prstGeom prst="rect">
            <a:avLst/>
          </a:prstGeom>
          <a:noFill/>
        </p:spPr>
        <p:txBody>
          <a:bodyPr wrap="square" lIns="64008" tIns="27432" rIns="64008" bIns="18288">
            <a:spAutoFit/>
          </a:bodyPr>
          <a:lstStyle/>
          <a:p>
            <a:pPr algn="ctr"/>
            <a:r>
              <a:rPr sz="1000" b="1">
                <a:solidFill>
                  <a:srgbClr val="051B31"/>
                </a:solidFill>
                <a:latin typeface="Aptos"/>
              </a:rPr>
              <a:t>SQL • OPERATIONS • REVENUE • DEMAND</a:t>
            </a:r>
          </a:p>
        </p:txBody>
      </p:sp>
      <p:sp>
        <p:nvSpPr>
          <p:cNvPr id="22" name="TextBox 21"/>
          <p:cNvSpPr txBox="1"/>
          <p:nvPr/>
        </p:nvSpPr>
        <p:spPr>
          <a:xfrm>
            <a:off x="7315200" y="3657600"/>
            <a:ext cx="3200400" cy="274320"/>
          </a:xfrm>
          <a:prstGeom prst="rect">
            <a:avLst/>
          </a:prstGeom>
          <a:noFill/>
        </p:spPr>
        <p:txBody>
          <a:bodyPr wrap="square" lIns="64008" tIns="27432" rIns="64008" bIns="18288">
            <a:spAutoFit/>
          </a:bodyPr>
          <a:lstStyle/>
          <a:p>
            <a:pPr algn="ctr"/>
            <a:r>
              <a:rPr sz="1000" b="1">
                <a:solidFill>
                  <a:srgbClr val="FFC400"/>
                </a:solidFill>
                <a:latin typeface="Aptos"/>
              </a:rPr>
              <a:t>NYC GREEN TAXI TRIP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11480"/>
          </a:xfrm>
          <a:prstGeom prst="rect">
            <a:avLst/>
          </a:prstGeom>
          <a:noFill/>
        </p:spPr>
        <p:txBody>
          <a:bodyPr wrap="square" lIns="54864" tIns="27432" rIns="54864" bIns="18288">
            <a:spAutoFit/>
          </a:bodyPr>
          <a:lstStyle/>
          <a:p>
            <a:r>
              <a:rPr sz="2500" b="1">
                <a:solidFill>
                  <a:srgbClr val="051B31"/>
                </a:solidFill>
                <a:latin typeface="Aptos"/>
              </a:rPr>
              <a:t>How to read this deck</a:t>
            </a:r>
          </a:p>
        </p:txBody>
      </p:sp>
      <p:sp>
        <p:nvSpPr>
          <p:cNvPr id="4" name="TextBox 3"/>
          <p:cNvSpPr txBox="1"/>
          <p:nvPr/>
        </p:nvSpPr>
        <p:spPr>
          <a:xfrm>
            <a:off x="621792" y="749808"/>
            <a:ext cx="10972800" cy="246888"/>
          </a:xfrm>
          <a:prstGeom prst="rect">
            <a:avLst/>
          </a:prstGeom>
          <a:noFill/>
        </p:spPr>
        <p:txBody>
          <a:bodyPr wrap="square" lIns="54864" tIns="27432" rIns="54864" bIns="18288">
            <a:spAutoFit/>
          </a:bodyPr>
          <a:lstStyle/>
          <a:p>
            <a:r>
              <a:rPr sz="900" b="1">
                <a:solidFill>
                  <a:srgbClr val="0069AA"/>
                </a:solidFill>
                <a:latin typeface="Aptos"/>
              </a:rPr>
              <a:t>EVERY QUESTION INCLUDES THE QUESTION, SUBMITTED SQL SCREENSHOT, RESULT SCREENSHOT, AND INTERPRETATION.</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8" name="TextBox 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02</a:t>
            </a:r>
          </a:p>
        </p:txBody>
      </p:sp>
      <p:sp>
        <p:nvSpPr>
          <p:cNvPr id="9" name="Rounded Rectangle 8"/>
          <p:cNvSpPr/>
          <p:nvPr/>
        </p:nvSpPr>
        <p:spPr>
          <a:xfrm>
            <a:off x="822960" y="1463040"/>
            <a:ext cx="1234440" cy="594360"/>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1627632"/>
            <a:ext cx="1051560" cy="228600"/>
          </a:xfrm>
          <a:prstGeom prst="rect">
            <a:avLst/>
          </a:prstGeom>
          <a:noFill/>
        </p:spPr>
        <p:txBody>
          <a:bodyPr wrap="square" lIns="54864" tIns="27432" rIns="54864" bIns="18288">
            <a:spAutoFit/>
          </a:bodyPr>
          <a:lstStyle/>
          <a:p>
            <a:pPr algn="ctr"/>
            <a:r>
              <a:rPr sz="1200" b="1">
                <a:solidFill>
                  <a:srgbClr val="051B31"/>
                </a:solidFill>
                <a:latin typeface="Aptos"/>
              </a:rPr>
              <a:t>01–05</a:t>
            </a:r>
          </a:p>
        </p:txBody>
      </p:sp>
      <p:sp>
        <p:nvSpPr>
          <p:cNvPr id="11" name="TextBox 10"/>
          <p:cNvSpPr txBox="1"/>
          <p:nvPr/>
        </p:nvSpPr>
        <p:spPr>
          <a:xfrm>
            <a:off x="2331720" y="1517904"/>
            <a:ext cx="8686800" cy="457200"/>
          </a:xfrm>
          <a:prstGeom prst="rect">
            <a:avLst/>
          </a:prstGeom>
          <a:noFill/>
        </p:spPr>
        <p:txBody>
          <a:bodyPr wrap="square" lIns="54864" tIns="27432" rIns="54864" bIns="18288">
            <a:spAutoFit/>
          </a:bodyPr>
          <a:lstStyle/>
          <a:p>
            <a:r>
              <a:rPr sz="1500" b="0">
                <a:solidFill>
                  <a:srgbClr val="192B3C"/>
                </a:solidFill>
                <a:latin typeface="Aptos"/>
              </a:rPr>
              <a:t>Trips, revenue, peak times, borough share, frequent routes</a:t>
            </a:r>
          </a:p>
        </p:txBody>
      </p:sp>
      <p:sp>
        <p:nvSpPr>
          <p:cNvPr id="12" name="Rounded Rectangle 11"/>
          <p:cNvSpPr/>
          <p:nvPr/>
        </p:nvSpPr>
        <p:spPr>
          <a:xfrm>
            <a:off x="822960" y="2487168"/>
            <a:ext cx="1234440" cy="594360"/>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2651760"/>
            <a:ext cx="1051560" cy="228600"/>
          </a:xfrm>
          <a:prstGeom prst="rect">
            <a:avLst/>
          </a:prstGeom>
          <a:noFill/>
        </p:spPr>
        <p:txBody>
          <a:bodyPr wrap="square" lIns="54864" tIns="27432" rIns="54864" bIns="18288">
            <a:spAutoFit/>
          </a:bodyPr>
          <a:lstStyle/>
          <a:p>
            <a:pPr algn="ctr"/>
            <a:r>
              <a:rPr sz="1200" b="1">
                <a:solidFill>
                  <a:srgbClr val="051B31"/>
                </a:solidFill>
                <a:latin typeface="Aptos"/>
              </a:rPr>
              <a:t>06–10</a:t>
            </a:r>
          </a:p>
        </p:txBody>
      </p:sp>
      <p:sp>
        <p:nvSpPr>
          <p:cNvPr id="14" name="TextBox 13"/>
          <p:cNvSpPr txBox="1"/>
          <p:nvPr/>
        </p:nvSpPr>
        <p:spPr>
          <a:xfrm>
            <a:off x="2331720" y="2542032"/>
            <a:ext cx="8686800" cy="457200"/>
          </a:xfrm>
          <a:prstGeom prst="rect">
            <a:avLst/>
          </a:prstGeom>
          <a:noFill/>
        </p:spPr>
        <p:txBody>
          <a:bodyPr wrap="square" lIns="54864" tIns="27432" rIns="54864" bIns="18288">
            <a:spAutoFit/>
          </a:bodyPr>
          <a:lstStyle/>
          <a:p>
            <a:r>
              <a:rPr sz="1500" b="0">
                <a:solidFill>
                  <a:srgbClr val="192B3C"/>
                </a:solidFill>
                <a:latin typeface="Aptos"/>
              </a:rPr>
              <a:t>Passenger load, trip distance, payment type, tips, borough-pair revenue</a:t>
            </a:r>
          </a:p>
        </p:txBody>
      </p:sp>
      <p:sp>
        <p:nvSpPr>
          <p:cNvPr id="15" name="Rounded Rectangle 14"/>
          <p:cNvSpPr/>
          <p:nvPr/>
        </p:nvSpPr>
        <p:spPr>
          <a:xfrm>
            <a:off x="822960" y="3511296"/>
            <a:ext cx="1234440" cy="594360"/>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3675888"/>
            <a:ext cx="1051560" cy="228600"/>
          </a:xfrm>
          <a:prstGeom prst="rect">
            <a:avLst/>
          </a:prstGeom>
          <a:noFill/>
        </p:spPr>
        <p:txBody>
          <a:bodyPr wrap="square" lIns="54864" tIns="27432" rIns="54864" bIns="18288">
            <a:spAutoFit/>
          </a:bodyPr>
          <a:lstStyle/>
          <a:p>
            <a:pPr algn="ctr"/>
            <a:r>
              <a:rPr sz="1200" b="1">
                <a:solidFill>
                  <a:srgbClr val="051B31"/>
                </a:solidFill>
                <a:latin typeface="Aptos"/>
              </a:rPr>
              <a:t>Evidence</a:t>
            </a:r>
          </a:p>
        </p:txBody>
      </p:sp>
      <p:sp>
        <p:nvSpPr>
          <p:cNvPr id="17" name="TextBox 16"/>
          <p:cNvSpPr txBox="1"/>
          <p:nvPr/>
        </p:nvSpPr>
        <p:spPr>
          <a:xfrm>
            <a:off x="2331720" y="3566160"/>
            <a:ext cx="8686800" cy="457200"/>
          </a:xfrm>
          <a:prstGeom prst="rect">
            <a:avLst/>
          </a:prstGeom>
          <a:noFill/>
        </p:spPr>
        <p:txBody>
          <a:bodyPr wrap="square" lIns="54864" tIns="27432" rIns="54864" bIns="18288">
            <a:spAutoFit/>
          </a:bodyPr>
          <a:lstStyle/>
          <a:p>
            <a:r>
              <a:rPr sz="1500" b="0">
                <a:solidFill>
                  <a:srgbClr val="192B3C"/>
                </a:solidFill>
                <a:latin typeface="Aptos"/>
              </a:rPr>
              <a:t>Uploaded SQL screenshots are included as supplied; result tables are interpreted in plain language</a:t>
            </a:r>
          </a:p>
        </p:txBody>
      </p:sp>
      <p:sp>
        <p:nvSpPr>
          <p:cNvPr id="18" name="Rounded Rectangle 17"/>
          <p:cNvSpPr/>
          <p:nvPr/>
        </p:nvSpPr>
        <p:spPr>
          <a:xfrm>
            <a:off x="822960" y="4535424"/>
            <a:ext cx="1234440" cy="594360"/>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4700016"/>
            <a:ext cx="1051560" cy="228600"/>
          </a:xfrm>
          <a:prstGeom prst="rect">
            <a:avLst/>
          </a:prstGeom>
          <a:noFill/>
        </p:spPr>
        <p:txBody>
          <a:bodyPr wrap="square" lIns="54864" tIns="27432" rIns="54864" bIns="18288">
            <a:spAutoFit/>
          </a:bodyPr>
          <a:lstStyle/>
          <a:p>
            <a:pPr algn="ctr"/>
            <a:r>
              <a:rPr sz="1200" b="1">
                <a:solidFill>
                  <a:srgbClr val="051B31"/>
                </a:solidFill>
                <a:latin typeface="Aptos"/>
              </a:rPr>
              <a:t>Quality</a:t>
            </a:r>
          </a:p>
        </p:txBody>
      </p:sp>
      <p:sp>
        <p:nvSpPr>
          <p:cNvPr id="20" name="TextBox 19"/>
          <p:cNvSpPr txBox="1"/>
          <p:nvPr/>
        </p:nvSpPr>
        <p:spPr>
          <a:xfrm>
            <a:off x="2331720" y="4590288"/>
            <a:ext cx="8686800" cy="457200"/>
          </a:xfrm>
          <a:prstGeom prst="rect">
            <a:avLst/>
          </a:prstGeom>
          <a:noFill/>
        </p:spPr>
        <p:txBody>
          <a:bodyPr wrap="square" lIns="54864" tIns="27432" rIns="54864" bIns="18288">
            <a:spAutoFit/>
          </a:bodyPr>
          <a:lstStyle/>
          <a:p>
            <a:r>
              <a:rPr sz="1500" b="0">
                <a:solidFill>
                  <a:srgbClr val="192B3C"/>
                </a:solidFill>
                <a:latin typeface="Aptos"/>
              </a:rPr>
              <a:t>Potential query/data issues are called out rather than hidden</a:t>
            </a:r>
          </a:p>
        </p:txBody>
      </p:sp>
      <p:sp>
        <p:nvSpPr>
          <p:cNvPr id="21" name="Rounded Rectangle 20"/>
          <p:cNvSpPr/>
          <p:nvPr/>
        </p:nvSpPr>
        <p:spPr>
          <a:xfrm>
            <a:off x="822960" y="5669280"/>
            <a:ext cx="10515600" cy="457200"/>
          </a:xfrm>
          <a:prstGeom prst="roundRect">
            <a:avLst/>
          </a:prstGeom>
          <a:solidFill>
            <a:srgbClr val="FFF8DE"/>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87552" y="5769864"/>
            <a:ext cx="10149840" cy="228600"/>
          </a:xfrm>
          <a:prstGeom prst="rect">
            <a:avLst/>
          </a:prstGeom>
          <a:noFill/>
        </p:spPr>
        <p:txBody>
          <a:bodyPr wrap="square" lIns="54864" tIns="27432" rIns="54864" bIns="18288">
            <a:spAutoFit/>
          </a:bodyPr>
          <a:lstStyle/>
          <a:p>
            <a:r>
              <a:rPr sz="1000" b="1">
                <a:solidFill>
                  <a:srgbClr val="192B3C"/>
                </a:solidFill>
                <a:latin typeface="Aptos"/>
              </a:rPr>
              <a:t>Note: SQL screenshots are placed as images for faithful visibility; the text can be edited by replacing the screenshot.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11480"/>
          </a:xfrm>
          <a:prstGeom prst="rect">
            <a:avLst/>
          </a:prstGeom>
          <a:noFill/>
        </p:spPr>
        <p:txBody>
          <a:bodyPr wrap="square" lIns="54864" tIns="27432" rIns="54864" bIns="18288">
            <a:spAutoFit/>
          </a:bodyPr>
          <a:lstStyle/>
          <a:p>
            <a:r>
              <a:rPr sz="2500" b="1">
                <a:solidFill>
                  <a:srgbClr val="051B31"/>
                </a:solidFill>
                <a:latin typeface="Aptos"/>
              </a:rPr>
              <a:t>Question 01  |  Yearly Trip Trends</a:t>
            </a:r>
          </a:p>
        </p:txBody>
      </p:sp>
      <p:sp>
        <p:nvSpPr>
          <p:cNvPr id="4" name="TextBox 3"/>
          <p:cNvSpPr txBox="1"/>
          <p:nvPr/>
        </p:nvSpPr>
        <p:spPr>
          <a:xfrm>
            <a:off x="621792" y="749808"/>
            <a:ext cx="10972800" cy="246888"/>
          </a:xfrm>
          <a:prstGeom prst="rect">
            <a:avLst/>
          </a:prstGeom>
          <a:noFill/>
        </p:spPr>
        <p:txBody>
          <a:bodyPr wrap="square" lIns="54864" tIns="27432" rIns="54864" bIns="18288">
            <a:spAutoFit/>
          </a:bodyPr>
          <a:lstStyle/>
          <a:p>
            <a:r>
              <a:rPr sz="900" b="1">
                <a:solidFill>
                  <a:srgbClr val="0069AA"/>
                </a:solidFill>
                <a:latin typeface="Aptos"/>
              </a:rPr>
              <a:t>CALCULATE TOTAL TRIPS PER YEAR AND YEAR-OVER-YEAR (YOY) PERCENTAGE CHANGE.</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8" name="TextBox 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03</a:t>
            </a:r>
          </a:p>
        </p:txBody>
      </p:sp>
      <p:sp>
        <p:nvSpPr>
          <p:cNvPr id="9" name="Rounded Rectangle 8"/>
          <p:cNvSpPr/>
          <p:nvPr/>
        </p:nvSpPr>
        <p:spPr>
          <a:xfrm>
            <a:off x="658368" y="1353312"/>
            <a:ext cx="10881360" cy="475488"/>
          </a:xfrm>
          <a:prstGeom prst="roundRect">
            <a:avLst/>
          </a:prstGeom>
          <a:solidFill>
            <a:srgbClr val="051B31"/>
          </a:solidFill>
          <a:ln>
            <a:solidFill>
              <a:srgbClr val="051B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1472184"/>
            <a:ext cx="10515600" cy="210312"/>
          </a:xfrm>
          <a:prstGeom prst="rect">
            <a:avLst/>
          </a:prstGeom>
          <a:noFill/>
        </p:spPr>
        <p:txBody>
          <a:bodyPr wrap="square" lIns="54864" tIns="27432" rIns="54864" bIns="18288">
            <a:spAutoFit/>
          </a:bodyPr>
          <a:lstStyle/>
          <a:p>
            <a:r>
              <a:rPr sz="1100" b="1">
                <a:solidFill>
                  <a:srgbClr val="FFFFFF"/>
                </a:solidFill>
                <a:latin typeface="Aptos"/>
              </a:rPr>
              <a:t>BUSINESS QUESTION 01  •  SQL QUERY</a:t>
            </a:r>
          </a:p>
        </p:txBody>
      </p:sp>
      <p:pic>
        <p:nvPicPr>
          <p:cNvPr id="11" name="Picture 10" descr="image.png"/>
          <p:cNvPicPr>
            <a:picLocks noChangeAspect="1"/>
          </p:cNvPicPr>
          <p:nvPr/>
        </p:nvPicPr>
        <p:blipFill>
          <a:blip r:embed="rId2"/>
          <a:stretch>
            <a:fillRect/>
          </a:stretch>
        </p:blipFill>
        <p:spPr>
          <a:xfrm>
            <a:off x="815187" y="2173142"/>
            <a:ext cx="10561320" cy="3746155"/>
          </a:xfrm>
          <a:prstGeom prst="rect">
            <a:avLst/>
          </a:prstGeom>
        </p:spPr>
      </p:pic>
      <p:sp>
        <p:nvSpPr>
          <p:cNvPr id="12" name="Rectangle 11"/>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14" name="TextBox 13"/>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11480"/>
          </a:xfrm>
          <a:prstGeom prst="rect">
            <a:avLst/>
          </a:prstGeom>
          <a:noFill/>
        </p:spPr>
        <p:txBody>
          <a:bodyPr wrap="square" lIns="54864" tIns="27432" rIns="54864" bIns="18288">
            <a:spAutoFit/>
          </a:bodyPr>
          <a:lstStyle/>
          <a:p>
            <a:r>
              <a:rPr sz="2500" b="1">
                <a:solidFill>
                  <a:srgbClr val="051B31"/>
                </a:solidFill>
                <a:latin typeface="Aptos"/>
              </a:rPr>
              <a:t>Question 01  |  Result &amp; interpretation</a:t>
            </a:r>
          </a:p>
        </p:txBody>
      </p:sp>
      <p:sp>
        <p:nvSpPr>
          <p:cNvPr id="4" name="TextBox 3"/>
          <p:cNvSpPr txBox="1"/>
          <p:nvPr/>
        </p:nvSpPr>
        <p:spPr>
          <a:xfrm>
            <a:off x="621792" y="749808"/>
            <a:ext cx="10972800" cy="246888"/>
          </a:xfrm>
          <a:prstGeom prst="rect">
            <a:avLst/>
          </a:prstGeom>
          <a:noFill/>
        </p:spPr>
        <p:txBody>
          <a:bodyPr wrap="square" lIns="54864" tIns="27432" rIns="54864" bIns="18288">
            <a:spAutoFit/>
          </a:bodyPr>
          <a:lstStyle/>
          <a:p>
            <a:r>
              <a:rPr sz="900" b="1">
                <a:solidFill>
                  <a:srgbClr val="0069AA"/>
                </a:solidFill>
                <a:latin typeface="Aptos"/>
              </a:rPr>
              <a:t>YEARLY TRIP TRENDS • OUTPUT PROVIDED IN YOUR SCREENSHOTS</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8" name="TextBox 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04</a:t>
            </a:r>
          </a:p>
        </p:txBody>
      </p:sp>
      <p:sp>
        <p:nvSpPr>
          <p:cNvPr id="9" name="Rounded Rectangle 8"/>
          <p:cNvSpPr/>
          <p:nvPr/>
        </p:nvSpPr>
        <p:spPr>
          <a:xfrm>
            <a:off x="658368" y="1344168"/>
            <a:ext cx="6903720" cy="4800600"/>
          </a:xfrm>
          <a:prstGeom prst="roundRect">
            <a:avLst/>
          </a:prstGeom>
          <a:solidFill>
            <a:srgbClr val="F4F7FA"/>
          </a:solidFill>
          <a:ln>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creenshot 2026-10-22 085048(1).png"/>
          <p:cNvPicPr>
            <a:picLocks noChangeAspect="1"/>
          </p:cNvPicPr>
          <p:nvPr/>
        </p:nvPicPr>
        <p:blipFill>
          <a:blip r:embed="rId2"/>
          <a:stretch>
            <a:fillRect/>
          </a:stretch>
        </p:blipFill>
        <p:spPr>
          <a:xfrm>
            <a:off x="841248" y="2682800"/>
            <a:ext cx="6537959" cy="2041038"/>
          </a:xfrm>
          <a:prstGeom prst="rect">
            <a:avLst/>
          </a:prstGeom>
        </p:spPr>
      </p:pic>
      <p:sp>
        <p:nvSpPr>
          <p:cNvPr id="11" name="TextBox 10"/>
          <p:cNvSpPr txBox="1"/>
          <p:nvPr/>
        </p:nvSpPr>
        <p:spPr>
          <a:xfrm>
            <a:off x="7909560" y="1481328"/>
            <a:ext cx="3474720" cy="329184"/>
          </a:xfrm>
          <a:prstGeom prst="rect">
            <a:avLst/>
          </a:prstGeom>
          <a:noFill/>
        </p:spPr>
        <p:txBody>
          <a:bodyPr wrap="square" lIns="54864" tIns="27432" rIns="54864" bIns="18288">
            <a:spAutoFit/>
          </a:bodyPr>
          <a:lstStyle/>
          <a:p>
            <a:r>
              <a:rPr sz="1200" b="1">
                <a:solidFill>
                  <a:srgbClr val="0069AA"/>
                </a:solidFill>
                <a:latin typeface="Aptos"/>
              </a:rPr>
              <a:t>KEY TAKEAWAY</a:t>
            </a:r>
          </a:p>
        </p:txBody>
      </p:sp>
      <p:sp>
        <p:nvSpPr>
          <p:cNvPr id="12" name="TextBox 11"/>
          <p:cNvSpPr txBox="1"/>
          <p:nvPr/>
        </p:nvSpPr>
        <p:spPr>
          <a:xfrm>
            <a:off x="7882127" y="1874519"/>
            <a:ext cx="3520440" cy="3154680"/>
          </a:xfrm>
          <a:prstGeom prst="rect">
            <a:avLst/>
          </a:prstGeom>
          <a:noFill/>
        </p:spPr>
        <p:txBody>
          <a:bodyPr wrap="square" lIns="54864" tIns="27432" rIns="54864" bIns="18288">
            <a:spAutoFit/>
          </a:bodyPr>
          <a:lstStyle/>
          <a:p>
            <a:r>
              <a:rPr sz="1400" b="0">
                <a:solidFill>
                  <a:srgbClr val="192B3C"/>
                </a:solidFill>
                <a:latin typeface="Aptos"/>
              </a:rPr>
              <a:t>2018 has the highest trip count in the supplied output (8,807,303). Trips then decline by 31.36% in 2019 and 71.29% in 2020. The sharp jump from 2017 to 2018 should be validated against source-table coverage.</a:t>
            </a:r>
          </a:p>
        </p:txBody>
      </p:sp>
      <p:sp>
        <p:nvSpPr>
          <p:cNvPr id="13" name="Rounded Rectangle 12"/>
          <p:cNvSpPr/>
          <p:nvPr/>
        </p:nvSpPr>
        <p:spPr>
          <a:xfrm>
            <a:off x="7882127" y="5257800"/>
            <a:ext cx="3520440" cy="685800"/>
          </a:xfrm>
          <a:prstGeom prst="roundRect">
            <a:avLst/>
          </a:prstGeom>
          <a:solidFill>
            <a:srgbClr val="FFF8DE"/>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0" y="5376672"/>
            <a:ext cx="3200400" cy="411480"/>
          </a:xfrm>
          <a:prstGeom prst="rect">
            <a:avLst/>
          </a:prstGeom>
          <a:noFill/>
        </p:spPr>
        <p:txBody>
          <a:bodyPr wrap="square" lIns="54864" tIns="27432" rIns="54864" bIns="18288">
            <a:spAutoFit/>
          </a:bodyPr>
          <a:lstStyle/>
          <a:p>
            <a:r>
              <a:rPr sz="1000" b="1">
                <a:solidFill>
                  <a:srgbClr val="192B3C"/>
                </a:solidFill>
                <a:latin typeface="Aptos"/>
              </a:rPr>
              <a:t>Use this result with the Power BI dashboard for drill-down analysis.</a:t>
            </a:r>
          </a:p>
        </p:txBody>
      </p:sp>
      <p:sp>
        <p:nvSpPr>
          <p:cNvPr id="15" name="Rectangle 14"/>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17" name="TextBox 16"/>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384048"/>
          </a:xfrm>
          <a:prstGeom prst="rect">
            <a:avLst/>
          </a:prstGeom>
          <a:noFill/>
        </p:spPr>
        <p:txBody>
          <a:bodyPr wrap="square" lIns="64008" tIns="27432" rIns="64008" bIns="18288">
            <a:spAutoFit/>
          </a:bodyPr>
          <a:lstStyle/>
          <a:p>
            <a:r>
              <a:rPr sz="2400" b="1">
                <a:solidFill>
                  <a:srgbClr val="051B31"/>
                </a:solidFill>
                <a:latin typeface="Aptos"/>
              </a:rPr>
              <a:t>INSIGHT 01  |  Yearly Trip Trends</a:t>
            </a:r>
          </a:p>
        </p:txBody>
      </p:sp>
      <p:sp>
        <p:nvSpPr>
          <p:cNvPr id="4" name="TextBox 3"/>
          <p:cNvSpPr txBox="1"/>
          <p:nvPr/>
        </p:nvSpPr>
        <p:spPr>
          <a:xfrm>
            <a:off x="621792" y="749808"/>
            <a:ext cx="10972800" cy="256032"/>
          </a:xfrm>
          <a:prstGeom prst="rect">
            <a:avLst/>
          </a:prstGeom>
          <a:noFill/>
        </p:spPr>
        <p:txBody>
          <a:bodyPr wrap="square" lIns="64008" tIns="27432" rIns="64008" bIns="18288">
            <a:spAutoFit/>
          </a:bodyPr>
          <a:lstStyle/>
          <a:p>
            <a:r>
              <a:rPr sz="900" b="1">
                <a:solidFill>
                  <a:srgbClr val="0069AA"/>
                </a:solidFill>
                <a:latin typeface="Aptos"/>
              </a:rPr>
              <a:t>RESULT EXPLAINED  •  VISUAL SUMMARY  •  BUSINESS IMPLICATION</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58368" y="1353312"/>
            <a:ext cx="6766560" cy="4526280"/>
          </a:xfrm>
          <a:prstGeom prst="roundRect">
            <a:avLst/>
          </a:prstGeom>
          <a:solidFill>
            <a:srgbClr val="F4F7FA"/>
          </a:solidFill>
          <a:ln>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Chart 6"/>
          <p:cNvGraphicFramePr>
            <a:graphicFrameLocks noGrp="1"/>
          </p:cNvGraphicFramePr>
          <p:nvPr/>
        </p:nvGraphicFramePr>
        <p:xfrm>
          <a:off x="841248" y="1572768"/>
          <a:ext cx="6355080" cy="342900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914400" y="5193792"/>
            <a:ext cx="6263640" cy="384048"/>
          </a:xfrm>
          <a:prstGeom prst="rect">
            <a:avLst/>
          </a:prstGeom>
          <a:noFill/>
        </p:spPr>
        <p:txBody>
          <a:bodyPr wrap="square" lIns="64008" tIns="27432" rIns="64008" bIns="18288">
            <a:spAutoFit/>
          </a:bodyPr>
          <a:lstStyle/>
          <a:p>
            <a:r>
              <a:rPr sz="1200" b="1">
                <a:solidFill>
                  <a:srgbClr val="051B31"/>
                </a:solidFill>
                <a:latin typeface="Aptos"/>
              </a:rPr>
              <a:t>The supplied output peaks in 2018, then falls sharply in 2019 and 2020.</a:t>
            </a:r>
          </a:p>
        </p:txBody>
      </p:sp>
      <p:sp>
        <p:nvSpPr>
          <p:cNvPr id="9" name="TextBox 8"/>
          <p:cNvSpPr txBox="1"/>
          <p:nvPr/>
        </p:nvSpPr>
        <p:spPr>
          <a:xfrm>
            <a:off x="7754112" y="1444752"/>
            <a:ext cx="3657600" cy="292608"/>
          </a:xfrm>
          <a:prstGeom prst="rect">
            <a:avLst/>
          </a:prstGeom>
          <a:noFill/>
        </p:spPr>
        <p:txBody>
          <a:bodyPr wrap="square" lIns="64008" tIns="27432" rIns="64008" bIns="18288">
            <a:spAutoFit/>
          </a:bodyPr>
          <a:lstStyle/>
          <a:p>
            <a:r>
              <a:rPr sz="1200" b="1">
                <a:solidFill>
                  <a:srgbClr val="0069AA"/>
                </a:solidFill>
                <a:latin typeface="Aptos"/>
              </a:rPr>
              <a:t>WHAT THE RESULT TELLS US</a:t>
            </a:r>
          </a:p>
        </p:txBody>
      </p:sp>
      <p:sp>
        <p:nvSpPr>
          <p:cNvPr id="10" name="Rounded Rectangle 9"/>
          <p:cNvSpPr/>
          <p:nvPr/>
        </p:nvSpPr>
        <p:spPr>
          <a:xfrm>
            <a:off x="7772400" y="187451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28431" y="1828800"/>
            <a:ext cx="3337560" cy="658368"/>
          </a:xfrm>
          <a:prstGeom prst="rect">
            <a:avLst/>
          </a:prstGeom>
          <a:noFill/>
        </p:spPr>
        <p:txBody>
          <a:bodyPr wrap="square" lIns="64008" tIns="27432" rIns="64008" bIns="18288">
            <a:spAutoFit/>
          </a:bodyPr>
          <a:lstStyle/>
          <a:p>
            <a:r>
              <a:rPr sz="1200" b="0">
                <a:solidFill>
                  <a:srgbClr val="192B3C"/>
                </a:solidFill>
                <a:latin typeface="Aptos"/>
              </a:rPr>
              <a:t>2018 records the highest trip count in this result set.</a:t>
            </a:r>
          </a:p>
        </p:txBody>
      </p:sp>
      <p:sp>
        <p:nvSpPr>
          <p:cNvPr id="12" name="Rounded Rectangle 11"/>
          <p:cNvSpPr/>
          <p:nvPr/>
        </p:nvSpPr>
        <p:spPr>
          <a:xfrm>
            <a:off x="7772400" y="283463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28431" y="2788920"/>
            <a:ext cx="3337560" cy="658368"/>
          </a:xfrm>
          <a:prstGeom prst="rect">
            <a:avLst/>
          </a:prstGeom>
          <a:noFill/>
        </p:spPr>
        <p:txBody>
          <a:bodyPr wrap="square" lIns="64008" tIns="27432" rIns="64008" bIns="18288">
            <a:spAutoFit/>
          </a:bodyPr>
          <a:lstStyle/>
          <a:p>
            <a:r>
              <a:rPr sz="1200" b="0">
                <a:solidFill>
                  <a:srgbClr val="192B3C"/>
                </a:solidFill>
                <a:latin typeface="Aptos"/>
              </a:rPr>
              <a:t>2019 is down about 31.4% from 2018; 2020 is down about 71.3% from 2019.</a:t>
            </a:r>
          </a:p>
        </p:txBody>
      </p:sp>
      <p:sp>
        <p:nvSpPr>
          <p:cNvPr id="14" name="Rounded Rectangle 13"/>
          <p:cNvSpPr/>
          <p:nvPr/>
        </p:nvSpPr>
        <p:spPr>
          <a:xfrm>
            <a:off x="7772400" y="379475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28431" y="3749039"/>
            <a:ext cx="3337560" cy="658368"/>
          </a:xfrm>
          <a:prstGeom prst="rect">
            <a:avLst/>
          </a:prstGeom>
          <a:noFill/>
        </p:spPr>
        <p:txBody>
          <a:bodyPr wrap="square" lIns="64008" tIns="27432" rIns="64008" bIns="18288">
            <a:spAutoFit/>
          </a:bodyPr>
          <a:lstStyle/>
          <a:p>
            <a:r>
              <a:rPr sz="1200" b="0">
                <a:solidFill>
                  <a:srgbClr val="192B3C"/>
                </a:solidFill>
                <a:latin typeface="Aptos"/>
              </a:rPr>
              <a:t>Validate year coverage and completeness before interpreting the drop as a real demand change.</a:t>
            </a:r>
          </a:p>
        </p:txBody>
      </p:sp>
      <p:sp>
        <p:nvSpPr>
          <p:cNvPr id="16" name="Rounded Rectangle 15"/>
          <p:cNvSpPr/>
          <p:nvPr/>
        </p:nvSpPr>
        <p:spPr>
          <a:xfrm>
            <a:off x="7754112" y="4919472"/>
            <a:ext cx="3657600" cy="804672"/>
          </a:xfrm>
          <a:prstGeom prst="roundRect">
            <a:avLst/>
          </a:prstGeom>
          <a:solidFill>
            <a:srgbClr val="FFF8DE"/>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27848" y="5056632"/>
            <a:ext cx="3337560" cy="502920"/>
          </a:xfrm>
          <a:prstGeom prst="rect">
            <a:avLst/>
          </a:prstGeom>
          <a:noFill/>
        </p:spPr>
        <p:txBody>
          <a:bodyPr wrap="square" lIns="64008" tIns="27432" rIns="64008" bIns="18288">
            <a:spAutoFit/>
          </a:bodyPr>
          <a:lstStyle/>
          <a:p>
            <a:r>
              <a:rPr sz="1000" b="1">
                <a:solidFill>
                  <a:srgbClr val="192B3C"/>
                </a:solidFill>
                <a:latin typeface="Aptos"/>
              </a:rPr>
              <a:t>Decision cue: use this insight alongside date, borough and route filters in the Power BI dashboard.</a:t>
            </a:r>
          </a:p>
        </p:txBody>
      </p:sp>
      <p:sp>
        <p:nvSpPr>
          <p:cNvPr id="18" name="Rectangle 17"/>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6473952"/>
            <a:ext cx="7315200" cy="164592"/>
          </a:xfrm>
          <a:prstGeom prst="rect">
            <a:avLst/>
          </a:prstGeom>
          <a:noFill/>
        </p:spPr>
        <p:txBody>
          <a:bodyPr wrap="square" lIns="64008" tIns="27432" rIns="64008" bIns="18288">
            <a:spAutoFit/>
          </a:bodyPr>
          <a:lstStyle/>
          <a:p>
            <a:r>
              <a:rPr sz="800" b="1">
                <a:solidFill>
                  <a:srgbClr val="5F6F7F"/>
                </a:solidFill>
                <a:latin typeface="Aptos"/>
              </a:rPr>
              <a:t>UBER TRIPS ANALYTICS  •  SQL EDITION</a:t>
            </a:r>
          </a:p>
        </p:txBody>
      </p:sp>
      <p:sp>
        <p:nvSpPr>
          <p:cNvPr id="20" name="TextBox 19"/>
          <p:cNvSpPr txBox="1"/>
          <p:nvPr/>
        </p:nvSpPr>
        <p:spPr>
          <a:xfrm>
            <a:off x="11064240" y="6455664"/>
            <a:ext cx="548640" cy="182880"/>
          </a:xfrm>
          <a:prstGeom prst="rect">
            <a:avLst/>
          </a:prstGeom>
          <a:noFill/>
        </p:spPr>
        <p:txBody>
          <a:bodyPr wrap="square" lIns="64008" tIns="27432" rIns="64008" bIns="18288">
            <a:spAutoFit/>
          </a:bodyPr>
          <a:lstStyle/>
          <a:p>
            <a:r>
              <a:rPr sz="900" b="1">
                <a:solidFill>
                  <a:srgbClr val="5F6F7F"/>
                </a:solidFill>
                <a:latin typeface="Aptos"/>
              </a:rPr>
              <a:t>03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11480"/>
          </a:xfrm>
          <a:prstGeom prst="rect">
            <a:avLst/>
          </a:prstGeom>
          <a:noFill/>
        </p:spPr>
        <p:txBody>
          <a:bodyPr wrap="square" lIns="54864" tIns="27432" rIns="54864" bIns="18288">
            <a:spAutoFit/>
          </a:bodyPr>
          <a:lstStyle/>
          <a:p>
            <a:r>
              <a:rPr sz="2500" b="1">
                <a:solidFill>
                  <a:srgbClr val="051B31"/>
                </a:solidFill>
                <a:latin typeface="Aptos"/>
              </a:rPr>
              <a:t>Question 02  |  Monthly Revenue Insights</a:t>
            </a:r>
          </a:p>
        </p:txBody>
      </p:sp>
      <p:sp>
        <p:nvSpPr>
          <p:cNvPr id="4" name="TextBox 3"/>
          <p:cNvSpPr txBox="1"/>
          <p:nvPr/>
        </p:nvSpPr>
        <p:spPr>
          <a:xfrm>
            <a:off x="621792" y="749808"/>
            <a:ext cx="10972800" cy="246888"/>
          </a:xfrm>
          <a:prstGeom prst="rect">
            <a:avLst/>
          </a:prstGeom>
          <a:noFill/>
        </p:spPr>
        <p:txBody>
          <a:bodyPr wrap="square" lIns="54864" tIns="27432" rIns="54864" bIns="18288">
            <a:spAutoFit/>
          </a:bodyPr>
          <a:lstStyle/>
          <a:p>
            <a:r>
              <a:rPr sz="900" b="1">
                <a:solidFill>
                  <a:srgbClr val="0069AA"/>
                </a:solidFill>
                <a:latin typeface="Aptos"/>
              </a:rPr>
              <a:t>CALCULATE MONTHLY TOTAL REVENUE AND AVERAGE REVENUE PER TRIP.</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8" name="TextBox 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05</a:t>
            </a:r>
          </a:p>
        </p:txBody>
      </p:sp>
      <p:sp>
        <p:nvSpPr>
          <p:cNvPr id="9" name="Rounded Rectangle 8"/>
          <p:cNvSpPr/>
          <p:nvPr/>
        </p:nvSpPr>
        <p:spPr>
          <a:xfrm>
            <a:off x="658368" y="1353312"/>
            <a:ext cx="10881360" cy="475488"/>
          </a:xfrm>
          <a:prstGeom prst="roundRect">
            <a:avLst/>
          </a:prstGeom>
          <a:solidFill>
            <a:srgbClr val="051B31"/>
          </a:solidFill>
          <a:ln>
            <a:solidFill>
              <a:srgbClr val="051B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1472184"/>
            <a:ext cx="10515600" cy="210312"/>
          </a:xfrm>
          <a:prstGeom prst="rect">
            <a:avLst/>
          </a:prstGeom>
          <a:noFill/>
        </p:spPr>
        <p:txBody>
          <a:bodyPr wrap="square" lIns="54864" tIns="27432" rIns="54864" bIns="18288">
            <a:spAutoFit/>
          </a:bodyPr>
          <a:lstStyle/>
          <a:p>
            <a:r>
              <a:rPr sz="1100" b="1">
                <a:solidFill>
                  <a:srgbClr val="FFFFFF"/>
                </a:solidFill>
                <a:latin typeface="Aptos"/>
              </a:rPr>
              <a:t>BUSINESS QUESTION 02  •  SQL QUERY</a:t>
            </a:r>
          </a:p>
        </p:txBody>
      </p:sp>
      <p:pic>
        <p:nvPicPr>
          <p:cNvPr id="11" name="Picture 10" descr="Screenshot 2026-10-22 085555(1).png"/>
          <p:cNvPicPr>
            <a:picLocks noChangeAspect="1"/>
          </p:cNvPicPr>
          <p:nvPr/>
        </p:nvPicPr>
        <p:blipFill>
          <a:blip r:embed="rId2"/>
          <a:stretch>
            <a:fillRect/>
          </a:stretch>
        </p:blipFill>
        <p:spPr>
          <a:xfrm>
            <a:off x="3004659" y="2011679"/>
            <a:ext cx="6182376" cy="4069080"/>
          </a:xfrm>
          <a:prstGeom prst="rect">
            <a:avLst/>
          </a:prstGeom>
        </p:spPr>
      </p:pic>
      <p:sp>
        <p:nvSpPr>
          <p:cNvPr id="12" name="Rectangle 11"/>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14" name="TextBox 13"/>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11480"/>
          </a:xfrm>
          <a:prstGeom prst="rect">
            <a:avLst/>
          </a:prstGeom>
          <a:noFill/>
        </p:spPr>
        <p:txBody>
          <a:bodyPr wrap="square" lIns="54864" tIns="27432" rIns="54864" bIns="18288">
            <a:spAutoFit/>
          </a:bodyPr>
          <a:lstStyle/>
          <a:p>
            <a:r>
              <a:rPr sz="2500" b="1">
                <a:solidFill>
                  <a:srgbClr val="051B31"/>
                </a:solidFill>
                <a:latin typeface="Aptos"/>
              </a:rPr>
              <a:t>Question 02  |  Result &amp; interpretation</a:t>
            </a:r>
          </a:p>
        </p:txBody>
      </p:sp>
      <p:sp>
        <p:nvSpPr>
          <p:cNvPr id="4" name="TextBox 3"/>
          <p:cNvSpPr txBox="1"/>
          <p:nvPr/>
        </p:nvSpPr>
        <p:spPr>
          <a:xfrm>
            <a:off x="621792" y="749808"/>
            <a:ext cx="10972800" cy="246888"/>
          </a:xfrm>
          <a:prstGeom prst="rect">
            <a:avLst/>
          </a:prstGeom>
          <a:noFill/>
        </p:spPr>
        <p:txBody>
          <a:bodyPr wrap="square" lIns="54864" tIns="27432" rIns="54864" bIns="18288">
            <a:spAutoFit/>
          </a:bodyPr>
          <a:lstStyle/>
          <a:p>
            <a:r>
              <a:rPr sz="900" b="1">
                <a:solidFill>
                  <a:srgbClr val="0069AA"/>
                </a:solidFill>
                <a:latin typeface="Aptos"/>
              </a:rPr>
              <a:t>MONTHLY REVENUE INSIGHTS • OUTPUT PROVIDED IN YOUR SCREENSHOTS</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8" name="TextBox 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06</a:t>
            </a:r>
          </a:p>
        </p:txBody>
      </p:sp>
      <p:sp>
        <p:nvSpPr>
          <p:cNvPr id="9" name="Rounded Rectangle 8"/>
          <p:cNvSpPr/>
          <p:nvPr/>
        </p:nvSpPr>
        <p:spPr>
          <a:xfrm>
            <a:off x="658368" y="1344168"/>
            <a:ext cx="6903720" cy="4800600"/>
          </a:xfrm>
          <a:prstGeom prst="roundRect">
            <a:avLst/>
          </a:prstGeom>
          <a:solidFill>
            <a:srgbClr val="F4F7FA"/>
          </a:solidFill>
          <a:ln>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creenshot 2026-10-22 085555(1).png"/>
          <p:cNvPicPr>
            <a:picLocks noChangeAspect="1"/>
          </p:cNvPicPr>
          <p:nvPr/>
        </p:nvPicPr>
        <p:blipFill>
          <a:blip r:embed="rId2"/>
          <a:stretch>
            <a:fillRect/>
          </a:stretch>
        </p:blipFill>
        <p:spPr>
          <a:xfrm>
            <a:off x="841248" y="1551762"/>
            <a:ext cx="6537960" cy="4303115"/>
          </a:xfrm>
          <a:prstGeom prst="rect">
            <a:avLst/>
          </a:prstGeom>
        </p:spPr>
      </p:pic>
      <p:sp>
        <p:nvSpPr>
          <p:cNvPr id="11" name="TextBox 10"/>
          <p:cNvSpPr txBox="1"/>
          <p:nvPr/>
        </p:nvSpPr>
        <p:spPr>
          <a:xfrm>
            <a:off x="7909560" y="1481328"/>
            <a:ext cx="3474720" cy="329184"/>
          </a:xfrm>
          <a:prstGeom prst="rect">
            <a:avLst/>
          </a:prstGeom>
          <a:noFill/>
        </p:spPr>
        <p:txBody>
          <a:bodyPr wrap="square" lIns="54864" tIns="27432" rIns="54864" bIns="18288">
            <a:spAutoFit/>
          </a:bodyPr>
          <a:lstStyle/>
          <a:p>
            <a:r>
              <a:rPr sz="1200" b="1">
                <a:solidFill>
                  <a:srgbClr val="0069AA"/>
                </a:solidFill>
                <a:latin typeface="Aptos"/>
              </a:rPr>
              <a:t>KEY TAKEAWAY</a:t>
            </a:r>
          </a:p>
        </p:txBody>
      </p:sp>
      <p:sp>
        <p:nvSpPr>
          <p:cNvPr id="12" name="TextBox 11"/>
          <p:cNvSpPr txBox="1"/>
          <p:nvPr/>
        </p:nvSpPr>
        <p:spPr>
          <a:xfrm>
            <a:off x="7882127" y="1874519"/>
            <a:ext cx="3520440" cy="3154680"/>
          </a:xfrm>
          <a:prstGeom prst="rect">
            <a:avLst/>
          </a:prstGeom>
          <a:noFill/>
        </p:spPr>
        <p:txBody>
          <a:bodyPr wrap="square" lIns="54864" tIns="27432" rIns="54864" bIns="18288">
            <a:spAutoFit/>
          </a:bodyPr>
          <a:lstStyle/>
          <a:p>
            <a:r>
              <a:rPr sz="1400" b="0">
                <a:solidFill>
                  <a:srgbClr val="192B3C"/>
                </a:solidFill>
                <a:latin typeface="Aptos"/>
              </a:rPr>
              <a:t>The displayed 2017 monthly totals range from about 3,469 to 4,673, with December highest among the shown months. The 2018 values are in the millions, so verify units, filters and table coverage before comparing years.</a:t>
            </a:r>
          </a:p>
        </p:txBody>
      </p:sp>
      <p:sp>
        <p:nvSpPr>
          <p:cNvPr id="13" name="Rounded Rectangle 12"/>
          <p:cNvSpPr/>
          <p:nvPr/>
        </p:nvSpPr>
        <p:spPr>
          <a:xfrm>
            <a:off x="7882127" y="5257800"/>
            <a:ext cx="3520440" cy="685800"/>
          </a:xfrm>
          <a:prstGeom prst="roundRect">
            <a:avLst/>
          </a:prstGeom>
          <a:solidFill>
            <a:srgbClr val="FFF8DE"/>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0" y="5376672"/>
            <a:ext cx="3200400" cy="411480"/>
          </a:xfrm>
          <a:prstGeom prst="rect">
            <a:avLst/>
          </a:prstGeom>
          <a:noFill/>
        </p:spPr>
        <p:txBody>
          <a:bodyPr wrap="square" lIns="54864" tIns="27432" rIns="54864" bIns="18288">
            <a:spAutoFit/>
          </a:bodyPr>
          <a:lstStyle/>
          <a:p>
            <a:r>
              <a:rPr sz="1000" b="1">
                <a:solidFill>
                  <a:srgbClr val="192B3C"/>
                </a:solidFill>
                <a:latin typeface="Aptos"/>
              </a:rPr>
              <a:t>Use this result with the Power BI dashboard for drill-down analysis.</a:t>
            </a:r>
          </a:p>
        </p:txBody>
      </p:sp>
      <p:sp>
        <p:nvSpPr>
          <p:cNvPr id="15" name="Rectangle 14"/>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17" name="TextBox 16"/>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06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384048"/>
          </a:xfrm>
          <a:prstGeom prst="rect">
            <a:avLst/>
          </a:prstGeom>
          <a:noFill/>
        </p:spPr>
        <p:txBody>
          <a:bodyPr wrap="square" lIns="64008" tIns="27432" rIns="64008" bIns="18288">
            <a:spAutoFit/>
          </a:bodyPr>
          <a:lstStyle/>
          <a:p>
            <a:r>
              <a:rPr sz="2400" b="1">
                <a:solidFill>
                  <a:srgbClr val="051B31"/>
                </a:solidFill>
                <a:latin typeface="Aptos"/>
              </a:rPr>
              <a:t>INSIGHT 02  |  Monthly Revenue Insights</a:t>
            </a:r>
          </a:p>
        </p:txBody>
      </p:sp>
      <p:sp>
        <p:nvSpPr>
          <p:cNvPr id="4" name="TextBox 3"/>
          <p:cNvSpPr txBox="1"/>
          <p:nvPr/>
        </p:nvSpPr>
        <p:spPr>
          <a:xfrm>
            <a:off x="621792" y="749808"/>
            <a:ext cx="10972800" cy="256032"/>
          </a:xfrm>
          <a:prstGeom prst="rect">
            <a:avLst/>
          </a:prstGeom>
          <a:noFill/>
        </p:spPr>
        <p:txBody>
          <a:bodyPr wrap="square" lIns="64008" tIns="27432" rIns="64008" bIns="18288">
            <a:spAutoFit/>
          </a:bodyPr>
          <a:lstStyle/>
          <a:p>
            <a:r>
              <a:rPr sz="900" b="1">
                <a:solidFill>
                  <a:srgbClr val="0069AA"/>
                </a:solidFill>
                <a:latin typeface="Aptos"/>
              </a:rPr>
              <a:t>RESULT EXPLAINED  •  VISUAL SUMMARY  •  BUSINESS IMPLICATION</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58368" y="1353312"/>
            <a:ext cx="6766560" cy="4526280"/>
          </a:xfrm>
          <a:prstGeom prst="roundRect">
            <a:avLst/>
          </a:prstGeom>
          <a:solidFill>
            <a:srgbClr val="F4F7FA"/>
          </a:solidFill>
          <a:ln>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Chart 6"/>
          <p:cNvGraphicFramePr>
            <a:graphicFrameLocks noGrp="1"/>
          </p:cNvGraphicFramePr>
          <p:nvPr/>
        </p:nvGraphicFramePr>
        <p:xfrm>
          <a:off x="841248" y="1572768"/>
          <a:ext cx="6355080" cy="342900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914400" y="5193792"/>
            <a:ext cx="6263640" cy="384048"/>
          </a:xfrm>
          <a:prstGeom prst="rect">
            <a:avLst/>
          </a:prstGeom>
          <a:noFill/>
        </p:spPr>
        <p:txBody>
          <a:bodyPr wrap="square" lIns="64008" tIns="27432" rIns="64008" bIns="18288">
            <a:spAutoFit/>
          </a:bodyPr>
          <a:lstStyle/>
          <a:p>
            <a:r>
              <a:rPr sz="1200" b="1">
                <a:solidFill>
                  <a:srgbClr val="051B31"/>
                </a:solidFill>
                <a:latin typeface="Aptos"/>
              </a:rPr>
              <a:t>December 2017 is the highest of the visible 2017 months; cross-year totals need validation.</a:t>
            </a:r>
          </a:p>
        </p:txBody>
      </p:sp>
      <p:sp>
        <p:nvSpPr>
          <p:cNvPr id="9" name="TextBox 8"/>
          <p:cNvSpPr txBox="1"/>
          <p:nvPr/>
        </p:nvSpPr>
        <p:spPr>
          <a:xfrm>
            <a:off x="7754112" y="1444752"/>
            <a:ext cx="3657600" cy="292608"/>
          </a:xfrm>
          <a:prstGeom prst="rect">
            <a:avLst/>
          </a:prstGeom>
          <a:noFill/>
        </p:spPr>
        <p:txBody>
          <a:bodyPr wrap="square" lIns="64008" tIns="27432" rIns="64008" bIns="18288">
            <a:spAutoFit/>
          </a:bodyPr>
          <a:lstStyle/>
          <a:p>
            <a:r>
              <a:rPr sz="1200" b="1">
                <a:solidFill>
                  <a:srgbClr val="0069AA"/>
                </a:solidFill>
                <a:latin typeface="Aptos"/>
              </a:rPr>
              <a:t>WHAT THE RESULT TELLS US</a:t>
            </a:r>
          </a:p>
        </p:txBody>
      </p:sp>
      <p:sp>
        <p:nvSpPr>
          <p:cNvPr id="10" name="Rounded Rectangle 9"/>
          <p:cNvSpPr/>
          <p:nvPr/>
        </p:nvSpPr>
        <p:spPr>
          <a:xfrm>
            <a:off x="7772400" y="187451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28431" y="1828800"/>
            <a:ext cx="3337560" cy="658368"/>
          </a:xfrm>
          <a:prstGeom prst="rect">
            <a:avLst/>
          </a:prstGeom>
          <a:noFill/>
        </p:spPr>
        <p:txBody>
          <a:bodyPr wrap="square" lIns="64008" tIns="27432" rIns="64008" bIns="18288">
            <a:spAutoFit/>
          </a:bodyPr>
          <a:lstStyle/>
          <a:p>
            <a:r>
              <a:rPr sz="1200" b="0">
                <a:solidFill>
                  <a:srgbClr val="192B3C"/>
                </a:solidFill>
                <a:latin typeface="Aptos"/>
              </a:rPr>
              <a:t>Visible 2017 monthly revenue is roughly 3.47K–4.67K in the screenshot.</a:t>
            </a:r>
          </a:p>
        </p:txBody>
      </p:sp>
      <p:sp>
        <p:nvSpPr>
          <p:cNvPr id="12" name="Rounded Rectangle 11"/>
          <p:cNvSpPr/>
          <p:nvPr/>
        </p:nvSpPr>
        <p:spPr>
          <a:xfrm>
            <a:off x="7772400" y="283463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28431" y="2788920"/>
            <a:ext cx="3337560" cy="658368"/>
          </a:xfrm>
          <a:prstGeom prst="rect">
            <a:avLst/>
          </a:prstGeom>
          <a:noFill/>
        </p:spPr>
        <p:txBody>
          <a:bodyPr wrap="square" lIns="64008" tIns="27432" rIns="64008" bIns="18288">
            <a:spAutoFit/>
          </a:bodyPr>
          <a:lstStyle/>
          <a:p>
            <a:r>
              <a:rPr sz="1200" b="0">
                <a:solidFill>
                  <a:srgbClr val="192B3C"/>
                </a:solidFill>
                <a:latin typeface="Aptos"/>
              </a:rPr>
              <a:t>December is highest among the displayed 2017 months.</a:t>
            </a:r>
          </a:p>
        </p:txBody>
      </p:sp>
      <p:sp>
        <p:nvSpPr>
          <p:cNvPr id="14" name="Rounded Rectangle 13"/>
          <p:cNvSpPr/>
          <p:nvPr/>
        </p:nvSpPr>
        <p:spPr>
          <a:xfrm>
            <a:off x="7772400" y="379475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28431" y="3749039"/>
            <a:ext cx="3337560" cy="658368"/>
          </a:xfrm>
          <a:prstGeom prst="rect">
            <a:avLst/>
          </a:prstGeom>
          <a:noFill/>
        </p:spPr>
        <p:txBody>
          <a:bodyPr wrap="square" lIns="64008" tIns="27432" rIns="64008" bIns="18288">
            <a:spAutoFit/>
          </a:bodyPr>
          <a:lstStyle/>
          <a:p>
            <a:r>
              <a:rPr sz="1200" b="0">
                <a:solidFill>
                  <a:srgbClr val="192B3C"/>
                </a:solidFill>
                <a:latin typeface="Aptos"/>
              </a:rPr>
              <a:t>2018 values shown are much larger; confirm units, filters, and source-table consistency.</a:t>
            </a:r>
          </a:p>
        </p:txBody>
      </p:sp>
      <p:sp>
        <p:nvSpPr>
          <p:cNvPr id="16" name="Rounded Rectangle 15"/>
          <p:cNvSpPr/>
          <p:nvPr/>
        </p:nvSpPr>
        <p:spPr>
          <a:xfrm>
            <a:off x="7754112" y="4919472"/>
            <a:ext cx="3657600" cy="804672"/>
          </a:xfrm>
          <a:prstGeom prst="roundRect">
            <a:avLst/>
          </a:prstGeom>
          <a:solidFill>
            <a:srgbClr val="FFF8DE"/>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27848" y="5056632"/>
            <a:ext cx="3337560" cy="502920"/>
          </a:xfrm>
          <a:prstGeom prst="rect">
            <a:avLst/>
          </a:prstGeom>
          <a:noFill/>
        </p:spPr>
        <p:txBody>
          <a:bodyPr wrap="square" lIns="64008" tIns="27432" rIns="64008" bIns="18288">
            <a:spAutoFit/>
          </a:bodyPr>
          <a:lstStyle/>
          <a:p>
            <a:r>
              <a:rPr sz="1000" b="1">
                <a:solidFill>
                  <a:srgbClr val="192B3C"/>
                </a:solidFill>
                <a:latin typeface="Aptos"/>
              </a:rPr>
              <a:t>Decision cue: use this insight alongside date, borough and route filters in the Power BI dashboard.</a:t>
            </a:r>
          </a:p>
        </p:txBody>
      </p:sp>
      <p:sp>
        <p:nvSpPr>
          <p:cNvPr id="18" name="Rectangle 17"/>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6473952"/>
            <a:ext cx="7315200" cy="164592"/>
          </a:xfrm>
          <a:prstGeom prst="rect">
            <a:avLst/>
          </a:prstGeom>
          <a:noFill/>
        </p:spPr>
        <p:txBody>
          <a:bodyPr wrap="square" lIns="64008" tIns="27432" rIns="64008" bIns="18288">
            <a:spAutoFit/>
          </a:bodyPr>
          <a:lstStyle/>
          <a:p>
            <a:r>
              <a:rPr sz="800" b="1">
                <a:solidFill>
                  <a:srgbClr val="5F6F7F"/>
                </a:solidFill>
                <a:latin typeface="Aptos"/>
              </a:rPr>
              <a:t>UBER TRIPS ANALYTICS  •  SQL EDITION</a:t>
            </a:r>
          </a:p>
        </p:txBody>
      </p:sp>
      <p:sp>
        <p:nvSpPr>
          <p:cNvPr id="20" name="TextBox 19"/>
          <p:cNvSpPr txBox="1"/>
          <p:nvPr/>
        </p:nvSpPr>
        <p:spPr>
          <a:xfrm>
            <a:off x="11064240" y="6455664"/>
            <a:ext cx="548640" cy="182880"/>
          </a:xfrm>
          <a:prstGeom prst="rect">
            <a:avLst/>
          </a:prstGeom>
          <a:noFill/>
        </p:spPr>
        <p:txBody>
          <a:bodyPr wrap="square" lIns="64008" tIns="27432" rIns="64008" bIns="18288">
            <a:spAutoFit/>
          </a:bodyPr>
          <a:lstStyle/>
          <a:p>
            <a:r>
              <a:rPr sz="900" b="1">
                <a:solidFill>
                  <a:srgbClr val="5F6F7F"/>
                </a:solidFill>
                <a:latin typeface="Aptos"/>
              </a:rPr>
              <a:t>04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11480"/>
          </a:xfrm>
          <a:prstGeom prst="rect">
            <a:avLst/>
          </a:prstGeom>
          <a:noFill/>
        </p:spPr>
        <p:txBody>
          <a:bodyPr wrap="square" lIns="54864" tIns="27432" rIns="54864" bIns="18288">
            <a:spAutoFit/>
          </a:bodyPr>
          <a:lstStyle/>
          <a:p>
            <a:r>
              <a:rPr sz="2500" b="1">
                <a:solidFill>
                  <a:srgbClr val="051B31"/>
                </a:solidFill>
                <a:latin typeface="Aptos"/>
              </a:rPr>
              <a:t>Question 03  |  Peak Day &amp; Time Analysis</a:t>
            </a:r>
          </a:p>
        </p:txBody>
      </p:sp>
      <p:sp>
        <p:nvSpPr>
          <p:cNvPr id="4" name="TextBox 3"/>
          <p:cNvSpPr txBox="1"/>
          <p:nvPr/>
        </p:nvSpPr>
        <p:spPr>
          <a:xfrm>
            <a:off x="621792" y="749808"/>
            <a:ext cx="10972800" cy="246888"/>
          </a:xfrm>
          <a:prstGeom prst="rect">
            <a:avLst/>
          </a:prstGeom>
          <a:noFill/>
        </p:spPr>
        <p:txBody>
          <a:bodyPr wrap="square" lIns="54864" tIns="27432" rIns="54864" bIns="18288">
            <a:spAutoFit/>
          </a:bodyPr>
          <a:lstStyle/>
          <a:p>
            <a:r>
              <a:rPr sz="900" b="1">
                <a:solidFill>
                  <a:srgbClr val="0069AA"/>
                </a:solidFill>
                <a:latin typeface="Aptos"/>
              </a:rPr>
              <a:t>IDENTIFY THE DAY OF WEEK AND HOUR WITH THE HIGHEST AVERAGE TRIP VOLUME.</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8" name="TextBox 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07</a:t>
            </a:r>
          </a:p>
        </p:txBody>
      </p:sp>
      <p:sp>
        <p:nvSpPr>
          <p:cNvPr id="9" name="Rounded Rectangle 8"/>
          <p:cNvSpPr/>
          <p:nvPr/>
        </p:nvSpPr>
        <p:spPr>
          <a:xfrm>
            <a:off x="658368" y="1353312"/>
            <a:ext cx="10881360" cy="475488"/>
          </a:xfrm>
          <a:prstGeom prst="roundRect">
            <a:avLst/>
          </a:prstGeom>
          <a:solidFill>
            <a:srgbClr val="051B31"/>
          </a:solidFill>
          <a:ln>
            <a:solidFill>
              <a:srgbClr val="051B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1472184"/>
            <a:ext cx="10515600" cy="210312"/>
          </a:xfrm>
          <a:prstGeom prst="rect">
            <a:avLst/>
          </a:prstGeom>
          <a:noFill/>
        </p:spPr>
        <p:txBody>
          <a:bodyPr wrap="square" lIns="54864" tIns="27432" rIns="54864" bIns="18288">
            <a:spAutoFit/>
          </a:bodyPr>
          <a:lstStyle/>
          <a:p>
            <a:r>
              <a:rPr sz="1100" b="1">
                <a:solidFill>
                  <a:srgbClr val="FFFFFF"/>
                </a:solidFill>
                <a:latin typeface="Aptos"/>
              </a:rPr>
              <a:t>BUSINESS QUESTION 03  •  SQL QUERY</a:t>
            </a:r>
          </a:p>
        </p:txBody>
      </p:sp>
      <p:sp>
        <p:nvSpPr>
          <p:cNvPr id="11" name="Rounded Rectangle 10"/>
          <p:cNvSpPr/>
          <p:nvPr/>
        </p:nvSpPr>
        <p:spPr>
          <a:xfrm>
            <a:off x="777240" y="1965960"/>
            <a:ext cx="10607040" cy="4069080"/>
          </a:xfrm>
          <a:prstGeom prst="roundRect">
            <a:avLst/>
          </a:prstGeom>
          <a:solidFill>
            <a:srgbClr val="F4F7FA"/>
          </a:solidFill>
          <a:ln>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2194560"/>
            <a:ext cx="9966960" cy="365760"/>
          </a:xfrm>
          <a:prstGeom prst="rect">
            <a:avLst/>
          </a:prstGeom>
          <a:noFill/>
        </p:spPr>
        <p:txBody>
          <a:bodyPr wrap="square" lIns="54864" tIns="27432" rIns="54864" bIns="18288">
            <a:spAutoFit/>
          </a:bodyPr>
          <a:lstStyle/>
          <a:p>
            <a:r>
              <a:rPr sz="1400" b="1">
                <a:solidFill>
                  <a:srgbClr val="051B31"/>
                </a:solidFill>
                <a:latin typeface="Aptos"/>
              </a:rPr>
              <a:t>SQL logic (reconstructed from the supplied result screenshot)</a:t>
            </a:r>
          </a:p>
        </p:txBody>
      </p:sp>
      <p:sp>
        <p:nvSpPr>
          <p:cNvPr id="13" name="TextBox 12"/>
          <p:cNvSpPr txBox="1"/>
          <p:nvPr/>
        </p:nvSpPr>
        <p:spPr>
          <a:xfrm>
            <a:off x="1024128" y="2651760"/>
            <a:ext cx="10012680" cy="3108960"/>
          </a:xfrm>
          <a:prstGeom prst="rect">
            <a:avLst/>
          </a:prstGeom>
          <a:noFill/>
        </p:spPr>
        <p:txBody>
          <a:bodyPr wrap="square" lIns="54864" tIns="27432" rIns="54864" bIns="18288">
            <a:spAutoFit/>
          </a:bodyPr>
          <a:lstStyle/>
          <a:p>
            <a:r>
              <a:rPr sz="1100" b="0">
                <a:solidFill>
                  <a:srgbClr val="192B3C"/>
                </a:solidFill>
                <a:latin typeface="Aptos"/>
              </a:rPr>
              <a:t>WITH all_trips AS (
  SELECT lpep_pickup_datetime AS pickup_date FROM stg_uber_2017
  UNION ALL SELECT lpep_pickup_datetime FROM stg_uber_2018
  UNION ALL SELECT lpep_pickup_datetime FROM stg_uber_2019
  UNION ALL SELECT lpep_pickup_datetime FROM stg_uber_2020
), daily_hourly_trips AS (
  SELECT DATE(pickup_date) AS trip_date,
         DAYOFWEEK(pickup_date) AS day_num,
         HOUR(pickup_date) AS trip_hour, COUNT(*) AS total_trips
  FROM all_trips WHERE pickup_date IS NOT NULL
  GROUP BY DATE(pickup_date), DAYOFWEEK(pickup_date), HOUR(pickup_date)
), average_trips AS (
  SELECT day_num, trip_hour, ROUND(AVG(total_trips),2) AS avg_trips
  FROM daily_hourly_trips GROUP BY day_num, trip_hour
)
SELECT day_num, trip_hour, avg_trips FROM average_trips
ORDER BY avg_trips DESC LIMIT 10;</a:t>
            </a:r>
          </a:p>
        </p:txBody>
      </p:sp>
      <p:sp>
        <p:nvSpPr>
          <p:cNvPr id="14" name="TextBox 13"/>
          <p:cNvSpPr txBox="1"/>
          <p:nvPr/>
        </p:nvSpPr>
        <p:spPr>
          <a:xfrm>
            <a:off x="1005840" y="5532120"/>
            <a:ext cx="9966960" cy="184666"/>
          </a:xfrm>
          <a:prstGeom prst="rect">
            <a:avLst/>
          </a:prstGeom>
          <a:noFill/>
        </p:spPr>
        <p:txBody>
          <a:bodyPr wrap="square" lIns="54864" tIns="27432" rIns="54864" bIns="18288">
            <a:spAutoFit/>
          </a:bodyPr>
          <a:lstStyle/>
          <a:p>
            <a:r>
              <a:rPr sz="900" b="1" dirty="0">
                <a:solidFill>
                  <a:srgbClr val="AF3737"/>
                </a:solidFill>
                <a:latin typeface="Aptos"/>
              </a:rPr>
              <a:t>.</a:t>
            </a:r>
          </a:p>
        </p:txBody>
      </p:sp>
      <p:sp>
        <p:nvSpPr>
          <p:cNvPr id="15" name="Rectangle 14"/>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17" name="TextBox 16"/>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07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11480"/>
          </a:xfrm>
          <a:prstGeom prst="rect">
            <a:avLst/>
          </a:prstGeom>
          <a:noFill/>
        </p:spPr>
        <p:txBody>
          <a:bodyPr wrap="square" lIns="54864" tIns="27432" rIns="54864" bIns="18288">
            <a:spAutoFit/>
          </a:bodyPr>
          <a:lstStyle/>
          <a:p>
            <a:r>
              <a:rPr sz="2500" b="1">
                <a:solidFill>
                  <a:srgbClr val="051B31"/>
                </a:solidFill>
                <a:latin typeface="Aptos"/>
              </a:rPr>
              <a:t>Question 03  |  Result &amp; interpretation</a:t>
            </a:r>
          </a:p>
        </p:txBody>
      </p:sp>
      <p:sp>
        <p:nvSpPr>
          <p:cNvPr id="4" name="TextBox 3"/>
          <p:cNvSpPr txBox="1"/>
          <p:nvPr/>
        </p:nvSpPr>
        <p:spPr>
          <a:xfrm>
            <a:off x="621792" y="749808"/>
            <a:ext cx="10972800" cy="246888"/>
          </a:xfrm>
          <a:prstGeom prst="rect">
            <a:avLst/>
          </a:prstGeom>
          <a:noFill/>
        </p:spPr>
        <p:txBody>
          <a:bodyPr wrap="square" lIns="54864" tIns="27432" rIns="54864" bIns="18288">
            <a:spAutoFit/>
          </a:bodyPr>
          <a:lstStyle/>
          <a:p>
            <a:r>
              <a:rPr sz="900" b="1">
                <a:solidFill>
                  <a:srgbClr val="0069AA"/>
                </a:solidFill>
                <a:latin typeface="Aptos"/>
              </a:rPr>
              <a:t>PEAK DAY &amp; TIME ANALYSIS • OUTPUT PROVIDED IN YOUR SCREENSHOTS</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8" name="TextBox 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08</a:t>
            </a:r>
          </a:p>
        </p:txBody>
      </p:sp>
      <p:sp>
        <p:nvSpPr>
          <p:cNvPr id="9" name="Rounded Rectangle 8"/>
          <p:cNvSpPr/>
          <p:nvPr/>
        </p:nvSpPr>
        <p:spPr>
          <a:xfrm>
            <a:off x="658368" y="1344168"/>
            <a:ext cx="6903720" cy="4800600"/>
          </a:xfrm>
          <a:prstGeom prst="roundRect">
            <a:avLst/>
          </a:prstGeom>
          <a:solidFill>
            <a:srgbClr val="F4F7FA"/>
          </a:solidFill>
          <a:ln>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creenshot 2026-10-22 090523(1).png"/>
          <p:cNvPicPr>
            <a:picLocks noChangeAspect="1"/>
          </p:cNvPicPr>
          <p:nvPr/>
        </p:nvPicPr>
        <p:blipFill>
          <a:blip r:embed="rId2"/>
          <a:stretch>
            <a:fillRect/>
          </a:stretch>
        </p:blipFill>
        <p:spPr>
          <a:xfrm>
            <a:off x="841248" y="2502257"/>
            <a:ext cx="6537960" cy="2402125"/>
          </a:xfrm>
          <a:prstGeom prst="rect">
            <a:avLst/>
          </a:prstGeom>
        </p:spPr>
      </p:pic>
      <p:sp>
        <p:nvSpPr>
          <p:cNvPr id="11" name="TextBox 10"/>
          <p:cNvSpPr txBox="1"/>
          <p:nvPr/>
        </p:nvSpPr>
        <p:spPr>
          <a:xfrm>
            <a:off x="7909560" y="1481328"/>
            <a:ext cx="3474720" cy="329184"/>
          </a:xfrm>
          <a:prstGeom prst="rect">
            <a:avLst/>
          </a:prstGeom>
          <a:noFill/>
        </p:spPr>
        <p:txBody>
          <a:bodyPr wrap="square" lIns="54864" tIns="27432" rIns="54864" bIns="18288">
            <a:spAutoFit/>
          </a:bodyPr>
          <a:lstStyle/>
          <a:p>
            <a:r>
              <a:rPr sz="1200" b="1">
                <a:solidFill>
                  <a:srgbClr val="0069AA"/>
                </a:solidFill>
                <a:latin typeface="Aptos"/>
              </a:rPr>
              <a:t>KEY TAKEAWAY</a:t>
            </a:r>
          </a:p>
        </p:txBody>
      </p:sp>
      <p:sp>
        <p:nvSpPr>
          <p:cNvPr id="12" name="TextBox 11"/>
          <p:cNvSpPr txBox="1"/>
          <p:nvPr/>
        </p:nvSpPr>
        <p:spPr>
          <a:xfrm>
            <a:off x="7882127" y="1874519"/>
            <a:ext cx="3520440" cy="3154680"/>
          </a:xfrm>
          <a:prstGeom prst="rect">
            <a:avLst/>
          </a:prstGeom>
          <a:noFill/>
        </p:spPr>
        <p:txBody>
          <a:bodyPr wrap="square" lIns="54864" tIns="27432" rIns="54864" bIns="18288">
            <a:spAutoFit/>
          </a:bodyPr>
          <a:lstStyle/>
          <a:p>
            <a:r>
              <a:rPr sz="1400" b="0">
                <a:solidFill>
                  <a:srgbClr val="192B3C"/>
                </a:solidFill>
                <a:latin typeface="Aptos"/>
              </a:rPr>
              <a:t>Friday 17:00–18:00 is the top listed slot, averaging 1,166.86 trips. Friday late afternoon and early evening recur in the top five rows, suggesting a useful window to test targeted driver availability.</a:t>
            </a:r>
          </a:p>
        </p:txBody>
      </p:sp>
      <p:sp>
        <p:nvSpPr>
          <p:cNvPr id="13" name="Rounded Rectangle 12"/>
          <p:cNvSpPr/>
          <p:nvPr/>
        </p:nvSpPr>
        <p:spPr>
          <a:xfrm>
            <a:off x="7882127" y="5257800"/>
            <a:ext cx="3520440" cy="685800"/>
          </a:xfrm>
          <a:prstGeom prst="roundRect">
            <a:avLst/>
          </a:prstGeom>
          <a:solidFill>
            <a:srgbClr val="FFF8DE"/>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0" y="5376672"/>
            <a:ext cx="3200400" cy="411480"/>
          </a:xfrm>
          <a:prstGeom prst="rect">
            <a:avLst/>
          </a:prstGeom>
          <a:noFill/>
        </p:spPr>
        <p:txBody>
          <a:bodyPr wrap="square" lIns="54864" tIns="27432" rIns="54864" bIns="18288">
            <a:spAutoFit/>
          </a:bodyPr>
          <a:lstStyle/>
          <a:p>
            <a:r>
              <a:rPr sz="1000" b="1">
                <a:solidFill>
                  <a:srgbClr val="192B3C"/>
                </a:solidFill>
                <a:latin typeface="Aptos"/>
              </a:rPr>
              <a:t>Use this result with the Power BI dashboard for drill-down analysis.</a:t>
            </a:r>
          </a:p>
        </p:txBody>
      </p:sp>
      <p:sp>
        <p:nvSpPr>
          <p:cNvPr id="15" name="Rectangle 14"/>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17" name="TextBox 16"/>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08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384048"/>
          </a:xfrm>
          <a:prstGeom prst="rect">
            <a:avLst/>
          </a:prstGeom>
          <a:noFill/>
        </p:spPr>
        <p:txBody>
          <a:bodyPr wrap="square" lIns="64008" tIns="27432" rIns="64008" bIns="18288">
            <a:spAutoFit/>
          </a:bodyPr>
          <a:lstStyle/>
          <a:p>
            <a:r>
              <a:rPr sz="2400" b="1">
                <a:solidFill>
                  <a:srgbClr val="051B31"/>
                </a:solidFill>
                <a:latin typeface="Aptos"/>
              </a:rPr>
              <a:t>INSIGHT 03  |  Peak Day &amp; Time Analysis</a:t>
            </a:r>
          </a:p>
        </p:txBody>
      </p:sp>
      <p:sp>
        <p:nvSpPr>
          <p:cNvPr id="4" name="TextBox 3"/>
          <p:cNvSpPr txBox="1"/>
          <p:nvPr/>
        </p:nvSpPr>
        <p:spPr>
          <a:xfrm>
            <a:off x="621792" y="749808"/>
            <a:ext cx="10972800" cy="256032"/>
          </a:xfrm>
          <a:prstGeom prst="rect">
            <a:avLst/>
          </a:prstGeom>
          <a:noFill/>
        </p:spPr>
        <p:txBody>
          <a:bodyPr wrap="square" lIns="64008" tIns="27432" rIns="64008" bIns="18288">
            <a:spAutoFit/>
          </a:bodyPr>
          <a:lstStyle/>
          <a:p>
            <a:r>
              <a:rPr sz="900" b="1">
                <a:solidFill>
                  <a:srgbClr val="0069AA"/>
                </a:solidFill>
                <a:latin typeface="Aptos"/>
              </a:rPr>
              <a:t>RESULT EXPLAINED  •  VISUAL SUMMARY  •  BUSINESS IMPLICATION</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58368" y="1353312"/>
            <a:ext cx="6766560" cy="4526280"/>
          </a:xfrm>
          <a:prstGeom prst="roundRect">
            <a:avLst/>
          </a:prstGeom>
          <a:solidFill>
            <a:srgbClr val="F4F7FA"/>
          </a:solidFill>
          <a:ln>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Chart 6"/>
          <p:cNvGraphicFramePr>
            <a:graphicFrameLocks noGrp="1"/>
          </p:cNvGraphicFramePr>
          <p:nvPr/>
        </p:nvGraphicFramePr>
        <p:xfrm>
          <a:off x="841248" y="1572768"/>
          <a:ext cx="6355080" cy="342900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914400" y="5193792"/>
            <a:ext cx="6263640" cy="384048"/>
          </a:xfrm>
          <a:prstGeom prst="rect">
            <a:avLst/>
          </a:prstGeom>
          <a:noFill/>
        </p:spPr>
        <p:txBody>
          <a:bodyPr wrap="square" lIns="64008" tIns="27432" rIns="64008" bIns="18288">
            <a:spAutoFit/>
          </a:bodyPr>
          <a:lstStyle/>
          <a:p>
            <a:r>
              <a:rPr sz="1200" b="1">
                <a:solidFill>
                  <a:srgbClr val="051B31"/>
                </a:solidFill>
                <a:latin typeface="Aptos"/>
              </a:rPr>
              <a:t>Friday 5–6 PM has the highest average hourly volume in the displayed top rows.</a:t>
            </a:r>
          </a:p>
        </p:txBody>
      </p:sp>
      <p:sp>
        <p:nvSpPr>
          <p:cNvPr id="9" name="TextBox 8"/>
          <p:cNvSpPr txBox="1"/>
          <p:nvPr/>
        </p:nvSpPr>
        <p:spPr>
          <a:xfrm>
            <a:off x="7754112" y="1444752"/>
            <a:ext cx="3657600" cy="292608"/>
          </a:xfrm>
          <a:prstGeom prst="rect">
            <a:avLst/>
          </a:prstGeom>
          <a:noFill/>
        </p:spPr>
        <p:txBody>
          <a:bodyPr wrap="square" lIns="64008" tIns="27432" rIns="64008" bIns="18288">
            <a:spAutoFit/>
          </a:bodyPr>
          <a:lstStyle/>
          <a:p>
            <a:r>
              <a:rPr sz="1200" b="1">
                <a:solidFill>
                  <a:srgbClr val="0069AA"/>
                </a:solidFill>
                <a:latin typeface="Aptos"/>
              </a:rPr>
              <a:t>WHAT THE RESULT TELLS US</a:t>
            </a:r>
          </a:p>
        </p:txBody>
      </p:sp>
      <p:sp>
        <p:nvSpPr>
          <p:cNvPr id="10" name="Rounded Rectangle 9"/>
          <p:cNvSpPr/>
          <p:nvPr/>
        </p:nvSpPr>
        <p:spPr>
          <a:xfrm>
            <a:off x="7772400" y="187451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28431" y="1828800"/>
            <a:ext cx="3337560" cy="658368"/>
          </a:xfrm>
          <a:prstGeom prst="rect">
            <a:avLst/>
          </a:prstGeom>
          <a:noFill/>
        </p:spPr>
        <p:txBody>
          <a:bodyPr wrap="square" lIns="64008" tIns="27432" rIns="64008" bIns="18288">
            <a:spAutoFit/>
          </a:bodyPr>
          <a:lstStyle/>
          <a:p>
            <a:r>
              <a:rPr sz="1200" b="0">
                <a:solidFill>
                  <a:srgbClr val="192B3C"/>
                </a:solidFill>
                <a:latin typeface="Aptos"/>
              </a:rPr>
              <a:t>Friday 17:00–18:00 leads at 1,166.86 average trips.</a:t>
            </a:r>
          </a:p>
        </p:txBody>
      </p:sp>
      <p:sp>
        <p:nvSpPr>
          <p:cNvPr id="12" name="Rounded Rectangle 11"/>
          <p:cNvSpPr/>
          <p:nvPr/>
        </p:nvSpPr>
        <p:spPr>
          <a:xfrm>
            <a:off x="7772400" y="283463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28431" y="2788920"/>
            <a:ext cx="3337560" cy="658368"/>
          </a:xfrm>
          <a:prstGeom prst="rect">
            <a:avLst/>
          </a:prstGeom>
          <a:noFill/>
        </p:spPr>
        <p:txBody>
          <a:bodyPr wrap="square" lIns="64008" tIns="27432" rIns="64008" bIns="18288">
            <a:spAutoFit/>
          </a:bodyPr>
          <a:lstStyle/>
          <a:p>
            <a:r>
              <a:rPr sz="1200" b="0">
                <a:solidFill>
                  <a:srgbClr val="192B3C"/>
                </a:solidFill>
                <a:latin typeface="Aptos"/>
              </a:rPr>
              <a:t>Late afternoon and early evening appear repeatedly in the top five.</a:t>
            </a:r>
          </a:p>
        </p:txBody>
      </p:sp>
      <p:sp>
        <p:nvSpPr>
          <p:cNvPr id="14" name="Rounded Rectangle 13"/>
          <p:cNvSpPr/>
          <p:nvPr/>
        </p:nvSpPr>
        <p:spPr>
          <a:xfrm>
            <a:off x="7772400" y="379475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28431" y="3749039"/>
            <a:ext cx="3337560" cy="658368"/>
          </a:xfrm>
          <a:prstGeom prst="rect">
            <a:avLst/>
          </a:prstGeom>
          <a:noFill/>
        </p:spPr>
        <p:txBody>
          <a:bodyPr wrap="square" lIns="64008" tIns="27432" rIns="64008" bIns="18288">
            <a:spAutoFit/>
          </a:bodyPr>
          <a:lstStyle/>
          <a:p>
            <a:r>
              <a:rPr sz="1200" b="0">
                <a:solidFill>
                  <a:srgbClr val="192B3C"/>
                </a:solidFill>
                <a:latin typeface="Aptos"/>
              </a:rPr>
              <a:t>Consider testing driver availability around these periods, then validate with seasonal and weekday controls.</a:t>
            </a:r>
          </a:p>
        </p:txBody>
      </p:sp>
      <p:sp>
        <p:nvSpPr>
          <p:cNvPr id="16" name="Rounded Rectangle 15"/>
          <p:cNvSpPr/>
          <p:nvPr/>
        </p:nvSpPr>
        <p:spPr>
          <a:xfrm>
            <a:off x="7754112" y="4919472"/>
            <a:ext cx="3657600" cy="804672"/>
          </a:xfrm>
          <a:prstGeom prst="roundRect">
            <a:avLst/>
          </a:prstGeom>
          <a:solidFill>
            <a:srgbClr val="FFF8DE"/>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27848" y="5056632"/>
            <a:ext cx="3337560" cy="502920"/>
          </a:xfrm>
          <a:prstGeom prst="rect">
            <a:avLst/>
          </a:prstGeom>
          <a:noFill/>
        </p:spPr>
        <p:txBody>
          <a:bodyPr wrap="square" lIns="64008" tIns="27432" rIns="64008" bIns="18288">
            <a:spAutoFit/>
          </a:bodyPr>
          <a:lstStyle/>
          <a:p>
            <a:r>
              <a:rPr sz="1000" b="1">
                <a:solidFill>
                  <a:srgbClr val="192B3C"/>
                </a:solidFill>
                <a:latin typeface="Aptos"/>
              </a:rPr>
              <a:t>Decision cue: use this insight alongside date, borough and route filters in the Power BI dashboard.</a:t>
            </a:r>
          </a:p>
        </p:txBody>
      </p:sp>
      <p:sp>
        <p:nvSpPr>
          <p:cNvPr id="18" name="Rectangle 17"/>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6473952"/>
            <a:ext cx="7315200" cy="164592"/>
          </a:xfrm>
          <a:prstGeom prst="rect">
            <a:avLst/>
          </a:prstGeom>
          <a:noFill/>
        </p:spPr>
        <p:txBody>
          <a:bodyPr wrap="square" lIns="64008" tIns="27432" rIns="64008" bIns="18288">
            <a:spAutoFit/>
          </a:bodyPr>
          <a:lstStyle/>
          <a:p>
            <a:r>
              <a:rPr sz="800" b="1">
                <a:solidFill>
                  <a:srgbClr val="5F6F7F"/>
                </a:solidFill>
                <a:latin typeface="Aptos"/>
              </a:rPr>
              <a:t>UBER TRIPS ANALYTICS  •  SQL EDITION</a:t>
            </a:r>
          </a:p>
        </p:txBody>
      </p:sp>
      <p:sp>
        <p:nvSpPr>
          <p:cNvPr id="20" name="TextBox 19"/>
          <p:cNvSpPr txBox="1"/>
          <p:nvPr/>
        </p:nvSpPr>
        <p:spPr>
          <a:xfrm>
            <a:off x="11064240" y="6455664"/>
            <a:ext cx="548640" cy="182880"/>
          </a:xfrm>
          <a:prstGeom prst="rect">
            <a:avLst/>
          </a:prstGeom>
          <a:noFill/>
        </p:spPr>
        <p:txBody>
          <a:bodyPr wrap="square" lIns="64008" tIns="27432" rIns="64008" bIns="18288">
            <a:spAutoFit/>
          </a:bodyPr>
          <a:lstStyle/>
          <a:p>
            <a:r>
              <a:rPr sz="900" b="1">
                <a:solidFill>
                  <a:srgbClr val="5F6F7F"/>
                </a:solidFill>
                <a:latin typeface="Aptos"/>
              </a:rPr>
              <a:t>05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11480"/>
          </a:xfrm>
          <a:prstGeom prst="rect">
            <a:avLst/>
          </a:prstGeom>
          <a:noFill/>
        </p:spPr>
        <p:txBody>
          <a:bodyPr wrap="square" lIns="54864" tIns="27432" rIns="54864" bIns="18288">
            <a:spAutoFit/>
          </a:bodyPr>
          <a:lstStyle/>
          <a:p>
            <a:r>
              <a:rPr sz="2500" b="1">
                <a:solidFill>
                  <a:srgbClr val="051B31"/>
                </a:solidFill>
                <a:latin typeface="Aptos"/>
              </a:rPr>
              <a:t>Question 04  |  Borough Trip Distribution</a:t>
            </a:r>
          </a:p>
        </p:txBody>
      </p:sp>
      <p:sp>
        <p:nvSpPr>
          <p:cNvPr id="4" name="TextBox 3"/>
          <p:cNvSpPr txBox="1"/>
          <p:nvPr/>
        </p:nvSpPr>
        <p:spPr>
          <a:xfrm>
            <a:off x="621792" y="749808"/>
            <a:ext cx="10972800" cy="246888"/>
          </a:xfrm>
          <a:prstGeom prst="rect">
            <a:avLst/>
          </a:prstGeom>
          <a:noFill/>
        </p:spPr>
        <p:txBody>
          <a:bodyPr wrap="square" lIns="54864" tIns="27432" rIns="54864" bIns="18288">
            <a:spAutoFit/>
          </a:bodyPr>
          <a:lstStyle/>
          <a:p>
            <a:r>
              <a:rPr sz="900" b="1">
                <a:solidFill>
                  <a:srgbClr val="0069AA"/>
                </a:solidFill>
                <a:latin typeface="Aptos"/>
              </a:rPr>
              <a:t>CALCULATE THE PERCENTAGE OF TRIPS STARTING IN EACH PICKUP BOROUGH.</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8" name="TextBox 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09</a:t>
            </a:r>
          </a:p>
        </p:txBody>
      </p:sp>
      <p:sp>
        <p:nvSpPr>
          <p:cNvPr id="9" name="Rounded Rectangle 8"/>
          <p:cNvSpPr/>
          <p:nvPr/>
        </p:nvSpPr>
        <p:spPr>
          <a:xfrm>
            <a:off x="658368" y="1353312"/>
            <a:ext cx="10881360" cy="475488"/>
          </a:xfrm>
          <a:prstGeom prst="roundRect">
            <a:avLst/>
          </a:prstGeom>
          <a:solidFill>
            <a:srgbClr val="051B31"/>
          </a:solidFill>
          <a:ln>
            <a:solidFill>
              <a:srgbClr val="051B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1472184"/>
            <a:ext cx="10515600" cy="210312"/>
          </a:xfrm>
          <a:prstGeom prst="rect">
            <a:avLst/>
          </a:prstGeom>
          <a:noFill/>
        </p:spPr>
        <p:txBody>
          <a:bodyPr wrap="square" lIns="54864" tIns="27432" rIns="54864" bIns="18288">
            <a:spAutoFit/>
          </a:bodyPr>
          <a:lstStyle/>
          <a:p>
            <a:r>
              <a:rPr sz="1100" b="1">
                <a:solidFill>
                  <a:srgbClr val="FFFFFF"/>
                </a:solidFill>
                <a:latin typeface="Aptos"/>
              </a:rPr>
              <a:t>BUSINESS QUESTION 04  •  SQL QUERY</a:t>
            </a:r>
          </a:p>
        </p:txBody>
      </p:sp>
      <p:pic>
        <p:nvPicPr>
          <p:cNvPr id="11" name="Picture 10" descr="Screenshot 2026-10-22 090806(1).png"/>
          <p:cNvPicPr>
            <a:picLocks noChangeAspect="1"/>
          </p:cNvPicPr>
          <p:nvPr/>
        </p:nvPicPr>
        <p:blipFill>
          <a:blip r:embed="rId2"/>
          <a:stretch>
            <a:fillRect/>
          </a:stretch>
        </p:blipFill>
        <p:spPr>
          <a:xfrm>
            <a:off x="984952" y="2011679"/>
            <a:ext cx="10221790" cy="4069080"/>
          </a:xfrm>
          <a:prstGeom prst="rect">
            <a:avLst/>
          </a:prstGeom>
        </p:spPr>
      </p:pic>
      <p:sp>
        <p:nvSpPr>
          <p:cNvPr id="12" name="Rectangle 11"/>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14" name="TextBox 13"/>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09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11480"/>
          </a:xfrm>
          <a:prstGeom prst="rect">
            <a:avLst/>
          </a:prstGeom>
          <a:noFill/>
        </p:spPr>
        <p:txBody>
          <a:bodyPr wrap="square" lIns="54864" tIns="27432" rIns="54864" bIns="18288">
            <a:spAutoFit/>
          </a:bodyPr>
          <a:lstStyle/>
          <a:p>
            <a:r>
              <a:rPr sz="2500" b="1">
                <a:solidFill>
                  <a:srgbClr val="051B31"/>
                </a:solidFill>
                <a:latin typeface="Aptos"/>
              </a:rPr>
              <a:t>Question 04  |  Result &amp; interpretation</a:t>
            </a:r>
          </a:p>
        </p:txBody>
      </p:sp>
      <p:sp>
        <p:nvSpPr>
          <p:cNvPr id="4" name="TextBox 3"/>
          <p:cNvSpPr txBox="1"/>
          <p:nvPr/>
        </p:nvSpPr>
        <p:spPr>
          <a:xfrm>
            <a:off x="621792" y="749808"/>
            <a:ext cx="10972800" cy="246888"/>
          </a:xfrm>
          <a:prstGeom prst="rect">
            <a:avLst/>
          </a:prstGeom>
          <a:noFill/>
        </p:spPr>
        <p:txBody>
          <a:bodyPr wrap="square" lIns="54864" tIns="27432" rIns="54864" bIns="18288">
            <a:spAutoFit/>
          </a:bodyPr>
          <a:lstStyle/>
          <a:p>
            <a:r>
              <a:rPr sz="900" b="1">
                <a:solidFill>
                  <a:srgbClr val="0069AA"/>
                </a:solidFill>
                <a:latin typeface="Aptos"/>
              </a:rPr>
              <a:t>BOROUGH TRIP DISTRIBUTION • OUTPUT PROVIDED IN YOUR SCREENSHOTS</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8" name="TextBox 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10</a:t>
            </a:r>
          </a:p>
        </p:txBody>
      </p:sp>
      <p:sp>
        <p:nvSpPr>
          <p:cNvPr id="9" name="Rounded Rectangle 8"/>
          <p:cNvSpPr/>
          <p:nvPr/>
        </p:nvSpPr>
        <p:spPr>
          <a:xfrm>
            <a:off x="658368" y="1344168"/>
            <a:ext cx="6903720" cy="4800600"/>
          </a:xfrm>
          <a:prstGeom prst="roundRect">
            <a:avLst/>
          </a:prstGeom>
          <a:solidFill>
            <a:srgbClr val="F4F7FA"/>
          </a:solidFill>
          <a:ln>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creenshot 2026-10-22 091040(3).png"/>
          <p:cNvPicPr>
            <a:picLocks noChangeAspect="1"/>
          </p:cNvPicPr>
          <p:nvPr/>
        </p:nvPicPr>
        <p:blipFill>
          <a:blip r:embed="rId2"/>
          <a:stretch>
            <a:fillRect/>
          </a:stretch>
        </p:blipFill>
        <p:spPr>
          <a:xfrm>
            <a:off x="841248" y="2357826"/>
            <a:ext cx="6537960" cy="2690986"/>
          </a:xfrm>
          <a:prstGeom prst="rect">
            <a:avLst/>
          </a:prstGeom>
        </p:spPr>
      </p:pic>
      <p:sp>
        <p:nvSpPr>
          <p:cNvPr id="11" name="TextBox 10"/>
          <p:cNvSpPr txBox="1"/>
          <p:nvPr/>
        </p:nvSpPr>
        <p:spPr>
          <a:xfrm>
            <a:off x="7909560" y="1481328"/>
            <a:ext cx="3474720" cy="329184"/>
          </a:xfrm>
          <a:prstGeom prst="rect">
            <a:avLst/>
          </a:prstGeom>
          <a:noFill/>
        </p:spPr>
        <p:txBody>
          <a:bodyPr wrap="square" lIns="54864" tIns="27432" rIns="54864" bIns="18288">
            <a:spAutoFit/>
          </a:bodyPr>
          <a:lstStyle/>
          <a:p>
            <a:r>
              <a:rPr sz="1200" b="1">
                <a:solidFill>
                  <a:srgbClr val="0069AA"/>
                </a:solidFill>
                <a:latin typeface="Aptos"/>
              </a:rPr>
              <a:t>KEY TAKEAWAY</a:t>
            </a:r>
          </a:p>
        </p:txBody>
      </p:sp>
      <p:sp>
        <p:nvSpPr>
          <p:cNvPr id="12" name="TextBox 11"/>
          <p:cNvSpPr txBox="1"/>
          <p:nvPr/>
        </p:nvSpPr>
        <p:spPr>
          <a:xfrm>
            <a:off x="7882127" y="1874519"/>
            <a:ext cx="3520440" cy="3154680"/>
          </a:xfrm>
          <a:prstGeom prst="rect">
            <a:avLst/>
          </a:prstGeom>
          <a:noFill/>
        </p:spPr>
        <p:txBody>
          <a:bodyPr wrap="square" lIns="54864" tIns="27432" rIns="54864" bIns="18288">
            <a:spAutoFit/>
          </a:bodyPr>
          <a:lstStyle/>
          <a:p>
            <a:r>
              <a:rPr sz="1400" b="0">
                <a:solidFill>
                  <a:srgbClr val="192B3C"/>
                </a:solidFill>
                <a:latin typeface="Aptos"/>
              </a:rPr>
              <a:t>The result lists Manhattan at 33.40%, Brooklyn at 30.96%, Queens at 28.93%, the Bronx at 6.48%, and Unknown at 0.19%. The query screenshot appears to repeat the 2017 table and omit 2018 in its UNION list; correct this before final reporting.</a:t>
            </a:r>
          </a:p>
        </p:txBody>
      </p:sp>
      <p:sp>
        <p:nvSpPr>
          <p:cNvPr id="13" name="Rounded Rectangle 12"/>
          <p:cNvSpPr/>
          <p:nvPr/>
        </p:nvSpPr>
        <p:spPr>
          <a:xfrm>
            <a:off x="7882127" y="5257800"/>
            <a:ext cx="3520440" cy="685800"/>
          </a:xfrm>
          <a:prstGeom prst="roundRect">
            <a:avLst/>
          </a:prstGeom>
          <a:solidFill>
            <a:srgbClr val="FFF8DE"/>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0" y="5376672"/>
            <a:ext cx="3200400" cy="411480"/>
          </a:xfrm>
          <a:prstGeom prst="rect">
            <a:avLst/>
          </a:prstGeom>
          <a:noFill/>
        </p:spPr>
        <p:txBody>
          <a:bodyPr wrap="square" lIns="54864" tIns="27432" rIns="54864" bIns="18288">
            <a:spAutoFit/>
          </a:bodyPr>
          <a:lstStyle/>
          <a:p>
            <a:r>
              <a:rPr sz="1000" b="1">
                <a:solidFill>
                  <a:srgbClr val="192B3C"/>
                </a:solidFill>
                <a:latin typeface="Aptos"/>
              </a:rPr>
              <a:t>Use this result with the Power BI dashboard for drill-down analysis.</a:t>
            </a:r>
          </a:p>
        </p:txBody>
      </p:sp>
      <p:sp>
        <p:nvSpPr>
          <p:cNvPr id="15" name="Rectangle 14"/>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17" name="TextBox 16"/>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10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384048"/>
          </a:xfrm>
          <a:prstGeom prst="rect">
            <a:avLst/>
          </a:prstGeom>
          <a:noFill/>
        </p:spPr>
        <p:txBody>
          <a:bodyPr wrap="square" lIns="64008" tIns="27432" rIns="64008" bIns="18288">
            <a:spAutoFit/>
          </a:bodyPr>
          <a:lstStyle/>
          <a:p>
            <a:r>
              <a:rPr sz="2400" b="1">
                <a:solidFill>
                  <a:srgbClr val="051B31"/>
                </a:solidFill>
                <a:latin typeface="Aptos"/>
              </a:rPr>
              <a:t>INSIGHT 04  |  Borough Trip Distribution</a:t>
            </a:r>
          </a:p>
        </p:txBody>
      </p:sp>
      <p:sp>
        <p:nvSpPr>
          <p:cNvPr id="4" name="TextBox 3"/>
          <p:cNvSpPr txBox="1"/>
          <p:nvPr/>
        </p:nvSpPr>
        <p:spPr>
          <a:xfrm>
            <a:off x="621792" y="749808"/>
            <a:ext cx="10972800" cy="256032"/>
          </a:xfrm>
          <a:prstGeom prst="rect">
            <a:avLst/>
          </a:prstGeom>
          <a:noFill/>
        </p:spPr>
        <p:txBody>
          <a:bodyPr wrap="square" lIns="64008" tIns="27432" rIns="64008" bIns="18288">
            <a:spAutoFit/>
          </a:bodyPr>
          <a:lstStyle/>
          <a:p>
            <a:r>
              <a:rPr sz="900" b="1">
                <a:solidFill>
                  <a:srgbClr val="0069AA"/>
                </a:solidFill>
                <a:latin typeface="Aptos"/>
              </a:rPr>
              <a:t>RESULT EXPLAINED  •  VISUAL SUMMARY  •  BUSINESS IMPLICATION</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58368" y="1353312"/>
            <a:ext cx="6766560" cy="4526280"/>
          </a:xfrm>
          <a:prstGeom prst="roundRect">
            <a:avLst/>
          </a:prstGeom>
          <a:solidFill>
            <a:srgbClr val="F4F7FA"/>
          </a:solidFill>
          <a:ln>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Chart 6"/>
          <p:cNvGraphicFramePr>
            <a:graphicFrameLocks noGrp="1"/>
          </p:cNvGraphicFramePr>
          <p:nvPr/>
        </p:nvGraphicFramePr>
        <p:xfrm>
          <a:off x="841248" y="1572768"/>
          <a:ext cx="6355080" cy="342900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914400" y="5193792"/>
            <a:ext cx="6263640" cy="384048"/>
          </a:xfrm>
          <a:prstGeom prst="rect">
            <a:avLst/>
          </a:prstGeom>
          <a:noFill/>
        </p:spPr>
        <p:txBody>
          <a:bodyPr wrap="square" lIns="64008" tIns="27432" rIns="64008" bIns="18288">
            <a:spAutoFit/>
          </a:bodyPr>
          <a:lstStyle/>
          <a:p>
            <a:r>
              <a:rPr sz="1200" b="1">
                <a:solidFill>
                  <a:srgbClr val="051B31"/>
                </a:solidFill>
                <a:latin typeface="Aptos"/>
              </a:rPr>
              <a:t>Manhattan, Brooklyn and Queens account for the vast majority of pickup trips.</a:t>
            </a:r>
          </a:p>
        </p:txBody>
      </p:sp>
      <p:sp>
        <p:nvSpPr>
          <p:cNvPr id="9" name="TextBox 8"/>
          <p:cNvSpPr txBox="1"/>
          <p:nvPr/>
        </p:nvSpPr>
        <p:spPr>
          <a:xfrm>
            <a:off x="7754112" y="1444752"/>
            <a:ext cx="3657600" cy="292608"/>
          </a:xfrm>
          <a:prstGeom prst="rect">
            <a:avLst/>
          </a:prstGeom>
          <a:noFill/>
        </p:spPr>
        <p:txBody>
          <a:bodyPr wrap="square" lIns="64008" tIns="27432" rIns="64008" bIns="18288">
            <a:spAutoFit/>
          </a:bodyPr>
          <a:lstStyle/>
          <a:p>
            <a:r>
              <a:rPr sz="1200" b="1">
                <a:solidFill>
                  <a:srgbClr val="0069AA"/>
                </a:solidFill>
                <a:latin typeface="Aptos"/>
              </a:rPr>
              <a:t>WHAT THE RESULT TELLS US</a:t>
            </a:r>
          </a:p>
        </p:txBody>
      </p:sp>
      <p:sp>
        <p:nvSpPr>
          <p:cNvPr id="10" name="Rounded Rectangle 9"/>
          <p:cNvSpPr/>
          <p:nvPr/>
        </p:nvSpPr>
        <p:spPr>
          <a:xfrm>
            <a:off x="7772400" y="187451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28431" y="1828800"/>
            <a:ext cx="3337560" cy="658368"/>
          </a:xfrm>
          <a:prstGeom prst="rect">
            <a:avLst/>
          </a:prstGeom>
          <a:noFill/>
        </p:spPr>
        <p:txBody>
          <a:bodyPr wrap="square" lIns="64008" tIns="27432" rIns="64008" bIns="18288">
            <a:spAutoFit/>
          </a:bodyPr>
          <a:lstStyle/>
          <a:p>
            <a:r>
              <a:rPr sz="1200" b="0">
                <a:solidFill>
                  <a:srgbClr val="192B3C"/>
                </a:solidFill>
                <a:latin typeface="Aptos"/>
              </a:rPr>
              <a:t>Manhattan has the largest pickup share at 33.40%.</a:t>
            </a:r>
          </a:p>
        </p:txBody>
      </p:sp>
      <p:sp>
        <p:nvSpPr>
          <p:cNvPr id="12" name="Rounded Rectangle 11"/>
          <p:cNvSpPr/>
          <p:nvPr/>
        </p:nvSpPr>
        <p:spPr>
          <a:xfrm>
            <a:off x="7772400" y="283463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28431" y="2788920"/>
            <a:ext cx="3337560" cy="658368"/>
          </a:xfrm>
          <a:prstGeom prst="rect">
            <a:avLst/>
          </a:prstGeom>
          <a:noFill/>
        </p:spPr>
        <p:txBody>
          <a:bodyPr wrap="square" lIns="64008" tIns="27432" rIns="64008" bIns="18288">
            <a:spAutoFit/>
          </a:bodyPr>
          <a:lstStyle/>
          <a:p>
            <a:r>
              <a:rPr sz="1200" b="0">
                <a:solidFill>
                  <a:srgbClr val="192B3C"/>
                </a:solidFill>
                <a:latin typeface="Aptos"/>
              </a:rPr>
              <a:t>Brooklyn and Queens follow closely at 30.96% and 28.93%.</a:t>
            </a:r>
          </a:p>
        </p:txBody>
      </p:sp>
      <p:sp>
        <p:nvSpPr>
          <p:cNvPr id="14" name="Rounded Rectangle 13"/>
          <p:cNvSpPr/>
          <p:nvPr/>
        </p:nvSpPr>
        <p:spPr>
          <a:xfrm>
            <a:off x="7772400" y="379475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28431" y="3749039"/>
            <a:ext cx="3337560" cy="658368"/>
          </a:xfrm>
          <a:prstGeom prst="rect">
            <a:avLst/>
          </a:prstGeom>
          <a:noFill/>
        </p:spPr>
        <p:txBody>
          <a:bodyPr wrap="square" lIns="64008" tIns="27432" rIns="64008" bIns="18288">
            <a:spAutoFit/>
          </a:bodyPr>
          <a:lstStyle/>
          <a:p>
            <a:r>
              <a:rPr sz="1200" b="0">
                <a:solidFill>
                  <a:srgbClr val="192B3C"/>
                </a:solidFill>
                <a:latin typeface="Aptos"/>
              </a:rPr>
              <a:t>Together, these three boroughs represent about 93.3% of trips in the supplied result.</a:t>
            </a:r>
          </a:p>
        </p:txBody>
      </p:sp>
      <p:sp>
        <p:nvSpPr>
          <p:cNvPr id="16" name="Rounded Rectangle 15"/>
          <p:cNvSpPr/>
          <p:nvPr/>
        </p:nvSpPr>
        <p:spPr>
          <a:xfrm>
            <a:off x="7754112" y="4919472"/>
            <a:ext cx="3657600" cy="804672"/>
          </a:xfrm>
          <a:prstGeom prst="roundRect">
            <a:avLst/>
          </a:prstGeom>
          <a:solidFill>
            <a:srgbClr val="FFF8DE"/>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27848" y="5056632"/>
            <a:ext cx="3337560" cy="502920"/>
          </a:xfrm>
          <a:prstGeom prst="rect">
            <a:avLst/>
          </a:prstGeom>
          <a:noFill/>
        </p:spPr>
        <p:txBody>
          <a:bodyPr wrap="square" lIns="64008" tIns="27432" rIns="64008" bIns="18288">
            <a:spAutoFit/>
          </a:bodyPr>
          <a:lstStyle/>
          <a:p>
            <a:r>
              <a:rPr sz="1000" b="1">
                <a:solidFill>
                  <a:srgbClr val="192B3C"/>
                </a:solidFill>
                <a:latin typeface="Aptos"/>
              </a:rPr>
              <a:t>Decision cue: use this insight alongside date, borough and route filters in the Power BI dashboard.</a:t>
            </a:r>
          </a:p>
        </p:txBody>
      </p:sp>
      <p:sp>
        <p:nvSpPr>
          <p:cNvPr id="18" name="Rectangle 17"/>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6473952"/>
            <a:ext cx="7315200" cy="164592"/>
          </a:xfrm>
          <a:prstGeom prst="rect">
            <a:avLst/>
          </a:prstGeom>
          <a:noFill/>
        </p:spPr>
        <p:txBody>
          <a:bodyPr wrap="square" lIns="64008" tIns="27432" rIns="64008" bIns="18288">
            <a:spAutoFit/>
          </a:bodyPr>
          <a:lstStyle/>
          <a:p>
            <a:r>
              <a:rPr sz="800" b="1">
                <a:solidFill>
                  <a:srgbClr val="5F6F7F"/>
                </a:solidFill>
                <a:latin typeface="Aptos"/>
              </a:rPr>
              <a:t>UBER TRIPS ANALYTICS  •  SQL EDITION</a:t>
            </a:r>
          </a:p>
        </p:txBody>
      </p:sp>
      <p:sp>
        <p:nvSpPr>
          <p:cNvPr id="20" name="TextBox 19"/>
          <p:cNvSpPr txBox="1"/>
          <p:nvPr/>
        </p:nvSpPr>
        <p:spPr>
          <a:xfrm>
            <a:off x="11064240" y="6455664"/>
            <a:ext cx="548640" cy="182880"/>
          </a:xfrm>
          <a:prstGeom prst="rect">
            <a:avLst/>
          </a:prstGeom>
          <a:noFill/>
        </p:spPr>
        <p:txBody>
          <a:bodyPr wrap="square" lIns="64008" tIns="27432" rIns="64008" bIns="18288">
            <a:spAutoFit/>
          </a:bodyPr>
          <a:lstStyle/>
          <a:p>
            <a:r>
              <a:rPr sz="900" b="1">
                <a:solidFill>
                  <a:srgbClr val="5F6F7F"/>
                </a:solidFill>
                <a:latin typeface="Aptos"/>
              </a:rPr>
              <a:t>06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11480"/>
          </a:xfrm>
          <a:prstGeom prst="rect">
            <a:avLst/>
          </a:prstGeom>
          <a:noFill/>
        </p:spPr>
        <p:txBody>
          <a:bodyPr wrap="square" lIns="54864" tIns="27432" rIns="54864" bIns="18288">
            <a:spAutoFit/>
          </a:bodyPr>
          <a:lstStyle/>
          <a:p>
            <a:r>
              <a:rPr sz="2500" b="1">
                <a:solidFill>
                  <a:srgbClr val="051B31"/>
                </a:solidFill>
                <a:latin typeface="Aptos"/>
              </a:rPr>
              <a:t>Question 05  |  Top Pickup–Drop-off Routes</a:t>
            </a:r>
          </a:p>
        </p:txBody>
      </p:sp>
      <p:sp>
        <p:nvSpPr>
          <p:cNvPr id="4" name="TextBox 3"/>
          <p:cNvSpPr txBox="1"/>
          <p:nvPr/>
        </p:nvSpPr>
        <p:spPr>
          <a:xfrm>
            <a:off x="621792" y="749808"/>
            <a:ext cx="10972800" cy="246888"/>
          </a:xfrm>
          <a:prstGeom prst="rect">
            <a:avLst/>
          </a:prstGeom>
          <a:noFill/>
        </p:spPr>
        <p:txBody>
          <a:bodyPr wrap="square" lIns="54864" tIns="27432" rIns="54864" bIns="18288">
            <a:spAutoFit/>
          </a:bodyPr>
          <a:lstStyle/>
          <a:p>
            <a:r>
              <a:rPr sz="900" b="1">
                <a:solidFill>
                  <a:srgbClr val="0069AA"/>
                </a:solidFill>
                <a:latin typeface="Aptos"/>
              </a:rPr>
              <a:t>FIND THE 10 MOST FREQUENT PICKUP-ZONE TO DROP-OFF-ZONE COMBINATIONS.</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8" name="TextBox 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11</a:t>
            </a:r>
          </a:p>
        </p:txBody>
      </p:sp>
      <p:sp>
        <p:nvSpPr>
          <p:cNvPr id="9" name="Rounded Rectangle 8"/>
          <p:cNvSpPr/>
          <p:nvPr/>
        </p:nvSpPr>
        <p:spPr>
          <a:xfrm>
            <a:off x="658368" y="1353312"/>
            <a:ext cx="10881360" cy="475488"/>
          </a:xfrm>
          <a:prstGeom prst="roundRect">
            <a:avLst/>
          </a:prstGeom>
          <a:solidFill>
            <a:srgbClr val="051B31"/>
          </a:solidFill>
          <a:ln>
            <a:solidFill>
              <a:srgbClr val="051B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1472184"/>
            <a:ext cx="10515600" cy="210312"/>
          </a:xfrm>
          <a:prstGeom prst="rect">
            <a:avLst/>
          </a:prstGeom>
          <a:noFill/>
        </p:spPr>
        <p:txBody>
          <a:bodyPr wrap="square" lIns="54864" tIns="27432" rIns="54864" bIns="18288">
            <a:spAutoFit/>
          </a:bodyPr>
          <a:lstStyle/>
          <a:p>
            <a:r>
              <a:rPr sz="1100" b="1">
                <a:solidFill>
                  <a:srgbClr val="FFFFFF"/>
                </a:solidFill>
                <a:latin typeface="Aptos"/>
              </a:rPr>
              <a:t>BUSINESS QUESTION 05  •  SQL QUERY</a:t>
            </a:r>
          </a:p>
        </p:txBody>
      </p:sp>
      <p:pic>
        <p:nvPicPr>
          <p:cNvPr id="11" name="Picture 10" descr="Screenshot 2026-10-22 091425(1).png"/>
          <p:cNvPicPr>
            <a:picLocks noChangeAspect="1"/>
          </p:cNvPicPr>
          <p:nvPr/>
        </p:nvPicPr>
        <p:blipFill>
          <a:blip r:embed="rId2"/>
          <a:stretch>
            <a:fillRect/>
          </a:stretch>
        </p:blipFill>
        <p:spPr>
          <a:xfrm>
            <a:off x="3202376" y="2011679"/>
            <a:ext cx="5786943" cy="4069080"/>
          </a:xfrm>
          <a:prstGeom prst="rect">
            <a:avLst/>
          </a:prstGeom>
        </p:spPr>
      </p:pic>
      <p:sp>
        <p:nvSpPr>
          <p:cNvPr id="12" name="Rectangle 11"/>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14" name="TextBox 13"/>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11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11480"/>
          </a:xfrm>
          <a:prstGeom prst="rect">
            <a:avLst/>
          </a:prstGeom>
          <a:noFill/>
        </p:spPr>
        <p:txBody>
          <a:bodyPr wrap="square" lIns="54864" tIns="27432" rIns="54864" bIns="18288">
            <a:spAutoFit/>
          </a:bodyPr>
          <a:lstStyle/>
          <a:p>
            <a:r>
              <a:rPr sz="2500" b="1">
                <a:solidFill>
                  <a:srgbClr val="051B31"/>
                </a:solidFill>
                <a:latin typeface="Aptos"/>
              </a:rPr>
              <a:t>Question 05  |  Result &amp; interpretation</a:t>
            </a:r>
          </a:p>
        </p:txBody>
      </p:sp>
      <p:sp>
        <p:nvSpPr>
          <p:cNvPr id="4" name="TextBox 3"/>
          <p:cNvSpPr txBox="1"/>
          <p:nvPr/>
        </p:nvSpPr>
        <p:spPr>
          <a:xfrm>
            <a:off x="621792" y="749808"/>
            <a:ext cx="10972800" cy="246888"/>
          </a:xfrm>
          <a:prstGeom prst="rect">
            <a:avLst/>
          </a:prstGeom>
          <a:noFill/>
        </p:spPr>
        <p:txBody>
          <a:bodyPr wrap="square" lIns="54864" tIns="27432" rIns="54864" bIns="18288">
            <a:spAutoFit/>
          </a:bodyPr>
          <a:lstStyle/>
          <a:p>
            <a:r>
              <a:rPr sz="900" b="1">
                <a:solidFill>
                  <a:srgbClr val="0069AA"/>
                </a:solidFill>
                <a:latin typeface="Aptos"/>
              </a:rPr>
              <a:t>TOP PICKUP–DROP-OFF ROUTES • OUTPUT PROVIDED IN YOUR SCREENSHOTS</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8" name="TextBox 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12</a:t>
            </a:r>
          </a:p>
        </p:txBody>
      </p:sp>
      <p:sp>
        <p:nvSpPr>
          <p:cNvPr id="9" name="Rounded Rectangle 8"/>
          <p:cNvSpPr/>
          <p:nvPr/>
        </p:nvSpPr>
        <p:spPr>
          <a:xfrm>
            <a:off x="658368" y="1344168"/>
            <a:ext cx="6903720" cy="4800600"/>
          </a:xfrm>
          <a:prstGeom prst="roundRect">
            <a:avLst/>
          </a:prstGeom>
          <a:solidFill>
            <a:srgbClr val="F4F7FA"/>
          </a:solidFill>
          <a:ln>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creenshot 2026-10-22 091735(1).png"/>
          <p:cNvPicPr>
            <a:picLocks noChangeAspect="1"/>
          </p:cNvPicPr>
          <p:nvPr/>
        </p:nvPicPr>
        <p:blipFill>
          <a:blip r:embed="rId2"/>
          <a:stretch>
            <a:fillRect/>
          </a:stretch>
        </p:blipFill>
        <p:spPr>
          <a:xfrm>
            <a:off x="841248" y="2545020"/>
            <a:ext cx="6537959" cy="2316600"/>
          </a:xfrm>
          <a:prstGeom prst="rect">
            <a:avLst/>
          </a:prstGeom>
        </p:spPr>
      </p:pic>
      <p:sp>
        <p:nvSpPr>
          <p:cNvPr id="11" name="TextBox 10"/>
          <p:cNvSpPr txBox="1"/>
          <p:nvPr/>
        </p:nvSpPr>
        <p:spPr>
          <a:xfrm>
            <a:off x="7909560" y="1481328"/>
            <a:ext cx="3474720" cy="329184"/>
          </a:xfrm>
          <a:prstGeom prst="rect">
            <a:avLst/>
          </a:prstGeom>
          <a:noFill/>
        </p:spPr>
        <p:txBody>
          <a:bodyPr wrap="square" lIns="54864" tIns="27432" rIns="54864" bIns="18288">
            <a:spAutoFit/>
          </a:bodyPr>
          <a:lstStyle/>
          <a:p>
            <a:r>
              <a:rPr sz="1200" b="1">
                <a:solidFill>
                  <a:srgbClr val="0069AA"/>
                </a:solidFill>
                <a:latin typeface="Aptos"/>
              </a:rPr>
              <a:t>KEY TAKEAWAY</a:t>
            </a:r>
          </a:p>
        </p:txBody>
      </p:sp>
      <p:sp>
        <p:nvSpPr>
          <p:cNvPr id="12" name="TextBox 11"/>
          <p:cNvSpPr txBox="1"/>
          <p:nvPr/>
        </p:nvSpPr>
        <p:spPr>
          <a:xfrm>
            <a:off x="7882127" y="1874519"/>
            <a:ext cx="3520440" cy="3154680"/>
          </a:xfrm>
          <a:prstGeom prst="rect">
            <a:avLst/>
          </a:prstGeom>
          <a:noFill/>
        </p:spPr>
        <p:txBody>
          <a:bodyPr wrap="square" lIns="54864" tIns="27432" rIns="54864" bIns="18288">
            <a:spAutoFit/>
          </a:bodyPr>
          <a:lstStyle/>
          <a:p>
            <a:r>
              <a:rPr sz="1400" b="0">
                <a:solidFill>
                  <a:srgbClr val="192B3C"/>
                </a:solidFill>
                <a:latin typeface="Aptos"/>
              </a:rPr>
              <a:t>Astoria → Astoria is the most frequent displayed route with 212,538 trips. Other high-volume pairs include East Harlem South → East Harlem North (199,548) and Central Harlem → Central Harlem North (168,487). The supplied result screenshot visibly shows five rows; add the remaining rows if available.</a:t>
            </a:r>
          </a:p>
        </p:txBody>
      </p:sp>
      <p:sp>
        <p:nvSpPr>
          <p:cNvPr id="13" name="Rounded Rectangle 12"/>
          <p:cNvSpPr/>
          <p:nvPr/>
        </p:nvSpPr>
        <p:spPr>
          <a:xfrm>
            <a:off x="7882127" y="5257800"/>
            <a:ext cx="3520440" cy="685800"/>
          </a:xfrm>
          <a:prstGeom prst="roundRect">
            <a:avLst/>
          </a:prstGeom>
          <a:solidFill>
            <a:srgbClr val="FFF8DE"/>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0" y="5376672"/>
            <a:ext cx="3200400" cy="411480"/>
          </a:xfrm>
          <a:prstGeom prst="rect">
            <a:avLst/>
          </a:prstGeom>
          <a:noFill/>
        </p:spPr>
        <p:txBody>
          <a:bodyPr wrap="square" lIns="54864" tIns="27432" rIns="54864" bIns="18288">
            <a:spAutoFit/>
          </a:bodyPr>
          <a:lstStyle/>
          <a:p>
            <a:r>
              <a:rPr sz="1000" b="1">
                <a:solidFill>
                  <a:srgbClr val="192B3C"/>
                </a:solidFill>
                <a:latin typeface="Aptos"/>
              </a:rPr>
              <a:t>Use this result with the Power BI dashboard for drill-down analysis.</a:t>
            </a:r>
          </a:p>
        </p:txBody>
      </p:sp>
      <p:sp>
        <p:nvSpPr>
          <p:cNvPr id="15" name="Rectangle 14"/>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17" name="TextBox 16"/>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12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384048"/>
          </a:xfrm>
          <a:prstGeom prst="rect">
            <a:avLst/>
          </a:prstGeom>
          <a:noFill/>
        </p:spPr>
        <p:txBody>
          <a:bodyPr wrap="square" lIns="64008" tIns="27432" rIns="64008" bIns="18288">
            <a:spAutoFit/>
          </a:bodyPr>
          <a:lstStyle/>
          <a:p>
            <a:r>
              <a:rPr sz="2400" b="1">
                <a:solidFill>
                  <a:srgbClr val="051B31"/>
                </a:solidFill>
                <a:latin typeface="Aptos"/>
              </a:rPr>
              <a:t>INSIGHT 05  |  Top Pickup–Drop-off Routes</a:t>
            </a:r>
          </a:p>
        </p:txBody>
      </p:sp>
      <p:sp>
        <p:nvSpPr>
          <p:cNvPr id="4" name="TextBox 3"/>
          <p:cNvSpPr txBox="1"/>
          <p:nvPr/>
        </p:nvSpPr>
        <p:spPr>
          <a:xfrm>
            <a:off x="621792" y="749808"/>
            <a:ext cx="10972800" cy="256032"/>
          </a:xfrm>
          <a:prstGeom prst="rect">
            <a:avLst/>
          </a:prstGeom>
          <a:noFill/>
        </p:spPr>
        <p:txBody>
          <a:bodyPr wrap="square" lIns="64008" tIns="27432" rIns="64008" bIns="18288">
            <a:spAutoFit/>
          </a:bodyPr>
          <a:lstStyle/>
          <a:p>
            <a:r>
              <a:rPr sz="900" b="1">
                <a:solidFill>
                  <a:srgbClr val="0069AA"/>
                </a:solidFill>
                <a:latin typeface="Aptos"/>
              </a:rPr>
              <a:t>RESULT EXPLAINED  •  VISUAL SUMMARY  •  BUSINESS IMPLICATION</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58368" y="1353312"/>
            <a:ext cx="6766560" cy="4526280"/>
          </a:xfrm>
          <a:prstGeom prst="roundRect">
            <a:avLst/>
          </a:prstGeom>
          <a:solidFill>
            <a:srgbClr val="F4F7FA"/>
          </a:solidFill>
          <a:ln>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Chart 6"/>
          <p:cNvGraphicFramePr>
            <a:graphicFrameLocks noGrp="1"/>
          </p:cNvGraphicFramePr>
          <p:nvPr/>
        </p:nvGraphicFramePr>
        <p:xfrm>
          <a:off x="841248" y="1572768"/>
          <a:ext cx="6355080" cy="342900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914400" y="5193792"/>
            <a:ext cx="6263640" cy="384048"/>
          </a:xfrm>
          <a:prstGeom prst="rect">
            <a:avLst/>
          </a:prstGeom>
          <a:noFill/>
        </p:spPr>
        <p:txBody>
          <a:bodyPr wrap="square" lIns="64008" tIns="27432" rIns="64008" bIns="18288">
            <a:spAutoFit/>
          </a:bodyPr>
          <a:lstStyle/>
          <a:p>
            <a:r>
              <a:rPr sz="1200" b="1">
                <a:solidFill>
                  <a:srgbClr val="051B31"/>
                </a:solidFill>
                <a:latin typeface="Aptos"/>
              </a:rPr>
              <a:t>Short intra-neighborhood routes dominate the visible top route combinations.</a:t>
            </a:r>
          </a:p>
        </p:txBody>
      </p:sp>
      <p:sp>
        <p:nvSpPr>
          <p:cNvPr id="9" name="TextBox 8"/>
          <p:cNvSpPr txBox="1"/>
          <p:nvPr/>
        </p:nvSpPr>
        <p:spPr>
          <a:xfrm>
            <a:off x="7754112" y="1444752"/>
            <a:ext cx="3657600" cy="292608"/>
          </a:xfrm>
          <a:prstGeom prst="rect">
            <a:avLst/>
          </a:prstGeom>
          <a:noFill/>
        </p:spPr>
        <p:txBody>
          <a:bodyPr wrap="square" lIns="64008" tIns="27432" rIns="64008" bIns="18288">
            <a:spAutoFit/>
          </a:bodyPr>
          <a:lstStyle/>
          <a:p>
            <a:r>
              <a:rPr sz="1200" b="1">
                <a:solidFill>
                  <a:srgbClr val="0069AA"/>
                </a:solidFill>
                <a:latin typeface="Aptos"/>
              </a:rPr>
              <a:t>WHAT THE RESULT TELLS US</a:t>
            </a:r>
          </a:p>
        </p:txBody>
      </p:sp>
      <p:sp>
        <p:nvSpPr>
          <p:cNvPr id="10" name="Rounded Rectangle 9"/>
          <p:cNvSpPr/>
          <p:nvPr/>
        </p:nvSpPr>
        <p:spPr>
          <a:xfrm>
            <a:off x="7772400" y="187451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28431" y="1828800"/>
            <a:ext cx="3337560" cy="658368"/>
          </a:xfrm>
          <a:prstGeom prst="rect">
            <a:avLst/>
          </a:prstGeom>
          <a:noFill/>
        </p:spPr>
        <p:txBody>
          <a:bodyPr wrap="square" lIns="64008" tIns="27432" rIns="64008" bIns="18288">
            <a:spAutoFit/>
          </a:bodyPr>
          <a:lstStyle/>
          <a:p>
            <a:r>
              <a:rPr sz="1200" b="0">
                <a:solidFill>
                  <a:srgbClr val="192B3C"/>
                </a:solidFill>
                <a:latin typeface="Aptos"/>
              </a:rPr>
              <a:t>Astoria → Astoria leads with 212,538 trips.</a:t>
            </a:r>
          </a:p>
        </p:txBody>
      </p:sp>
      <p:sp>
        <p:nvSpPr>
          <p:cNvPr id="12" name="Rounded Rectangle 11"/>
          <p:cNvSpPr/>
          <p:nvPr/>
        </p:nvSpPr>
        <p:spPr>
          <a:xfrm>
            <a:off x="7772400" y="283463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28431" y="2788920"/>
            <a:ext cx="3337560" cy="658368"/>
          </a:xfrm>
          <a:prstGeom prst="rect">
            <a:avLst/>
          </a:prstGeom>
          <a:noFill/>
        </p:spPr>
        <p:txBody>
          <a:bodyPr wrap="square" lIns="64008" tIns="27432" rIns="64008" bIns="18288">
            <a:spAutoFit/>
          </a:bodyPr>
          <a:lstStyle/>
          <a:p>
            <a:r>
              <a:rPr sz="1200" b="0">
                <a:solidFill>
                  <a:srgbClr val="192B3C"/>
                </a:solidFill>
                <a:latin typeface="Aptos"/>
              </a:rPr>
              <a:t>East Harlem South → East Harlem North is second at 199,548.</a:t>
            </a:r>
          </a:p>
        </p:txBody>
      </p:sp>
      <p:sp>
        <p:nvSpPr>
          <p:cNvPr id="14" name="Rounded Rectangle 13"/>
          <p:cNvSpPr/>
          <p:nvPr/>
        </p:nvSpPr>
        <p:spPr>
          <a:xfrm>
            <a:off x="7772400" y="379475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28431" y="3749039"/>
            <a:ext cx="3337560" cy="658368"/>
          </a:xfrm>
          <a:prstGeom prst="rect">
            <a:avLst/>
          </a:prstGeom>
          <a:noFill/>
        </p:spPr>
        <p:txBody>
          <a:bodyPr wrap="square" lIns="64008" tIns="27432" rIns="64008" bIns="18288">
            <a:spAutoFit/>
          </a:bodyPr>
          <a:lstStyle/>
          <a:p>
            <a:r>
              <a:rPr sz="1200" b="0">
                <a:solidFill>
                  <a:srgbClr val="192B3C"/>
                </a:solidFill>
                <a:latin typeface="Aptos"/>
              </a:rPr>
              <a:t>Use zone-level drill-down to support local fleet positioning; screenshot shows five rows although query requests ten.</a:t>
            </a:r>
          </a:p>
        </p:txBody>
      </p:sp>
      <p:sp>
        <p:nvSpPr>
          <p:cNvPr id="16" name="Rounded Rectangle 15"/>
          <p:cNvSpPr/>
          <p:nvPr/>
        </p:nvSpPr>
        <p:spPr>
          <a:xfrm>
            <a:off x="7754112" y="4919472"/>
            <a:ext cx="3657600" cy="804672"/>
          </a:xfrm>
          <a:prstGeom prst="roundRect">
            <a:avLst/>
          </a:prstGeom>
          <a:solidFill>
            <a:srgbClr val="FFF8DE"/>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27848" y="5056632"/>
            <a:ext cx="3337560" cy="502920"/>
          </a:xfrm>
          <a:prstGeom prst="rect">
            <a:avLst/>
          </a:prstGeom>
          <a:noFill/>
        </p:spPr>
        <p:txBody>
          <a:bodyPr wrap="square" lIns="64008" tIns="27432" rIns="64008" bIns="18288">
            <a:spAutoFit/>
          </a:bodyPr>
          <a:lstStyle/>
          <a:p>
            <a:r>
              <a:rPr sz="1000" b="1">
                <a:solidFill>
                  <a:srgbClr val="192B3C"/>
                </a:solidFill>
                <a:latin typeface="Aptos"/>
              </a:rPr>
              <a:t>Decision cue: use this insight alongside date, borough and route filters in the Power BI dashboard.</a:t>
            </a:r>
          </a:p>
        </p:txBody>
      </p:sp>
      <p:sp>
        <p:nvSpPr>
          <p:cNvPr id="18" name="Rectangle 17"/>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6473952"/>
            <a:ext cx="7315200" cy="164592"/>
          </a:xfrm>
          <a:prstGeom prst="rect">
            <a:avLst/>
          </a:prstGeom>
          <a:noFill/>
        </p:spPr>
        <p:txBody>
          <a:bodyPr wrap="square" lIns="64008" tIns="27432" rIns="64008" bIns="18288">
            <a:spAutoFit/>
          </a:bodyPr>
          <a:lstStyle/>
          <a:p>
            <a:r>
              <a:rPr sz="800" b="1">
                <a:solidFill>
                  <a:srgbClr val="5F6F7F"/>
                </a:solidFill>
                <a:latin typeface="Aptos"/>
              </a:rPr>
              <a:t>UBER TRIPS ANALYTICS  •  SQL EDITION</a:t>
            </a:r>
          </a:p>
        </p:txBody>
      </p:sp>
      <p:sp>
        <p:nvSpPr>
          <p:cNvPr id="20" name="TextBox 19"/>
          <p:cNvSpPr txBox="1"/>
          <p:nvPr/>
        </p:nvSpPr>
        <p:spPr>
          <a:xfrm>
            <a:off x="11064240" y="6455664"/>
            <a:ext cx="548640" cy="182880"/>
          </a:xfrm>
          <a:prstGeom prst="rect">
            <a:avLst/>
          </a:prstGeom>
          <a:noFill/>
        </p:spPr>
        <p:txBody>
          <a:bodyPr wrap="square" lIns="64008" tIns="27432" rIns="64008" bIns="18288">
            <a:spAutoFit/>
          </a:bodyPr>
          <a:lstStyle/>
          <a:p>
            <a:r>
              <a:rPr sz="900" b="1">
                <a:solidFill>
                  <a:srgbClr val="5F6F7F"/>
                </a:solidFill>
                <a:latin typeface="Aptos"/>
              </a:rPr>
              <a:t>07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11480"/>
          </a:xfrm>
          <a:prstGeom prst="rect">
            <a:avLst/>
          </a:prstGeom>
          <a:noFill/>
        </p:spPr>
        <p:txBody>
          <a:bodyPr wrap="square" lIns="54864" tIns="27432" rIns="54864" bIns="18288">
            <a:spAutoFit/>
          </a:bodyPr>
          <a:lstStyle/>
          <a:p>
            <a:r>
              <a:rPr sz="2500" b="1">
                <a:solidFill>
                  <a:srgbClr val="051B31"/>
                </a:solidFill>
                <a:latin typeface="Aptos"/>
              </a:rPr>
              <a:t>Question 06  |  Passenger Load Patterns</a:t>
            </a:r>
          </a:p>
        </p:txBody>
      </p:sp>
      <p:sp>
        <p:nvSpPr>
          <p:cNvPr id="4" name="TextBox 3"/>
          <p:cNvSpPr txBox="1"/>
          <p:nvPr/>
        </p:nvSpPr>
        <p:spPr>
          <a:xfrm>
            <a:off x="621792" y="749808"/>
            <a:ext cx="10972800" cy="246888"/>
          </a:xfrm>
          <a:prstGeom prst="rect">
            <a:avLst/>
          </a:prstGeom>
          <a:noFill/>
        </p:spPr>
        <p:txBody>
          <a:bodyPr wrap="square" lIns="54864" tIns="27432" rIns="54864" bIns="18288">
            <a:spAutoFit/>
          </a:bodyPr>
          <a:lstStyle/>
          <a:p>
            <a:r>
              <a:rPr sz="900" b="1">
                <a:solidFill>
                  <a:srgbClr val="0069AA"/>
                </a:solidFill>
                <a:latin typeface="Aptos"/>
              </a:rPr>
              <a:t>CALCULATE AVERAGE PASSENGER COUNT FOR TRIPS BY PICKUP BOROUGH.</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8" name="TextBox 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13</a:t>
            </a:r>
          </a:p>
        </p:txBody>
      </p:sp>
      <p:sp>
        <p:nvSpPr>
          <p:cNvPr id="9" name="Rounded Rectangle 8"/>
          <p:cNvSpPr/>
          <p:nvPr/>
        </p:nvSpPr>
        <p:spPr>
          <a:xfrm>
            <a:off x="658368" y="1353312"/>
            <a:ext cx="10881360" cy="475488"/>
          </a:xfrm>
          <a:prstGeom prst="roundRect">
            <a:avLst/>
          </a:prstGeom>
          <a:solidFill>
            <a:srgbClr val="051B31"/>
          </a:solidFill>
          <a:ln>
            <a:solidFill>
              <a:srgbClr val="051B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1472184"/>
            <a:ext cx="10515600" cy="210312"/>
          </a:xfrm>
          <a:prstGeom prst="rect">
            <a:avLst/>
          </a:prstGeom>
          <a:noFill/>
        </p:spPr>
        <p:txBody>
          <a:bodyPr wrap="square" lIns="54864" tIns="27432" rIns="54864" bIns="18288">
            <a:spAutoFit/>
          </a:bodyPr>
          <a:lstStyle/>
          <a:p>
            <a:r>
              <a:rPr sz="1100" b="1">
                <a:solidFill>
                  <a:srgbClr val="FFFFFF"/>
                </a:solidFill>
                <a:latin typeface="Aptos"/>
              </a:rPr>
              <a:t>BUSINESS QUESTION 06  •  SQL QUERY</a:t>
            </a:r>
          </a:p>
        </p:txBody>
      </p:sp>
      <p:pic>
        <p:nvPicPr>
          <p:cNvPr id="11" name="Picture 10" descr="Screenshot 2026-10-22 091801.png"/>
          <p:cNvPicPr>
            <a:picLocks noChangeAspect="1"/>
          </p:cNvPicPr>
          <p:nvPr/>
        </p:nvPicPr>
        <p:blipFill>
          <a:blip r:embed="rId2"/>
          <a:stretch>
            <a:fillRect/>
          </a:stretch>
        </p:blipFill>
        <p:spPr>
          <a:xfrm>
            <a:off x="1691575" y="2011679"/>
            <a:ext cx="8808544" cy="4069080"/>
          </a:xfrm>
          <a:prstGeom prst="rect">
            <a:avLst/>
          </a:prstGeom>
        </p:spPr>
      </p:pic>
      <p:sp>
        <p:nvSpPr>
          <p:cNvPr id="12" name="Rectangle 11"/>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14" name="TextBox 13"/>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13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11480"/>
          </a:xfrm>
          <a:prstGeom prst="rect">
            <a:avLst/>
          </a:prstGeom>
          <a:noFill/>
        </p:spPr>
        <p:txBody>
          <a:bodyPr wrap="square" lIns="54864" tIns="27432" rIns="54864" bIns="18288">
            <a:spAutoFit/>
          </a:bodyPr>
          <a:lstStyle/>
          <a:p>
            <a:r>
              <a:rPr sz="2500" b="1">
                <a:solidFill>
                  <a:srgbClr val="051B31"/>
                </a:solidFill>
                <a:latin typeface="Aptos"/>
              </a:rPr>
              <a:t>Question 06  |  Result &amp; interpretation</a:t>
            </a:r>
          </a:p>
        </p:txBody>
      </p:sp>
      <p:sp>
        <p:nvSpPr>
          <p:cNvPr id="4" name="TextBox 3"/>
          <p:cNvSpPr txBox="1"/>
          <p:nvPr/>
        </p:nvSpPr>
        <p:spPr>
          <a:xfrm>
            <a:off x="621792" y="749808"/>
            <a:ext cx="10972800" cy="246888"/>
          </a:xfrm>
          <a:prstGeom prst="rect">
            <a:avLst/>
          </a:prstGeom>
          <a:noFill/>
        </p:spPr>
        <p:txBody>
          <a:bodyPr wrap="square" lIns="54864" tIns="27432" rIns="54864" bIns="18288">
            <a:spAutoFit/>
          </a:bodyPr>
          <a:lstStyle/>
          <a:p>
            <a:r>
              <a:rPr sz="900" b="1">
                <a:solidFill>
                  <a:srgbClr val="0069AA"/>
                </a:solidFill>
                <a:latin typeface="Aptos"/>
              </a:rPr>
              <a:t>PASSENGER LOAD PATTERNS • OUTPUT PROVIDED IN YOUR SCREENSHOTS</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8" name="TextBox 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14</a:t>
            </a:r>
          </a:p>
        </p:txBody>
      </p:sp>
      <p:sp>
        <p:nvSpPr>
          <p:cNvPr id="9" name="Rounded Rectangle 8"/>
          <p:cNvSpPr/>
          <p:nvPr/>
        </p:nvSpPr>
        <p:spPr>
          <a:xfrm>
            <a:off x="658368" y="1344168"/>
            <a:ext cx="6903720" cy="4800600"/>
          </a:xfrm>
          <a:prstGeom prst="roundRect">
            <a:avLst/>
          </a:prstGeom>
          <a:solidFill>
            <a:srgbClr val="F4F7FA"/>
          </a:solidFill>
          <a:ln>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creenshot 2026-10-22 091923.png"/>
          <p:cNvPicPr>
            <a:picLocks noChangeAspect="1"/>
          </p:cNvPicPr>
          <p:nvPr/>
        </p:nvPicPr>
        <p:blipFill>
          <a:blip r:embed="rId2"/>
          <a:stretch>
            <a:fillRect/>
          </a:stretch>
        </p:blipFill>
        <p:spPr>
          <a:xfrm>
            <a:off x="841248" y="2224818"/>
            <a:ext cx="6537960" cy="2957002"/>
          </a:xfrm>
          <a:prstGeom prst="rect">
            <a:avLst/>
          </a:prstGeom>
        </p:spPr>
      </p:pic>
      <p:sp>
        <p:nvSpPr>
          <p:cNvPr id="11" name="TextBox 10"/>
          <p:cNvSpPr txBox="1"/>
          <p:nvPr/>
        </p:nvSpPr>
        <p:spPr>
          <a:xfrm>
            <a:off x="7909560" y="1481328"/>
            <a:ext cx="3474720" cy="329184"/>
          </a:xfrm>
          <a:prstGeom prst="rect">
            <a:avLst/>
          </a:prstGeom>
          <a:noFill/>
        </p:spPr>
        <p:txBody>
          <a:bodyPr wrap="square" lIns="54864" tIns="27432" rIns="54864" bIns="18288">
            <a:spAutoFit/>
          </a:bodyPr>
          <a:lstStyle/>
          <a:p>
            <a:r>
              <a:rPr sz="1200" b="1">
                <a:solidFill>
                  <a:srgbClr val="0069AA"/>
                </a:solidFill>
                <a:latin typeface="Aptos"/>
              </a:rPr>
              <a:t>KEY TAKEAWAY</a:t>
            </a:r>
          </a:p>
        </p:txBody>
      </p:sp>
      <p:sp>
        <p:nvSpPr>
          <p:cNvPr id="12" name="TextBox 11"/>
          <p:cNvSpPr txBox="1"/>
          <p:nvPr/>
        </p:nvSpPr>
        <p:spPr>
          <a:xfrm>
            <a:off x="7882127" y="1874519"/>
            <a:ext cx="3520440" cy="3154680"/>
          </a:xfrm>
          <a:prstGeom prst="rect">
            <a:avLst/>
          </a:prstGeom>
          <a:noFill/>
        </p:spPr>
        <p:txBody>
          <a:bodyPr wrap="square" lIns="54864" tIns="27432" rIns="54864" bIns="18288">
            <a:spAutoFit/>
          </a:bodyPr>
          <a:lstStyle/>
          <a:p>
            <a:r>
              <a:rPr sz="1400" b="0">
                <a:solidFill>
                  <a:srgbClr val="192B3C"/>
                </a:solidFill>
                <a:latin typeface="Aptos"/>
              </a:rPr>
              <a:t>The displayed averages are approximately 1.29 passengers in Manhattan, 1.33 in Brooklyn, 1.40 in Queens, 1.29 in the Bronx, and 1.24 for Unknown. These borough averages are relatively close, with Queens highest in the shown output.</a:t>
            </a:r>
          </a:p>
        </p:txBody>
      </p:sp>
      <p:sp>
        <p:nvSpPr>
          <p:cNvPr id="13" name="Rounded Rectangle 12"/>
          <p:cNvSpPr/>
          <p:nvPr/>
        </p:nvSpPr>
        <p:spPr>
          <a:xfrm>
            <a:off x="7882127" y="5257800"/>
            <a:ext cx="3520440" cy="685800"/>
          </a:xfrm>
          <a:prstGeom prst="roundRect">
            <a:avLst/>
          </a:prstGeom>
          <a:solidFill>
            <a:srgbClr val="FFF8DE"/>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0" y="5376672"/>
            <a:ext cx="3200400" cy="411480"/>
          </a:xfrm>
          <a:prstGeom prst="rect">
            <a:avLst/>
          </a:prstGeom>
          <a:noFill/>
        </p:spPr>
        <p:txBody>
          <a:bodyPr wrap="square" lIns="54864" tIns="27432" rIns="54864" bIns="18288">
            <a:spAutoFit/>
          </a:bodyPr>
          <a:lstStyle/>
          <a:p>
            <a:r>
              <a:rPr sz="1000" b="1">
                <a:solidFill>
                  <a:srgbClr val="192B3C"/>
                </a:solidFill>
                <a:latin typeface="Aptos"/>
              </a:rPr>
              <a:t>Use this result with the Power BI dashboard for drill-down analysis.</a:t>
            </a:r>
          </a:p>
        </p:txBody>
      </p:sp>
      <p:sp>
        <p:nvSpPr>
          <p:cNvPr id="15" name="Rectangle 14"/>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17" name="TextBox 16"/>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14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384048"/>
          </a:xfrm>
          <a:prstGeom prst="rect">
            <a:avLst/>
          </a:prstGeom>
          <a:noFill/>
        </p:spPr>
        <p:txBody>
          <a:bodyPr wrap="square" lIns="64008" tIns="27432" rIns="64008" bIns="18288">
            <a:spAutoFit/>
          </a:bodyPr>
          <a:lstStyle/>
          <a:p>
            <a:r>
              <a:rPr sz="2400" b="1">
                <a:solidFill>
                  <a:srgbClr val="051B31"/>
                </a:solidFill>
                <a:latin typeface="Aptos"/>
              </a:rPr>
              <a:t>INSIGHT 06  |  Passenger Load Patterns</a:t>
            </a:r>
          </a:p>
        </p:txBody>
      </p:sp>
      <p:sp>
        <p:nvSpPr>
          <p:cNvPr id="4" name="TextBox 3"/>
          <p:cNvSpPr txBox="1"/>
          <p:nvPr/>
        </p:nvSpPr>
        <p:spPr>
          <a:xfrm>
            <a:off x="621792" y="749808"/>
            <a:ext cx="10972800" cy="256032"/>
          </a:xfrm>
          <a:prstGeom prst="rect">
            <a:avLst/>
          </a:prstGeom>
          <a:noFill/>
        </p:spPr>
        <p:txBody>
          <a:bodyPr wrap="square" lIns="64008" tIns="27432" rIns="64008" bIns="18288">
            <a:spAutoFit/>
          </a:bodyPr>
          <a:lstStyle/>
          <a:p>
            <a:r>
              <a:rPr sz="900" b="1">
                <a:solidFill>
                  <a:srgbClr val="0069AA"/>
                </a:solidFill>
                <a:latin typeface="Aptos"/>
              </a:rPr>
              <a:t>RESULT EXPLAINED  •  VISUAL SUMMARY  •  BUSINESS IMPLICATION</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58368" y="1353312"/>
            <a:ext cx="6766560" cy="4526280"/>
          </a:xfrm>
          <a:prstGeom prst="roundRect">
            <a:avLst/>
          </a:prstGeom>
          <a:solidFill>
            <a:srgbClr val="F4F7FA"/>
          </a:solidFill>
          <a:ln>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Chart 6"/>
          <p:cNvGraphicFramePr>
            <a:graphicFrameLocks noGrp="1"/>
          </p:cNvGraphicFramePr>
          <p:nvPr/>
        </p:nvGraphicFramePr>
        <p:xfrm>
          <a:off x="841248" y="1572768"/>
          <a:ext cx="6355080" cy="342900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914400" y="5193792"/>
            <a:ext cx="6263640" cy="384048"/>
          </a:xfrm>
          <a:prstGeom prst="rect">
            <a:avLst/>
          </a:prstGeom>
          <a:noFill/>
        </p:spPr>
        <p:txBody>
          <a:bodyPr wrap="square" lIns="64008" tIns="27432" rIns="64008" bIns="18288">
            <a:spAutoFit/>
          </a:bodyPr>
          <a:lstStyle/>
          <a:p>
            <a:r>
              <a:rPr sz="1200" b="1">
                <a:solidFill>
                  <a:srgbClr val="051B31"/>
                </a:solidFill>
                <a:latin typeface="Aptos"/>
              </a:rPr>
              <a:t>Average passenger counts are similar across boroughs; Queens is highest in the displayed output.</a:t>
            </a:r>
          </a:p>
        </p:txBody>
      </p:sp>
      <p:sp>
        <p:nvSpPr>
          <p:cNvPr id="9" name="TextBox 8"/>
          <p:cNvSpPr txBox="1"/>
          <p:nvPr/>
        </p:nvSpPr>
        <p:spPr>
          <a:xfrm>
            <a:off x="7754112" y="1444752"/>
            <a:ext cx="3657600" cy="292608"/>
          </a:xfrm>
          <a:prstGeom prst="rect">
            <a:avLst/>
          </a:prstGeom>
          <a:noFill/>
        </p:spPr>
        <p:txBody>
          <a:bodyPr wrap="square" lIns="64008" tIns="27432" rIns="64008" bIns="18288">
            <a:spAutoFit/>
          </a:bodyPr>
          <a:lstStyle/>
          <a:p>
            <a:r>
              <a:rPr sz="1200" b="1">
                <a:solidFill>
                  <a:srgbClr val="0069AA"/>
                </a:solidFill>
                <a:latin typeface="Aptos"/>
              </a:rPr>
              <a:t>WHAT THE RESULT TELLS US</a:t>
            </a:r>
          </a:p>
        </p:txBody>
      </p:sp>
      <p:sp>
        <p:nvSpPr>
          <p:cNvPr id="10" name="Rounded Rectangle 9"/>
          <p:cNvSpPr/>
          <p:nvPr/>
        </p:nvSpPr>
        <p:spPr>
          <a:xfrm>
            <a:off x="7772400" y="187451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28431" y="1828800"/>
            <a:ext cx="3337560" cy="658368"/>
          </a:xfrm>
          <a:prstGeom prst="rect">
            <a:avLst/>
          </a:prstGeom>
          <a:noFill/>
        </p:spPr>
        <p:txBody>
          <a:bodyPr wrap="square" lIns="64008" tIns="27432" rIns="64008" bIns="18288">
            <a:spAutoFit/>
          </a:bodyPr>
          <a:lstStyle/>
          <a:p>
            <a:r>
              <a:rPr sz="1200" b="0">
                <a:solidFill>
                  <a:srgbClr val="192B3C"/>
                </a:solidFill>
                <a:latin typeface="Aptos"/>
              </a:rPr>
              <a:t>Queens averages about 1.40 passengers per trip.</a:t>
            </a:r>
          </a:p>
        </p:txBody>
      </p:sp>
      <p:sp>
        <p:nvSpPr>
          <p:cNvPr id="12" name="Rounded Rectangle 11"/>
          <p:cNvSpPr/>
          <p:nvPr/>
        </p:nvSpPr>
        <p:spPr>
          <a:xfrm>
            <a:off x="7772400" y="283463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28431" y="2788920"/>
            <a:ext cx="3337560" cy="658368"/>
          </a:xfrm>
          <a:prstGeom prst="rect">
            <a:avLst/>
          </a:prstGeom>
          <a:noFill/>
        </p:spPr>
        <p:txBody>
          <a:bodyPr wrap="square" lIns="64008" tIns="27432" rIns="64008" bIns="18288">
            <a:spAutoFit/>
          </a:bodyPr>
          <a:lstStyle/>
          <a:p>
            <a:r>
              <a:rPr sz="1200" b="0">
                <a:solidFill>
                  <a:srgbClr val="192B3C"/>
                </a:solidFill>
                <a:latin typeface="Aptos"/>
              </a:rPr>
              <a:t>Brooklyn is around 1.33; Manhattan and the Bronx are close to 1.29.</a:t>
            </a:r>
          </a:p>
        </p:txBody>
      </p:sp>
      <p:sp>
        <p:nvSpPr>
          <p:cNvPr id="14" name="Rounded Rectangle 13"/>
          <p:cNvSpPr/>
          <p:nvPr/>
        </p:nvSpPr>
        <p:spPr>
          <a:xfrm>
            <a:off x="7772400" y="379475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28431" y="3749039"/>
            <a:ext cx="3337560" cy="658368"/>
          </a:xfrm>
          <a:prstGeom prst="rect">
            <a:avLst/>
          </a:prstGeom>
          <a:noFill/>
        </p:spPr>
        <p:txBody>
          <a:bodyPr wrap="square" lIns="64008" tIns="27432" rIns="64008" bIns="18288">
            <a:spAutoFit/>
          </a:bodyPr>
          <a:lstStyle/>
          <a:p>
            <a:r>
              <a:rPr sz="1200" b="0">
                <a:solidFill>
                  <a:srgbClr val="192B3C"/>
                </a:solidFill>
                <a:latin typeface="Aptos"/>
              </a:rPr>
              <a:t>These are averages, not vehicle-capacity measures; inspect passenger-count nulls and outliers.</a:t>
            </a:r>
          </a:p>
        </p:txBody>
      </p:sp>
      <p:sp>
        <p:nvSpPr>
          <p:cNvPr id="16" name="Rounded Rectangle 15"/>
          <p:cNvSpPr/>
          <p:nvPr/>
        </p:nvSpPr>
        <p:spPr>
          <a:xfrm>
            <a:off x="7754112" y="4919472"/>
            <a:ext cx="3657600" cy="804672"/>
          </a:xfrm>
          <a:prstGeom prst="roundRect">
            <a:avLst/>
          </a:prstGeom>
          <a:solidFill>
            <a:srgbClr val="FFF8DE"/>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27848" y="5056632"/>
            <a:ext cx="3337560" cy="502920"/>
          </a:xfrm>
          <a:prstGeom prst="rect">
            <a:avLst/>
          </a:prstGeom>
          <a:noFill/>
        </p:spPr>
        <p:txBody>
          <a:bodyPr wrap="square" lIns="64008" tIns="27432" rIns="64008" bIns="18288">
            <a:spAutoFit/>
          </a:bodyPr>
          <a:lstStyle/>
          <a:p>
            <a:r>
              <a:rPr sz="1000" b="1">
                <a:solidFill>
                  <a:srgbClr val="192B3C"/>
                </a:solidFill>
                <a:latin typeface="Aptos"/>
              </a:rPr>
              <a:t>Decision cue: use this insight alongside date, borough and route filters in the Power BI dashboard.</a:t>
            </a:r>
          </a:p>
        </p:txBody>
      </p:sp>
      <p:sp>
        <p:nvSpPr>
          <p:cNvPr id="18" name="Rectangle 17"/>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6473952"/>
            <a:ext cx="7315200" cy="164592"/>
          </a:xfrm>
          <a:prstGeom prst="rect">
            <a:avLst/>
          </a:prstGeom>
          <a:noFill/>
        </p:spPr>
        <p:txBody>
          <a:bodyPr wrap="square" lIns="64008" tIns="27432" rIns="64008" bIns="18288">
            <a:spAutoFit/>
          </a:bodyPr>
          <a:lstStyle/>
          <a:p>
            <a:r>
              <a:rPr sz="800" b="1">
                <a:solidFill>
                  <a:srgbClr val="5F6F7F"/>
                </a:solidFill>
                <a:latin typeface="Aptos"/>
              </a:rPr>
              <a:t>UBER TRIPS ANALYTICS  •  SQL EDITION</a:t>
            </a:r>
          </a:p>
        </p:txBody>
      </p:sp>
      <p:sp>
        <p:nvSpPr>
          <p:cNvPr id="20" name="TextBox 19"/>
          <p:cNvSpPr txBox="1"/>
          <p:nvPr/>
        </p:nvSpPr>
        <p:spPr>
          <a:xfrm>
            <a:off x="11064240" y="6455664"/>
            <a:ext cx="548640" cy="182880"/>
          </a:xfrm>
          <a:prstGeom prst="rect">
            <a:avLst/>
          </a:prstGeom>
          <a:noFill/>
        </p:spPr>
        <p:txBody>
          <a:bodyPr wrap="square" lIns="64008" tIns="27432" rIns="64008" bIns="18288">
            <a:spAutoFit/>
          </a:bodyPr>
          <a:lstStyle/>
          <a:p>
            <a:r>
              <a:rPr sz="900" b="1">
                <a:solidFill>
                  <a:srgbClr val="5F6F7F"/>
                </a:solidFill>
                <a:latin typeface="Aptos"/>
              </a:rPr>
              <a:t>08</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11480"/>
          </a:xfrm>
          <a:prstGeom prst="rect">
            <a:avLst/>
          </a:prstGeom>
          <a:noFill/>
        </p:spPr>
        <p:txBody>
          <a:bodyPr wrap="square" lIns="54864" tIns="27432" rIns="54864" bIns="18288">
            <a:spAutoFit/>
          </a:bodyPr>
          <a:lstStyle/>
          <a:p>
            <a:r>
              <a:rPr sz="2500" b="1">
                <a:solidFill>
                  <a:srgbClr val="051B31"/>
                </a:solidFill>
                <a:latin typeface="Aptos"/>
              </a:rPr>
              <a:t>Question 07  |  Trip Distance Distribution</a:t>
            </a:r>
          </a:p>
        </p:txBody>
      </p:sp>
      <p:sp>
        <p:nvSpPr>
          <p:cNvPr id="4" name="TextBox 3"/>
          <p:cNvSpPr txBox="1"/>
          <p:nvPr/>
        </p:nvSpPr>
        <p:spPr>
          <a:xfrm>
            <a:off x="621792" y="749808"/>
            <a:ext cx="10972800" cy="246888"/>
          </a:xfrm>
          <a:prstGeom prst="rect">
            <a:avLst/>
          </a:prstGeom>
          <a:noFill/>
        </p:spPr>
        <p:txBody>
          <a:bodyPr wrap="square" lIns="54864" tIns="27432" rIns="54864" bIns="18288">
            <a:spAutoFit/>
          </a:bodyPr>
          <a:lstStyle/>
          <a:p>
            <a:r>
              <a:rPr sz="900" b="1">
                <a:solidFill>
                  <a:srgbClr val="0069AA"/>
                </a:solidFill>
                <a:latin typeface="Aptos"/>
              </a:rPr>
              <a:t>CALCULATE AVERAGE TRIP DISTANCE FOR EACH PICKUP-BOROUGH AND DROP-OFF-BOROUGH PAIR.</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8" name="TextBox 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15</a:t>
            </a:r>
          </a:p>
        </p:txBody>
      </p:sp>
      <p:sp>
        <p:nvSpPr>
          <p:cNvPr id="9" name="Rounded Rectangle 8"/>
          <p:cNvSpPr/>
          <p:nvPr/>
        </p:nvSpPr>
        <p:spPr>
          <a:xfrm>
            <a:off x="658368" y="1353312"/>
            <a:ext cx="10881360" cy="475488"/>
          </a:xfrm>
          <a:prstGeom prst="roundRect">
            <a:avLst/>
          </a:prstGeom>
          <a:solidFill>
            <a:srgbClr val="051B31"/>
          </a:solidFill>
          <a:ln>
            <a:solidFill>
              <a:srgbClr val="051B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1472184"/>
            <a:ext cx="10515600" cy="210312"/>
          </a:xfrm>
          <a:prstGeom prst="rect">
            <a:avLst/>
          </a:prstGeom>
          <a:noFill/>
        </p:spPr>
        <p:txBody>
          <a:bodyPr wrap="square" lIns="54864" tIns="27432" rIns="54864" bIns="18288">
            <a:spAutoFit/>
          </a:bodyPr>
          <a:lstStyle/>
          <a:p>
            <a:r>
              <a:rPr sz="1100" b="1">
                <a:solidFill>
                  <a:srgbClr val="FFFFFF"/>
                </a:solidFill>
                <a:latin typeface="Aptos"/>
              </a:rPr>
              <a:t>BUSINESS QUESTION 07  •  SQL QUERY</a:t>
            </a:r>
          </a:p>
        </p:txBody>
      </p:sp>
      <p:pic>
        <p:nvPicPr>
          <p:cNvPr id="11" name="Picture 10" descr="Screenshot 2026-10-22 092044.png"/>
          <p:cNvPicPr>
            <a:picLocks noChangeAspect="1"/>
          </p:cNvPicPr>
          <p:nvPr/>
        </p:nvPicPr>
        <p:blipFill>
          <a:blip r:embed="rId2"/>
          <a:stretch>
            <a:fillRect/>
          </a:stretch>
        </p:blipFill>
        <p:spPr>
          <a:xfrm>
            <a:off x="3031106" y="2011679"/>
            <a:ext cx="6129482" cy="4069080"/>
          </a:xfrm>
          <a:prstGeom prst="rect">
            <a:avLst/>
          </a:prstGeom>
        </p:spPr>
      </p:pic>
      <p:sp>
        <p:nvSpPr>
          <p:cNvPr id="12" name="Rectangle 11"/>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14" name="TextBox 13"/>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15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11480"/>
          </a:xfrm>
          <a:prstGeom prst="rect">
            <a:avLst/>
          </a:prstGeom>
          <a:noFill/>
        </p:spPr>
        <p:txBody>
          <a:bodyPr wrap="square" lIns="54864" tIns="27432" rIns="54864" bIns="18288">
            <a:spAutoFit/>
          </a:bodyPr>
          <a:lstStyle/>
          <a:p>
            <a:r>
              <a:rPr sz="2500" b="1">
                <a:solidFill>
                  <a:srgbClr val="051B31"/>
                </a:solidFill>
                <a:latin typeface="Aptos"/>
              </a:rPr>
              <a:t>Question 07  |  Result &amp; interpretation</a:t>
            </a:r>
          </a:p>
        </p:txBody>
      </p:sp>
      <p:sp>
        <p:nvSpPr>
          <p:cNvPr id="4" name="TextBox 3"/>
          <p:cNvSpPr txBox="1"/>
          <p:nvPr/>
        </p:nvSpPr>
        <p:spPr>
          <a:xfrm>
            <a:off x="621792" y="749808"/>
            <a:ext cx="10972800" cy="246888"/>
          </a:xfrm>
          <a:prstGeom prst="rect">
            <a:avLst/>
          </a:prstGeom>
          <a:noFill/>
        </p:spPr>
        <p:txBody>
          <a:bodyPr wrap="square" lIns="54864" tIns="27432" rIns="54864" bIns="18288">
            <a:spAutoFit/>
          </a:bodyPr>
          <a:lstStyle/>
          <a:p>
            <a:r>
              <a:rPr sz="900" b="1">
                <a:solidFill>
                  <a:srgbClr val="0069AA"/>
                </a:solidFill>
                <a:latin typeface="Aptos"/>
              </a:rPr>
              <a:t>TRIP DISTANCE DISTRIBUTION • OUTPUT PROVIDED IN YOUR SCREENSHOTS</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8" name="TextBox 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16</a:t>
            </a:r>
          </a:p>
        </p:txBody>
      </p:sp>
      <p:sp>
        <p:nvSpPr>
          <p:cNvPr id="9" name="Rounded Rectangle 8"/>
          <p:cNvSpPr/>
          <p:nvPr/>
        </p:nvSpPr>
        <p:spPr>
          <a:xfrm>
            <a:off x="658368" y="1344168"/>
            <a:ext cx="6903720" cy="4800600"/>
          </a:xfrm>
          <a:prstGeom prst="roundRect">
            <a:avLst/>
          </a:prstGeom>
          <a:solidFill>
            <a:srgbClr val="F4F7FA"/>
          </a:solidFill>
          <a:ln>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creenshot 2026-10-22 092411.png"/>
          <p:cNvPicPr>
            <a:picLocks noChangeAspect="1"/>
          </p:cNvPicPr>
          <p:nvPr/>
        </p:nvPicPr>
        <p:blipFill>
          <a:blip r:embed="rId2"/>
          <a:stretch>
            <a:fillRect/>
          </a:stretch>
        </p:blipFill>
        <p:spPr>
          <a:xfrm>
            <a:off x="841248" y="2585784"/>
            <a:ext cx="6537960" cy="2235070"/>
          </a:xfrm>
          <a:prstGeom prst="rect">
            <a:avLst/>
          </a:prstGeom>
        </p:spPr>
      </p:pic>
      <p:sp>
        <p:nvSpPr>
          <p:cNvPr id="11" name="TextBox 10"/>
          <p:cNvSpPr txBox="1"/>
          <p:nvPr/>
        </p:nvSpPr>
        <p:spPr>
          <a:xfrm>
            <a:off x="7909560" y="1481328"/>
            <a:ext cx="3474720" cy="329184"/>
          </a:xfrm>
          <a:prstGeom prst="rect">
            <a:avLst/>
          </a:prstGeom>
          <a:noFill/>
        </p:spPr>
        <p:txBody>
          <a:bodyPr wrap="square" lIns="54864" tIns="27432" rIns="54864" bIns="18288">
            <a:spAutoFit/>
          </a:bodyPr>
          <a:lstStyle/>
          <a:p>
            <a:r>
              <a:rPr sz="1200" b="1">
                <a:solidFill>
                  <a:srgbClr val="0069AA"/>
                </a:solidFill>
                <a:latin typeface="Aptos"/>
              </a:rPr>
              <a:t>KEY TAKEAWAY</a:t>
            </a:r>
          </a:p>
        </p:txBody>
      </p:sp>
      <p:sp>
        <p:nvSpPr>
          <p:cNvPr id="12" name="TextBox 11"/>
          <p:cNvSpPr txBox="1"/>
          <p:nvPr/>
        </p:nvSpPr>
        <p:spPr>
          <a:xfrm>
            <a:off x="7882127" y="1874519"/>
            <a:ext cx="3520440" cy="3154680"/>
          </a:xfrm>
          <a:prstGeom prst="rect">
            <a:avLst/>
          </a:prstGeom>
          <a:noFill/>
        </p:spPr>
        <p:txBody>
          <a:bodyPr wrap="square" lIns="54864" tIns="27432" rIns="54864" bIns="18288">
            <a:spAutoFit/>
          </a:bodyPr>
          <a:lstStyle/>
          <a:p>
            <a:r>
              <a:rPr sz="1400" b="0">
                <a:solidFill>
                  <a:srgbClr val="192B3C"/>
                </a:solidFill>
                <a:latin typeface="Aptos"/>
              </a:rPr>
              <a:t>The longest average-distance pair shown is Manhattan → Staten Island at about 96.16 distance units. Staten Island → Bronx and Bronx → Staten Island are around 31.58 and 30.52. Confirm the dataset's distance unit and investigate low-frequency borough pairs.</a:t>
            </a:r>
          </a:p>
        </p:txBody>
      </p:sp>
      <p:sp>
        <p:nvSpPr>
          <p:cNvPr id="13" name="Rounded Rectangle 12"/>
          <p:cNvSpPr/>
          <p:nvPr/>
        </p:nvSpPr>
        <p:spPr>
          <a:xfrm>
            <a:off x="7882127" y="5257800"/>
            <a:ext cx="3520440" cy="685800"/>
          </a:xfrm>
          <a:prstGeom prst="roundRect">
            <a:avLst/>
          </a:prstGeom>
          <a:solidFill>
            <a:srgbClr val="FFF8DE"/>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0" y="5376672"/>
            <a:ext cx="3200400" cy="411480"/>
          </a:xfrm>
          <a:prstGeom prst="rect">
            <a:avLst/>
          </a:prstGeom>
          <a:noFill/>
        </p:spPr>
        <p:txBody>
          <a:bodyPr wrap="square" lIns="54864" tIns="27432" rIns="54864" bIns="18288">
            <a:spAutoFit/>
          </a:bodyPr>
          <a:lstStyle/>
          <a:p>
            <a:r>
              <a:rPr sz="1000" b="1">
                <a:solidFill>
                  <a:srgbClr val="192B3C"/>
                </a:solidFill>
                <a:latin typeface="Aptos"/>
              </a:rPr>
              <a:t>Use this result with the Power BI dashboard for drill-down analysis.</a:t>
            </a:r>
          </a:p>
        </p:txBody>
      </p:sp>
      <p:sp>
        <p:nvSpPr>
          <p:cNvPr id="15" name="Rectangle 14"/>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17" name="TextBox 16"/>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16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384048"/>
          </a:xfrm>
          <a:prstGeom prst="rect">
            <a:avLst/>
          </a:prstGeom>
          <a:noFill/>
        </p:spPr>
        <p:txBody>
          <a:bodyPr wrap="square" lIns="64008" tIns="27432" rIns="64008" bIns="18288">
            <a:spAutoFit/>
          </a:bodyPr>
          <a:lstStyle/>
          <a:p>
            <a:r>
              <a:rPr sz="2400" b="1">
                <a:solidFill>
                  <a:srgbClr val="051B31"/>
                </a:solidFill>
                <a:latin typeface="Aptos"/>
              </a:rPr>
              <a:t>INSIGHT 07  |  Trip Distance by Borough Pair</a:t>
            </a:r>
          </a:p>
        </p:txBody>
      </p:sp>
      <p:sp>
        <p:nvSpPr>
          <p:cNvPr id="4" name="TextBox 3"/>
          <p:cNvSpPr txBox="1"/>
          <p:nvPr/>
        </p:nvSpPr>
        <p:spPr>
          <a:xfrm>
            <a:off x="621792" y="749808"/>
            <a:ext cx="10972800" cy="256032"/>
          </a:xfrm>
          <a:prstGeom prst="rect">
            <a:avLst/>
          </a:prstGeom>
          <a:noFill/>
        </p:spPr>
        <p:txBody>
          <a:bodyPr wrap="square" lIns="64008" tIns="27432" rIns="64008" bIns="18288">
            <a:spAutoFit/>
          </a:bodyPr>
          <a:lstStyle/>
          <a:p>
            <a:r>
              <a:rPr sz="900" b="1">
                <a:solidFill>
                  <a:srgbClr val="0069AA"/>
                </a:solidFill>
                <a:latin typeface="Aptos"/>
              </a:rPr>
              <a:t>RESULT EXPLAINED  •  VISUAL SUMMARY  •  BUSINESS IMPLICATION</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58368" y="1353312"/>
            <a:ext cx="6766560" cy="4526280"/>
          </a:xfrm>
          <a:prstGeom prst="roundRect">
            <a:avLst/>
          </a:prstGeom>
          <a:solidFill>
            <a:srgbClr val="F4F7FA"/>
          </a:solidFill>
          <a:ln>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Chart 6"/>
          <p:cNvGraphicFramePr>
            <a:graphicFrameLocks noGrp="1"/>
          </p:cNvGraphicFramePr>
          <p:nvPr/>
        </p:nvGraphicFramePr>
        <p:xfrm>
          <a:off x="841248" y="1572768"/>
          <a:ext cx="6355080" cy="342900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914400" y="5193792"/>
            <a:ext cx="6263640" cy="384048"/>
          </a:xfrm>
          <a:prstGeom prst="rect">
            <a:avLst/>
          </a:prstGeom>
          <a:noFill/>
        </p:spPr>
        <p:txBody>
          <a:bodyPr wrap="square" lIns="64008" tIns="27432" rIns="64008" bIns="18288">
            <a:spAutoFit/>
          </a:bodyPr>
          <a:lstStyle/>
          <a:p>
            <a:r>
              <a:rPr sz="1200" b="1">
                <a:solidFill>
                  <a:srgbClr val="051B31"/>
                </a:solidFill>
                <a:latin typeface="Aptos"/>
              </a:rPr>
              <a:t>Manhattan → Staten Island is the longest average-distance pair shown.</a:t>
            </a:r>
          </a:p>
        </p:txBody>
      </p:sp>
      <p:sp>
        <p:nvSpPr>
          <p:cNvPr id="9" name="TextBox 8"/>
          <p:cNvSpPr txBox="1"/>
          <p:nvPr/>
        </p:nvSpPr>
        <p:spPr>
          <a:xfrm>
            <a:off x="7754112" y="1444752"/>
            <a:ext cx="3657600" cy="292608"/>
          </a:xfrm>
          <a:prstGeom prst="rect">
            <a:avLst/>
          </a:prstGeom>
          <a:noFill/>
        </p:spPr>
        <p:txBody>
          <a:bodyPr wrap="square" lIns="64008" tIns="27432" rIns="64008" bIns="18288">
            <a:spAutoFit/>
          </a:bodyPr>
          <a:lstStyle/>
          <a:p>
            <a:r>
              <a:rPr sz="1200" b="1">
                <a:solidFill>
                  <a:srgbClr val="0069AA"/>
                </a:solidFill>
                <a:latin typeface="Aptos"/>
              </a:rPr>
              <a:t>WHAT THE RESULT TELLS US</a:t>
            </a:r>
          </a:p>
        </p:txBody>
      </p:sp>
      <p:sp>
        <p:nvSpPr>
          <p:cNvPr id="10" name="Rounded Rectangle 9"/>
          <p:cNvSpPr/>
          <p:nvPr/>
        </p:nvSpPr>
        <p:spPr>
          <a:xfrm>
            <a:off x="7772400" y="187451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28431" y="1828800"/>
            <a:ext cx="3337560" cy="658368"/>
          </a:xfrm>
          <a:prstGeom prst="rect">
            <a:avLst/>
          </a:prstGeom>
          <a:noFill/>
        </p:spPr>
        <p:txBody>
          <a:bodyPr wrap="square" lIns="64008" tIns="27432" rIns="64008" bIns="18288">
            <a:spAutoFit/>
          </a:bodyPr>
          <a:lstStyle/>
          <a:p>
            <a:r>
              <a:rPr sz="1200" b="0">
                <a:solidFill>
                  <a:srgbClr val="192B3C"/>
                </a:solidFill>
                <a:latin typeface="Aptos"/>
              </a:rPr>
              <a:t>Manhattan → Staten Island averages about 96.16 distance units.</a:t>
            </a:r>
          </a:p>
        </p:txBody>
      </p:sp>
      <p:sp>
        <p:nvSpPr>
          <p:cNvPr id="12" name="Rounded Rectangle 11"/>
          <p:cNvSpPr/>
          <p:nvPr/>
        </p:nvSpPr>
        <p:spPr>
          <a:xfrm>
            <a:off x="7772400" y="283463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28431" y="2788920"/>
            <a:ext cx="3337560" cy="658368"/>
          </a:xfrm>
          <a:prstGeom prst="rect">
            <a:avLst/>
          </a:prstGeom>
          <a:noFill/>
        </p:spPr>
        <p:txBody>
          <a:bodyPr wrap="square" lIns="64008" tIns="27432" rIns="64008" bIns="18288">
            <a:spAutoFit/>
          </a:bodyPr>
          <a:lstStyle/>
          <a:p>
            <a:r>
              <a:rPr sz="1200" b="0">
                <a:solidFill>
                  <a:srgbClr val="192B3C"/>
                </a:solidFill>
                <a:latin typeface="Aptos"/>
              </a:rPr>
              <a:t>Other leading pairs in the screenshot are around 26–32 units.</a:t>
            </a:r>
          </a:p>
        </p:txBody>
      </p:sp>
      <p:sp>
        <p:nvSpPr>
          <p:cNvPr id="14" name="Rounded Rectangle 13"/>
          <p:cNvSpPr/>
          <p:nvPr/>
        </p:nvSpPr>
        <p:spPr>
          <a:xfrm>
            <a:off x="7772400" y="379475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28431" y="3749039"/>
            <a:ext cx="3337560" cy="658368"/>
          </a:xfrm>
          <a:prstGeom prst="rect">
            <a:avLst/>
          </a:prstGeom>
          <a:noFill/>
        </p:spPr>
        <p:txBody>
          <a:bodyPr wrap="square" lIns="64008" tIns="27432" rIns="64008" bIns="18288">
            <a:spAutoFit/>
          </a:bodyPr>
          <a:lstStyle/>
          <a:p>
            <a:r>
              <a:rPr sz="1200" b="0">
                <a:solidFill>
                  <a:srgbClr val="192B3C"/>
                </a:solidFill>
                <a:latin typeface="Aptos"/>
              </a:rPr>
              <a:t>Confirm the distance unit and check low-volume pairs before using these values for planning.</a:t>
            </a:r>
          </a:p>
        </p:txBody>
      </p:sp>
      <p:sp>
        <p:nvSpPr>
          <p:cNvPr id="16" name="Rounded Rectangle 15"/>
          <p:cNvSpPr/>
          <p:nvPr/>
        </p:nvSpPr>
        <p:spPr>
          <a:xfrm>
            <a:off x="7754112" y="4919472"/>
            <a:ext cx="3657600" cy="804672"/>
          </a:xfrm>
          <a:prstGeom prst="roundRect">
            <a:avLst/>
          </a:prstGeom>
          <a:solidFill>
            <a:srgbClr val="FFF8DE"/>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27848" y="5056632"/>
            <a:ext cx="3337560" cy="502920"/>
          </a:xfrm>
          <a:prstGeom prst="rect">
            <a:avLst/>
          </a:prstGeom>
          <a:noFill/>
        </p:spPr>
        <p:txBody>
          <a:bodyPr wrap="square" lIns="64008" tIns="27432" rIns="64008" bIns="18288">
            <a:spAutoFit/>
          </a:bodyPr>
          <a:lstStyle/>
          <a:p>
            <a:r>
              <a:rPr sz="1000" b="1">
                <a:solidFill>
                  <a:srgbClr val="192B3C"/>
                </a:solidFill>
                <a:latin typeface="Aptos"/>
              </a:rPr>
              <a:t>Decision cue: use this insight alongside date, borough and route filters in the Power BI dashboard.</a:t>
            </a:r>
          </a:p>
        </p:txBody>
      </p:sp>
      <p:sp>
        <p:nvSpPr>
          <p:cNvPr id="18" name="Rectangle 17"/>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6473952"/>
            <a:ext cx="7315200" cy="164592"/>
          </a:xfrm>
          <a:prstGeom prst="rect">
            <a:avLst/>
          </a:prstGeom>
          <a:noFill/>
        </p:spPr>
        <p:txBody>
          <a:bodyPr wrap="square" lIns="64008" tIns="27432" rIns="64008" bIns="18288">
            <a:spAutoFit/>
          </a:bodyPr>
          <a:lstStyle/>
          <a:p>
            <a:r>
              <a:rPr sz="800" b="1">
                <a:solidFill>
                  <a:srgbClr val="5F6F7F"/>
                </a:solidFill>
                <a:latin typeface="Aptos"/>
              </a:rPr>
              <a:t>UBER TRIPS ANALYTICS  •  SQL EDITION</a:t>
            </a:r>
          </a:p>
        </p:txBody>
      </p:sp>
      <p:sp>
        <p:nvSpPr>
          <p:cNvPr id="20" name="TextBox 19"/>
          <p:cNvSpPr txBox="1"/>
          <p:nvPr/>
        </p:nvSpPr>
        <p:spPr>
          <a:xfrm>
            <a:off x="11064240" y="6455664"/>
            <a:ext cx="548640" cy="182880"/>
          </a:xfrm>
          <a:prstGeom prst="rect">
            <a:avLst/>
          </a:prstGeom>
          <a:noFill/>
        </p:spPr>
        <p:txBody>
          <a:bodyPr wrap="square" lIns="64008" tIns="27432" rIns="64008" bIns="18288">
            <a:spAutoFit/>
          </a:bodyPr>
          <a:lstStyle/>
          <a:p>
            <a:r>
              <a:rPr sz="900" b="1">
                <a:solidFill>
                  <a:srgbClr val="5F6F7F"/>
                </a:solidFill>
                <a:latin typeface="Aptos"/>
              </a:rPr>
              <a:t>09</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11480"/>
          </a:xfrm>
          <a:prstGeom prst="rect">
            <a:avLst/>
          </a:prstGeom>
          <a:noFill/>
        </p:spPr>
        <p:txBody>
          <a:bodyPr wrap="square" lIns="54864" tIns="27432" rIns="54864" bIns="18288">
            <a:spAutoFit/>
          </a:bodyPr>
          <a:lstStyle/>
          <a:p>
            <a:r>
              <a:rPr sz="2500" b="1">
                <a:solidFill>
                  <a:srgbClr val="051B31"/>
                </a:solidFill>
                <a:latin typeface="Aptos"/>
              </a:rPr>
              <a:t>Question 08  |  Payment Method Analysis</a:t>
            </a:r>
          </a:p>
        </p:txBody>
      </p:sp>
      <p:sp>
        <p:nvSpPr>
          <p:cNvPr id="4" name="TextBox 3"/>
          <p:cNvSpPr txBox="1"/>
          <p:nvPr/>
        </p:nvSpPr>
        <p:spPr>
          <a:xfrm>
            <a:off x="621792" y="749808"/>
            <a:ext cx="10972800" cy="246888"/>
          </a:xfrm>
          <a:prstGeom prst="rect">
            <a:avLst/>
          </a:prstGeom>
          <a:noFill/>
        </p:spPr>
        <p:txBody>
          <a:bodyPr wrap="square" lIns="54864" tIns="27432" rIns="54864" bIns="18288">
            <a:spAutoFit/>
          </a:bodyPr>
          <a:lstStyle/>
          <a:p>
            <a:r>
              <a:rPr sz="900" b="1">
                <a:solidFill>
                  <a:srgbClr val="0069AA"/>
                </a:solidFill>
                <a:latin typeface="Aptos"/>
              </a:rPr>
              <a:t>CALCULATE EACH PAYMENT TYPE'S SHARE OF TRIPS AND ITS AVERAGE FARE AMOUNT.</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8" name="TextBox 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17</a:t>
            </a:r>
          </a:p>
        </p:txBody>
      </p:sp>
      <p:sp>
        <p:nvSpPr>
          <p:cNvPr id="9" name="Rounded Rectangle 8"/>
          <p:cNvSpPr/>
          <p:nvPr/>
        </p:nvSpPr>
        <p:spPr>
          <a:xfrm>
            <a:off x="658368" y="1353312"/>
            <a:ext cx="10881360" cy="475488"/>
          </a:xfrm>
          <a:prstGeom prst="roundRect">
            <a:avLst/>
          </a:prstGeom>
          <a:solidFill>
            <a:srgbClr val="051B31"/>
          </a:solidFill>
          <a:ln>
            <a:solidFill>
              <a:srgbClr val="051B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1472184"/>
            <a:ext cx="10515600" cy="210312"/>
          </a:xfrm>
          <a:prstGeom prst="rect">
            <a:avLst/>
          </a:prstGeom>
          <a:noFill/>
        </p:spPr>
        <p:txBody>
          <a:bodyPr wrap="square" lIns="54864" tIns="27432" rIns="54864" bIns="18288">
            <a:spAutoFit/>
          </a:bodyPr>
          <a:lstStyle/>
          <a:p>
            <a:r>
              <a:rPr sz="1100" b="1">
                <a:solidFill>
                  <a:srgbClr val="FFFFFF"/>
                </a:solidFill>
                <a:latin typeface="Aptos"/>
              </a:rPr>
              <a:t>BUSINESS QUESTION 08  •  SQL QUERY</a:t>
            </a:r>
          </a:p>
        </p:txBody>
      </p:sp>
      <p:pic>
        <p:nvPicPr>
          <p:cNvPr id="11" name="Picture 10" descr="image(1).png"/>
          <p:cNvPicPr>
            <a:picLocks noChangeAspect="1"/>
          </p:cNvPicPr>
          <p:nvPr/>
        </p:nvPicPr>
        <p:blipFill>
          <a:blip r:embed="rId2"/>
          <a:stretch>
            <a:fillRect/>
          </a:stretch>
        </p:blipFill>
        <p:spPr>
          <a:xfrm>
            <a:off x="2031853" y="2011679"/>
            <a:ext cx="8127987" cy="4069080"/>
          </a:xfrm>
          <a:prstGeom prst="rect">
            <a:avLst/>
          </a:prstGeom>
        </p:spPr>
      </p:pic>
      <p:sp>
        <p:nvSpPr>
          <p:cNvPr id="12" name="Rectangle 11"/>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14" name="TextBox 13"/>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17</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11480"/>
          </a:xfrm>
          <a:prstGeom prst="rect">
            <a:avLst/>
          </a:prstGeom>
          <a:noFill/>
        </p:spPr>
        <p:txBody>
          <a:bodyPr wrap="square" lIns="54864" tIns="27432" rIns="54864" bIns="18288">
            <a:spAutoFit/>
          </a:bodyPr>
          <a:lstStyle/>
          <a:p>
            <a:r>
              <a:rPr sz="2500" b="1">
                <a:solidFill>
                  <a:srgbClr val="051B31"/>
                </a:solidFill>
                <a:latin typeface="Aptos"/>
              </a:rPr>
              <a:t>Question 08  |  Result &amp; interpretation</a:t>
            </a:r>
          </a:p>
        </p:txBody>
      </p:sp>
      <p:sp>
        <p:nvSpPr>
          <p:cNvPr id="4" name="TextBox 3"/>
          <p:cNvSpPr txBox="1"/>
          <p:nvPr/>
        </p:nvSpPr>
        <p:spPr>
          <a:xfrm>
            <a:off x="621792" y="749808"/>
            <a:ext cx="10972800" cy="246888"/>
          </a:xfrm>
          <a:prstGeom prst="rect">
            <a:avLst/>
          </a:prstGeom>
          <a:noFill/>
        </p:spPr>
        <p:txBody>
          <a:bodyPr wrap="square" lIns="54864" tIns="27432" rIns="54864" bIns="18288">
            <a:spAutoFit/>
          </a:bodyPr>
          <a:lstStyle/>
          <a:p>
            <a:r>
              <a:rPr sz="900" b="1">
                <a:solidFill>
                  <a:srgbClr val="0069AA"/>
                </a:solidFill>
                <a:latin typeface="Aptos"/>
              </a:rPr>
              <a:t>PAYMENT METHOD ANALYSIS • OUTPUT PROVIDED IN YOUR SCREENSHOTS</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8" name="TextBox 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18</a:t>
            </a:r>
          </a:p>
        </p:txBody>
      </p:sp>
      <p:sp>
        <p:nvSpPr>
          <p:cNvPr id="9" name="Rounded Rectangle 8"/>
          <p:cNvSpPr/>
          <p:nvPr/>
        </p:nvSpPr>
        <p:spPr>
          <a:xfrm>
            <a:off x="658368" y="1344168"/>
            <a:ext cx="6903720" cy="4800600"/>
          </a:xfrm>
          <a:prstGeom prst="roundRect">
            <a:avLst/>
          </a:prstGeom>
          <a:solidFill>
            <a:srgbClr val="F4F7FA"/>
          </a:solidFill>
          <a:ln>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creenshot 2026-10-22 092647.png"/>
          <p:cNvPicPr>
            <a:picLocks noChangeAspect="1"/>
          </p:cNvPicPr>
          <p:nvPr/>
        </p:nvPicPr>
        <p:blipFill>
          <a:blip r:embed="rId2"/>
          <a:stretch>
            <a:fillRect/>
          </a:stretch>
        </p:blipFill>
        <p:spPr>
          <a:xfrm>
            <a:off x="841248" y="2744519"/>
            <a:ext cx="6537959" cy="1917600"/>
          </a:xfrm>
          <a:prstGeom prst="rect">
            <a:avLst/>
          </a:prstGeom>
        </p:spPr>
      </p:pic>
      <p:sp>
        <p:nvSpPr>
          <p:cNvPr id="11" name="TextBox 10"/>
          <p:cNvSpPr txBox="1"/>
          <p:nvPr/>
        </p:nvSpPr>
        <p:spPr>
          <a:xfrm>
            <a:off x="7909560" y="1481328"/>
            <a:ext cx="3474720" cy="329184"/>
          </a:xfrm>
          <a:prstGeom prst="rect">
            <a:avLst/>
          </a:prstGeom>
          <a:noFill/>
        </p:spPr>
        <p:txBody>
          <a:bodyPr wrap="square" lIns="54864" tIns="27432" rIns="54864" bIns="18288">
            <a:spAutoFit/>
          </a:bodyPr>
          <a:lstStyle/>
          <a:p>
            <a:r>
              <a:rPr sz="1200" b="1">
                <a:solidFill>
                  <a:srgbClr val="0069AA"/>
                </a:solidFill>
                <a:latin typeface="Aptos"/>
              </a:rPr>
              <a:t>KEY TAKEAWAY</a:t>
            </a:r>
          </a:p>
        </p:txBody>
      </p:sp>
      <p:sp>
        <p:nvSpPr>
          <p:cNvPr id="12" name="TextBox 11"/>
          <p:cNvSpPr txBox="1"/>
          <p:nvPr/>
        </p:nvSpPr>
        <p:spPr>
          <a:xfrm>
            <a:off x="7882127" y="1874519"/>
            <a:ext cx="3520440" cy="3154680"/>
          </a:xfrm>
          <a:prstGeom prst="rect">
            <a:avLst/>
          </a:prstGeom>
          <a:noFill/>
        </p:spPr>
        <p:txBody>
          <a:bodyPr wrap="square" lIns="54864" tIns="27432" rIns="54864" bIns="18288">
            <a:spAutoFit/>
          </a:bodyPr>
          <a:lstStyle/>
          <a:p>
            <a:r>
              <a:rPr sz="1400" b="0">
                <a:solidFill>
                  <a:srgbClr val="192B3C"/>
                </a:solidFill>
                <a:latin typeface="Aptos"/>
              </a:rPr>
              <a:t>Payment type 1 accounts for 53.28% of trips with an average fare of 15.22; type 2 accounts for 40.68% with an average fare of 10.69. Types 3 and 4 are below 1% each. Decode numeric payment types into labels for a stakeholder-ready dashboard.</a:t>
            </a:r>
          </a:p>
        </p:txBody>
      </p:sp>
      <p:sp>
        <p:nvSpPr>
          <p:cNvPr id="13" name="Rounded Rectangle 12"/>
          <p:cNvSpPr/>
          <p:nvPr/>
        </p:nvSpPr>
        <p:spPr>
          <a:xfrm>
            <a:off x="7882127" y="5257800"/>
            <a:ext cx="3520440" cy="685800"/>
          </a:xfrm>
          <a:prstGeom prst="roundRect">
            <a:avLst/>
          </a:prstGeom>
          <a:solidFill>
            <a:srgbClr val="FFF8DE"/>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0" y="5376672"/>
            <a:ext cx="3200400" cy="411480"/>
          </a:xfrm>
          <a:prstGeom prst="rect">
            <a:avLst/>
          </a:prstGeom>
          <a:noFill/>
        </p:spPr>
        <p:txBody>
          <a:bodyPr wrap="square" lIns="54864" tIns="27432" rIns="54864" bIns="18288">
            <a:spAutoFit/>
          </a:bodyPr>
          <a:lstStyle/>
          <a:p>
            <a:r>
              <a:rPr sz="1000" b="1">
                <a:solidFill>
                  <a:srgbClr val="192B3C"/>
                </a:solidFill>
                <a:latin typeface="Aptos"/>
              </a:rPr>
              <a:t>Use this result with the Power BI dashboard for drill-down analysis.</a:t>
            </a:r>
          </a:p>
        </p:txBody>
      </p:sp>
      <p:sp>
        <p:nvSpPr>
          <p:cNvPr id="15" name="Rectangle 14"/>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17" name="TextBox 16"/>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18</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384048"/>
          </a:xfrm>
          <a:prstGeom prst="rect">
            <a:avLst/>
          </a:prstGeom>
          <a:noFill/>
        </p:spPr>
        <p:txBody>
          <a:bodyPr wrap="square" lIns="64008" tIns="27432" rIns="64008" bIns="18288">
            <a:spAutoFit/>
          </a:bodyPr>
          <a:lstStyle/>
          <a:p>
            <a:r>
              <a:rPr sz="2400" b="1">
                <a:solidFill>
                  <a:srgbClr val="051B31"/>
                </a:solidFill>
                <a:latin typeface="Aptos"/>
              </a:rPr>
              <a:t>INSIGHT 08  |  Payment Method Analysis</a:t>
            </a:r>
          </a:p>
        </p:txBody>
      </p:sp>
      <p:sp>
        <p:nvSpPr>
          <p:cNvPr id="4" name="TextBox 3"/>
          <p:cNvSpPr txBox="1"/>
          <p:nvPr/>
        </p:nvSpPr>
        <p:spPr>
          <a:xfrm>
            <a:off x="621792" y="749808"/>
            <a:ext cx="10972800" cy="256032"/>
          </a:xfrm>
          <a:prstGeom prst="rect">
            <a:avLst/>
          </a:prstGeom>
          <a:noFill/>
        </p:spPr>
        <p:txBody>
          <a:bodyPr wrap="square" lIns="64008" tIns="27432" rIns="64008" bIns="18288">
            <a:spAutoFit/>
          </a:bodyPr>
          <a:lstStyle/>
          <a:p>
            <a:r>
              <a:rPr sz="900" b="1">
                <a:solidFill>
                  <a:srgbClr val="0069AA"/>
                </a:solidFill>
                <a:latin typeface="Aptos"/>
              </a:rPr>
              <a:t>RESULT EXPLAINED  •  VISUAL SUMMARY  •  BUSINESS IMPLICATION</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58368" y="1353312"/>
            <a:ext cx="6766560" cy="4526280"/>
          </a:xfrm>
          <a:prstGeom prst="roundRect">
            <a:avLst/>
          </a:prstGeom>
          <a:solidFill>
            <a:srgbClr val="F4F7FA"/>
          </a:solidFill>
          <a:ln>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Chart 6"/>
          <p:cNvGraphicFramePr>
            <a:graphicFrameLocks noGrp="1"/>
          </p:cNvGraphicFramePr>
          <p:nvPr/>
        </p:nvGraphicFramePr>
        <p:xfrm>
          <a:off x="841248" y="1572768"/>
          <a:ext cx="6355080" cy="342900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914400" y="5193792"/>
            <a:ext cx="6263640" cy="384048"/>
          </a:xfrm>
          <a:prstGeom prst="rect">
            <a:avLst/>
          </a:prstGeom>
          <a:noFill/>
        </p:spPr>
        <p:txBody>
          <a:bodyPr wrap="square" lIns="64008" tIns="27432" rIns="64008" bIns="18288">
            <a:spAutoFit/>
          </a:bodyPr>
          <a:lstStyle/>
          <a:p>
            <a:r>
              <a:rPr sz="1200" b="1">
                <a:solidFill>
                  <a:srgbClr val="051B31"/>
                </a:solidFill>
                <a:latin typeface="Aptos"/>
              </a:rPr>
              <a:t>Payment types 1 and 2 account for almost all trips in the output.</a:t>
            </a:r>
          </a:p>
        </p:txBody>
      </p:sp>
      <p:sp>
        <p:nvSpPr>
          <p:cNvPr id="9" name="TextBox 8"/>
          <p:cNvSpPr txBox="1"/>
          <p:nvPr/>
        </p:nvSpPr>
        <p:spPr>
          <a:xfrm>
            <a:off x="7754112" y="1444752"/>
            <a:ext cx="3657600" cy="292608"/>
          </a:xfrm>
          <a:prstGeom prst="rect">
            <a:avLst/>
          </a:prstGeom>
          <a:noFill/>
        </p:spPr>
        <p:txBody>
          <a:bodyPr wrap="square" lIns="64008" tIns="27432" rIns="64008" bIns="18288">
            <a:spAutoFit/>
          </a:bodyPr>
          <a:lstStyle/>
          <a:p>
            <a:r>
              <a:rPr sz="1200" b="1">
                <a:solidFill>
                  <a:srgbClr val="0069AA"/>
                </a:solidFill>
                <a:latin typeface="Aptos"/>
              </a:rPr>
              <a:t>WHAT THE RESULT TELLS US</a:t>
            </a:r>
          </a:p>
        </p:txBody>
      </p:sp>
      <p:sp>
        <p:nvSpPr>
          <p:cNvPr id="10" name="Rounded Rectangle 9"/>
          <p:cNvSpPr/>
          <p:nvPr/>
        </p:nvSpPr>
        <p:spPr>
          <a:xfrm>
            <a:off x="7772400" y="187451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28431" y="1828800"/>
            <a:ext cx="3337560" cy="658368"/>
          </a:xfrm>
          <a:prstGeom prst="rect">
            <a:avLst/>
          </a:prstGeom>
          <a:noFill/>
        </p:spPr>
        <p:txBody>
          <a:bodyPr wrap="square" lIns="64008" tIns="27432" rIns="64008" bIns="18288">
            <a:spAutoFit/>
          </a:bodyPr>
          <a:lstStyle/>
          <a:p>
            <a:r>
              <a:rPr sz="1200" b="0">
                <a:solidFill>
                  <a:srgbClr val="192B3C"/>
                </a:solidFill>
                <a:latin typeface="Aptos"/>
              </a:rPr>
              <a:t>Type 1 leads with 53.28% share and average fare 15.22.</a:t>
            </a:r>
          </a:p>
        </p:txBody>
      </p:sp>
      <p:sp>
        <p:nvSpPr>
          <p:cNvPr id="12" name="Rounded Rectangle 11"/>
          <p:cNvSpPr/>
          <p:nvPr/>
        </p:nvSpPr>
        <p:spPr>
          <a:xfrm>
            <a:off x="7772400" y="283463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28431" y="2788920"/>
            <a:ext cx="3337560" cy="658368"/>
          </a:xfrm>
          <a:prstGeom prst="rect">
            <a:avLst/>
          </a:prstGeom>
          <a:noFill/>
        </p:spPr>
        <p:txBody>
          <a:bodyPr wrap="square" lIns="64008" tIns="27432" rIns="64008" bIns="18288">
            <a:spAutoFit/>
          </a:bodyPr>
          <a:lstStyle/>
          <a:p>
            <a:r>
              <a:rPr sz="1200" b="0">
                <a:solidFill>
                  <a:srgbClr val="192B3C"/>
                </a:solidFill>
                <a:latin typeface="Aptos"/>
              </a:rPr>
              <a:t>Type 2 contributes 40.68% with average fare 10.69.</a:t>
            </a:r>
          </a:p>
        </p:txBody>
      </p:sp>
      <p:sp>
        <p:nvSpPr>
          <p:cNvPr id="14" name="Rounded Rectangle 13"/>
          <p:cNvSpPr/>
          <p:nvPr/>
        </p:nvSpPr>
        <p:spPr>
          <a:xfrm>
            <a:off x="7772400" y="379475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28431" y="3749039"/>
            <a:ext cx="3337560" cy="658368"/>
          </a:xfrm>
          <a:prstGeom prst="rect">
            <a:avLst/>
          </a:prstGeom>
          <a:noFill/>
        </p:spPr>
        <p:txBody>
          <a:bodyPr wrap="square" lIns="64008" tIns="27432" rIns="64008" bIns="18288">
            <a:spAutoFit/>
          </a:bodyPr>
          <a:lstStyle/>
          <a:p>
            <a:r>
              <a:rPr sz="1200" b="0">
                <a:solidFill>
                  <a:srgbClr val="192B3C"/>
                </a:solidFill>
                <a:latin typeface="Aptos"/>
              </a:rPr>
              <a:t>Translate numeric payment codes into readable labels before presenting to business stakeholders.</a:t>
            </a:r>
          </a:p>
        </p:txBody>
      </p:sp>
      <p:sp>
        <p:nvSpPr>
          <p:cNvPr id="16" name="Rounded Rectangle 15"/>
          <p:cNvSpPr/>
          <p:nvPr/>
        </p:nvSpPr>
        <p:spPr>
          <a:xfrm>
            <a:off x="7754112" y="4919472"/>
            <a:ext cx="3657600" cy="804672"/>
          </a:xfrm>
          <a:prstGeom prst="roundRect">
            <a:avLst/>
          </a:prstGeom>
          <a:solidFill>
            <a:srgbClr val="FFF8DE"/>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27848" y="5056632"/>
            <a:ext cx="3337560" cy="502920"/>
          </a:xfrm>
          <a:prstGeom prst="rect">
            <a:avLst/>
          </a:prstGeom>
          <a:noFill/>
        </p:spPr>
        <p:txBody>
          <a:bodyPr wrap="square" lIns="64008" tIns="27432" rIns="64008" bIns="18288">
            <a:spAutoFit/>
          </a:bodyPr>
          <a:lstStyle/>
          <a:p>
            <a:r>
              <a:rPr sz="1000" b="1">
                <a:solidFill>
                  <a:srgbClr val="192B3C"/>
                </a:solidFill>
                <a:latin typeface="Aptos"/>
              </a:rPr>
              <a:t>Decision cue: use this insight alongside date, borough and route filters in the Power BI dashboard.</a:t>
            </a:r>
          </a:p>
        </p:txBody>
      </p:sp>
      <p:sp>
        <p:nvSpPr>
          <p:cNvPr id="18" name="Rectangle 17"/>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6473952"/>
            <a:ext cx="7315200" cy="164592"/>
          </a:xfrm>
          <a:prstGeom prst="rect">
            <a:avLst/>
          </a:prstGeom>
          <a:noFill/>
        </p:spPr>
        <p:txBody>
          <a:bodyPr wrap="square" lIns="64008" tIns="27432" rIns="64008" bIns="18288">
            <a:spAutoFit/>
          </a:bodyPr>
          <a:lstStyle/>
          <a:p>
            <a:r>
              <a:rPr sz="800" b="1">
                <a:solidFill>
                  <a:srgbClr val="5F6F7F"/>
                </a:solidFill>
                <a:latin typeface="Aptos"/>
              </a:rPr>
              <a:t>UBER TRIPS ANALYTICS  •  SQL EDITION</a:t>
            </a:r>
          </a:p>
        </p:txBody>
      </p:sp>
      <p:sp>
        <p:nvSpPr>
          <p:cNvPr id="20" name="TextBox 19"/>
          <p:cNvSpPr txBox="1"/>
          <p:nvPr/>
        </p:nvSpPr>
        <p:spPr>
          <a:xfrm>
            <a:off x="11064240" y="6455664"/>
            <a:ext cx="548640" cy="182880"/>
          </a:xfrm>
          <a:prstGeom prst="rect">
            <a:avLst/>
          </a:prstGeom>
          <a:noFill/>
        </p:spPr>
        <p:txBody>
          <a:bodyPr wrap="square" lIns="64008" tIns="27432" rIns="64008" bIns="18288">
            <a:spAutoFit/>
          </a:bodyPr>
          <a:lstStyle/>
          <a:p>
            <a:r>
              <a:rPr sz="900" b="1">
                <a:solidFill>
                  <a:srgbClr val="5F6F7F"/>
                </a:solidFill>
                <a:latin typeface="Aptos"/>
              </a:rPr>
              <a:t>10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11480"/>
          </a:xfrm>
          <a:prstGeom prst="rect">
            <a:avLst/>
          </a:prstGeom>
          <a:noFill/>
        </p:spPr>
        <p:txBody>
          <a:bodyPr wrap="square" lIns="54864" tIns="27432" rIns="54864" bIns="18288">
            <a:spAutoFit/>
          </a:bodyPr>
          <a:lstStyle/>
          <a:p>
            <a:r>
              <a:rPr sz="2500" b="1">
                <a:solidFill>
                  <a:srgbClr val="051B31"/>
                </a:solidFill>
                <a:latin typeface="Aptos"/>
              </a:rPr>
              <a:t>Question 09  |  High-Tip Routes</a:t>
            </a:r>
          </a:p>
        </p:txBody>
      </p:sp>
      <p:sp>
        <p:nvSpPr>
          <p:cNvPr id="4" name="TextBox 3"/>
          <p:cNvSpPr txBox="1"/>
          <p:nvPr/>
        </p:nvSpPr>
        <p:spPr>
          <a:xfrm>
            <a:off x="621792" y="749808"/>
            <a:ext cx="10972800" cy="246888"/>
          </a:xfrm>
          <a:prstGeom prst="rect">
            <a:avLst/>
          </a:prstGeom>
          <a:noFill/>
        </p:spPr>
        <p:txBody>
          <a:bodyPr wrap="square" lIns="54864" tIns="27432" rIns="54864" bIns="18288">
            <a:spAutoFit/>
          </a:bodyPr>
          <a:lstStyle/>
          <a:p>
            <a:r>
              <a:rPr sz="900" b="1">
                <a:solidFill>
                  <a:srgbClr val="0069AA"/>
                </a:solidFill>
                <a:latin typeface="Aptos"/>
              </a:rPr>
              <a:t>FIND THE FIVE PICKUP–DROP-OFF COMBINATIONS WITH THE HIGHEST AVERAGE TIP AMOUNT.</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8" name="TextBox 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19</a:t>
            </a:r>
          </a:p>
        </p:txBody>
      </p:sp>
      <p:sp>
        <p:nvSpPr>
          <p:cNvPr id="9" name="Rounded Rectangle 8"/>
          <p:cNvSpPr/>
          <p:nvPr/>
        </p:nvSpPr>
        <p:spPr>
          <a:xfrm>
            <a:off x="658368" y="1353312"/>
            <a:ext cx="10881360" cy="475488"/>
          </a:xfrm>
          <a:prstGeom prst="roundRect">
            <a:avLst/>
          </a:prstGeom>
          <a:solidFill>
            <a:srgbClr val="051B31"/>
          </a:solidFill>
          <a:ln>
            <a:solidFill>
              <a:srgbClr val="051B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1472184"/>
            <a:ext cx="10515600" cy="210312"/>
          </a:xfrm>
          <a:prstGeom prst="rect">
            <a:avLst/>
          </a:prstGeom>
          <a:noFill/>
        </p:spPr>
        <p:txBody>
          <a:bodyPr wrap="square" lIns="54864" tIns="27432" rIns="54864" bIns="18288">
            <a:spAutoFit/>
          </a:bodyPr>
          <a:lstStyle/>
          <a:p>
            <a:r>
              <a:rPr sz="1100" b="1">
                <a:solidFill>
                  <a:srgbClr val="FFFFFF"/>
                </a:solidFill>
                <a:latin typeface="Aptos"/>
              </a:rPr>
              <a:t>BUSINESS QUESTION 09  •  SQL QUERY</a:t>
            </a:r>
          </a:p>
        </p:txBody>
      </p:sp>
      <p:pic>
        <p:nvPicPr>
          <p:cNvPr id="11" name="Picture 10" descr="Screenshot 2026-10-22 092832.png"/>
          <p:cNvPicPr>
            <a:picLocks noChangeAspect="1"/>
          </p:cNvPicPr>
          <p:nvPr/>
        </p:nvPicPr>
        <p:blipFill>
          <a:blip r:embed="rId2"/>
          <a:stretch>
            <a:fillRect/>
          </a:stretch>
        </p:blipFill>
        <p:spPr>
          <a:xfrm>
            <a:off x="2619944" y="2011679"/>
            <a:ext cx="6951806" cy="4069080"/>
          </a:xfrm>
          <a:prstGeom prst="rect">
            <a:avLst/>
          </a:prstGeom>
        </p:spPr>
      </p:pic>
      <p:sp>
        <p:nvSpPr>
          <p:cNvPr id="12" name="Rectangle 11"/>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14" name="TextBox 13"/>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19</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11480"/>
          </a:xfrm>
          <a:prstGeom prst="rect">
            <a:avLst/>
          </a:prstGeom>
          <a:noFill/>
        </p:spPr>
        <p:txBody>
          <a:bodyPr wrap="square" lIns="54864" tIns="27432" rIns="54864" bIns="18288">
            <a:spAutoFit/>
          </a:bodyPr>
          <a:lstStyle/>
          <a:p>
            <a:r>
              <a:rPr sz="2500" b="1">
                <a:solidFill>
                  <a:srgbClr val="051B31"/>
                </a:solidFill>
                <a:latin typeface="Aptos"/>
              </a:rPr>
              <a:t>Question 09  |  Result &amp; interpretation</a:t>
            </a:r>
          </a:p>
        </p:txBody>
      </p:sp>
      <p:sp>
        <p:nvSpPr>
          <p:cNvPr id="4" name="TextBox 3"/>
          <p:cNvSpPr txBox="1"/>
          <p:nvPr/>
        </p:nvSpPr>
        <p:spPr>
          <a:xfrm>
            <a:off x="621792" y="749808"/>
            <a:ext cx="10972800" cy="246888"/>
          </a:xfrm>
          <a:prstGeom prst="rect">
            <a:avLst/>
          </a:prstGeom>
          <a:noFill/>
        </p:spPr>
        <p:txBody>
          <a:bodyPr wrap="square" lIns="54864" tIns="27432" rIns="54864" bIns="18288">
            <a:spAutoFit/>
          </a:bodyPr>
          <a:lstStyle/>
          <a:p>
            <a:r>
              <a:rPr sz="900" b="1">
                <a:solidFill>
                  <a:srgbClr val="0069AA"/>
                </a:solidFill>
                <a:latin typeface="Aptos"/>
              </a:rPr>
              <a:t>HIGH-TIP ROUTES • OUTPUT PROVIDED IN YOUR SCREENSHOTS</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8" name="TextBox 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20</a:t>
            </a:r>
          </a:p>
        </p:txBody>
      </p:sp>
      <p:sp>
        <p:nvSpPr>
          <p:cNvPr id="9" name="Rounded Rectangle 8"/>
          <p:cNvSpPr/>
          <p:nvPr/>
        </p:nvSpPr>
        <p:spPr>
          <a:xfrm>
            <a:off x="658368" y="1344168"/>
            <a:ext cx="6903720" cy="4800600"/>
          </a:xfrm>
          <a:prstGeom prst="roundRect">
            <a:avLst/>
          </a:prstGeom>
          <a:solidFill>
            <a:srgbClr val="F4F7FA"/>
          </a:solidFill>
          <a:ln>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creenshot 2026-10-22 093103.png"/>
          <p:cNvPicPr>
            <a:picLocks noChangeAspect="1"/>
          </p:cNvPicPr>
          <p:nvPr/>
        </p:nvPicPr>
        <p:blipFill>
          <a:blip r:embed="rId2"/>
          <a:stretch>
            <a:fillRect/>
          </a:stretch>
        </p:blipFill>
        <p:spPr>
          <a:xfrm>
            <a:off x="841248" y="2728007"/>
            <a:ext cx="6537960" cy="1950625"/>
          </a:xfrm>
          <a:prstGeom prst="rect">
            <a:avLst/>
          </a:prstGeom>
        </p:spPr>
      </p:pic>
      <p:sp>
        <p:nvSpPr>
          <p:cNvPr id="11" name="TextBox 10"/>
          <p:cNvSpPr txBox="1"/>
          <p:nvPr/>
        </p:nvSpPr>
        <p:spPr>
          <a:xfrm>
            <a:off x="7909560" y="1481328"/>
            <a:ext cx="3474720" cy="329184"/>
          </a:xfrm>
          <a:prstGeom prst="rect">
            <a:avLst/>
          </a:prstGeom>
          <a:noFill/>
        </p:spPr>
        <p:txBody>
          <a:bodyPr wrap="square" lIns="54864" tIns="27432" rIns="54864" bIns="18288">
            <a:spAutoFit/>
          </a:bodyPr>
          <a:lstStyle/>
          <a:p>
            <a:r>
              <a:rPr sz="1200" b="1">
                <a:solidFill>
                  <a:srgbClr val="0069AA"/>
                </a:solidFill>
                <a:latin typeface="Aptos"/>
              </a:rPr>
              <a:t>KEY TAKEAWAY</a:t>
            </a:r>
          </a:p>
        </p:txBody>
      </p:sp>
      <p:sp>
        <p:nvSpPr>
          <p:cNvPr id="12" name="TextBox 11"/>
          <p:cNvSpPr txBox="1"/>
          <p:nvPr/>
        </p:nvSpPr>
        <p:spPr>
          <a:xfrm>
            <a:off x="7882127" y="1874519"/>
            <a:ext cx="3520440" cy="3154680"/>
          </a:xfrm>
          <a:prstGeom prst="rect">
            <a:avLst/>
          </a:prstGeom>
          <a:noFill/>
        </p:spPr>
        <p:txBody>
          <a:bodyPr wrap="square" lIns="54864" tIns="27432" rIns="54864" bIns="18288">
            <a:spAutoFit/>
          </a:bodyPr>
          <a:lstStyle/>
          <a:p>
            <a:r>
              <a:rPr sz="1400" b="0">
                <a:solidFill>
                  <a:srgbClr val="192B3C"/>
                </a:solidFill>
                <a:latin typeface="Aptos"/>
              </a:rPr>
              <a:t>The top displayed route is Washington Heights South → Heartland Village/Todt Hill, but the screenshot's result row appears visually truncated or misaligned. Other listed routes show average tips around 17.39–17.71. Validate zone mapping and small sample sizes before interpreting rankings.</a:t>
            </a:r>
          </a:p>
        </p:txBody>
      </p:sp>
      <p:sp>
        <p:nvSpPr>
          <p:cNvPr id="13" name="Rounded Rectangle 12"/>
          <p:cNvSpPr/>
          <p:nvPr/>
        </p:nvSpPr>
        <p:spPr>
          <a:xfrm>
            <a:off x="7882127" y="5257800"/>
            <a:ext cx="3520440" cy="685800"/>
          </a:xfrm>
          <a:prstGeom prst="roundRect">
            <a:avLst/>
          </a:prstGeom>
          <a:solidFill>
            <a:srgbClr val="FFF8DE"/>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0" y="5376672"/>
            <a:ext cx="3200400" cy="411480"/>
          </a:xfrm>
          <a:prstGeom prst="rect">
            <a:avLst/>
          </a:prstGeom>
          <a:noFill/>
        </p:spPr>
        <p:txBody>
          <a:bodyPr wrap="square" lIns="54864" tIns="27432" rIns="54864" bIns="18288">
            <a:spAutoFit/>
          </a:bodyPr>
          <a:lstStyle/>
          <a:p>
            <a:r>
              <a:rPr sz="1000" b="1">
                <a:solidFill>
                  <a:srgbClr val="192B3C"/>
                </a:solidFill>
                <a:latin typeface="Aptos"/>
              </a:rPr>
              <a:t>Use this result with the Power BI dashboard for drill-down analysis.</a:t>
            </a:r>
          </a:p>
        </p:txBody>
      </p:sp>
      <p:sp>
        <p:nvSpPr>
          <p:cNvPr id="15" name="Rectangle 14"/>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17" name="TextBox 16"/>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20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384048"/>
          </a:xfrm>
          <a:prstGeom prst="rect">
            <a:avLst/>
          </a:prstGeom>
          <a:noFill/>
        </p:spPr>
        <p:txBody>
          <a:bodyPr wrap="square" lIns="64008" tIns="27432" rIns="64008" bIns="18288">
            <a:spAutoFit/>
          </a:bodyPr>
          <a:lstStyle/>
          <a:p>
            <a:r>
              <a:rPr sz="2400" b="1">
                <a:solidFill>
                  <a:srgbClr val="051B31"/>
                </a:solidFill>
                <a:latin typeface="Aptos"/>
              </a:rPr>
              <a:t>INSIGHT 09  |  High-Tip Routes</a:t>
            </a:r>
          </a:p>
        </p:txBody>
      </p:sp>
      <p:sp>
        <p:nvSpPr>
          <p:cNvPr id="4" name="TextBox 3"/>
          <p:cNvSpPr txBox="1"/>
          <p:nvPr/>
        </p:nvSpPr>
        <p:spPr>
          <a:xfrm>
            <a:off x="621792" y="749808"/>
            <a:ext cx="10972800" cy="256032"/>
          </a:xfrm>
          <a:prstGeom prst="rect">
            <a:avLst/>
          </a:prstGeom>
          <a:noFill/>
        </p:spPr>
        <p:txBody>
          <a:bodyPr wrap="square" lIns="64008" tIns="27432" rIns="64008" bIns="18288">
            <a:spAutoFit/>
          </a:bodyPr>
          <a:lstStyle/>
          <a:p>
            <a:r>
              <a:rPr sz="900" b="1">
                <a:solidFill>
                  <a:srgbClr val="0069AA"/>
                </a:solidFill>
                <a:latin typeface="Aptos"/>
              </a:rPr>
              <a:t>RESULT EXPLAINED  •  VISUAL SUMMARY  •  BUSINESS IMPLICATION</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58368" y="1353312"/>
            <a:ext cx="6766560" cy="4526280"/>
          </a:xfrm>
          <a:prstGeom prst="roundRect">
            <a:avLst/>
          </a:prstGeom>
          <a:solidFill>
            <a:srgbClr val="F4F7FA"/>
          </a:solidFill>
          <a:ln>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Chart 6"/>
          <p:cNvGraphicFramePr>
            <a:graphicFrameLocks noGrp="1"/>
          </p:cNvGraphicFramePr>
          <p:nvPr/>
        </p:nvGraphicFramePr>
        <p:xfrm>
          <a:off x="841248" y="1572768"/>
          <a:ext cx="6355080" cy="342900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914400" y="5193792"/>
            <a:ext cx="6263640" cy="384048"/>
          </a:xfrm>
          <a:prstGeom prst="rect">
            <a:avLst/>
          </a:prstGeom>
          <a:noFill/>
        </p:spPr>
        <p:txBody>
          <a:bodyPr wrap="square" lIns="64008" tIns="27432" rIns="64008" bIns="18288">
            <a:spAutoFit/>
          </a:bodyPr>
          <a:lstStyle/>
          <a:p>
            <a:r>
              <a:rPr sz="1200" b="1">
                <a:solidFill>
                  <a:srgbClr val="051B31"/>
                </a:solidFill>
                <a:latin typeface="Aptos"/>
              </a:rPr>
              <a:t>The displayed top routes have high average tips but several have very small sample sizes.</a:t>
            </a:r>
          </a:p>
        </p:txBody>
      </p:sp>
      <p:sp>
        <p:nvSpPr>
          <p:cNvPr id="9" name="TextBox 8"/>
          <p:cNvSpPr txBox="1"/>
          <p:nvPr/>
        </p:nvSpPr>
        <p:spPr>
          <a:xfrm>
            <a:off x="7754112" y="1444752"/>
            <a:ext cx="3657600" cy="292608"/>
          </a:xfrm>
          <a:prstGeom prst="rect">
            <a:avLst/>
          </a:prstGeom>
          <a:noFill/>
        </p:spPr>
        <p:txBody>
          <a:bodyPr wrap="square" lIns="64008" tIns="27432" rIns="64008" bIns="18288">
            <a:spAutoFit/>
          </a:bodyPr>
          <a:lstStyle/>
          <a:p>
            <a:r>
              <a:rPr sz="1200" b="1">
                <a:solidFill>
                  <a:srgbClr val="0069AA"/>
                </a:solidFill>
                <a:latin typeface="Aptos"/>
              </a:rPr>
              <a:t>WHAT THE RESULT TELLS US</a:t>
            </a:r>
          </a:p>
        </p:txBody>
      </p:sp>
      <p:sp>
        <p:nvSpPr>
          <p:cNvPr id="10" name="Rounded Rectangle 9"/>
          <p:cNvSpPr/>
          <p:nvPr/>
        </p:nvSpPr>
        <p:spPr>
          <a:xfrm>
            <a:off x="7772400" y="187451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28431" y="1828800"/>
            <a:ext cx="3337560" cy="658368"/>
          </a:xfrm>
          <a:prstGeom prst="rect">
            <a:avLst/>
          </a:prstGeom>
          <a:noFill/>
        </p:spPr>
        <p:txBody>
          <a:bodyPr wrap="square" lIns="64008" tIns="27432" rIns="64008" bIns="18288">
            <a:spAutoFit/>
          </a:bodyPr>
          <a:lstStyle/>
          <a:p>
            <a:r>
              <a:rPr sz="1200" b="0">
                <a:solidFill>
                  <a:srgbClr val="192B3C"/>
                </a:solidFill>
                <a:latin typeface="Aptos"/>
              </a:rPr>
              <a:t>The visible result lists average tips around 17.39–17.71 for four readable rows.</a:t>
            </a:r>
          </a:p>
        </p:txBody>
      </p:sp>
      <p:sp>
        <p:nvSpPr>
          <p:cNvPr id="12" name="Rounded Rectangle 11"/>
          <p:cNvSpPr/>
          <p:nvPr/>
        </p:nvSpPr>
        <p:spPr>
          <a:xfrm>
            <a:off x="7772400" y="283463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28431" y="2788920"/>
            <a:ext cx="3337560" cy="658368"/>
          </a:xfrm>
          <a:prstGeom prst="rect">
            <a:avLst/>
          </a:prstGeom>
          <a:noFill/>
        </p:spPr>
        <p:txBody>
          <a:bodyPr wrap="square" lIns="64008" tIns="27432" rIns="64008" bIns="18288">
            <a:spAutoFit/>
          </a:bodyPr>
          <a:lstStyle/>
          <a:p>
            <a:r>
              <a:rPr sz="1200" b="0">
                <a:solidFill>
                  <a:srgbClr val="192B3C"/>
                </a:solidFill>
                <a:latin typeface="Aptos"/>
              </a:rPr>
              <a:t>Some listed routes have only 10–13 trips, so a few transactions can shift the average substantially.</a:t>
            </a:r>
          </a:p>
        </p:txBody>
      </p:sp>
      <p:sp>
        <p:nvSpPr>
          <p:cNvPr id="14" name="Rounded Rectangle 13"/>
          <p:cNvSpPr/>
          <p:nvPr/>
        </p:nvSpPr>
        <p:spPr>
          <a:xfrm>
            <a:off x="7772400" y="379475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28431" y="3749039"/>
            <a:ext cx="3337560" cy="658368"/>
          </a:xfrm>
          <a:prstGeom prst="rect">
            <a:avLst/>
          </a:prstGeom>
          <a:noFill/>
        </p:spPr>
        <p:txBody>
          <a:bodyPr wrap="square" lIns="64008" tIns="27432" rIns="64008" bIns="18288">
            <a:spAutoFit/>
          </a:bodyPr>
          <a:lstStyle/>
          <a:p>
            <a:r>
              <a:rPr sz="1200" b="0">
                <a:solidFill>
                  <a:srgbClr val="192B3C"/>
                </a:solidFill>
                <a:latin typeface="Aptos"/>
              </a:rPr>
              <a:t>Validate the first row's alignment and use a minimum sample-size threshold before drawing conclusions.</a:t>
            </a:r>
          </a:p>
        </p:txBody>
      </p:sp>
      <p:sp>
        <p:nvSpPr>
          <p:cNvPr id="16" name="Rounded Rectangle 15"/>
          <p:cNvSpPr/>
          <p:nvPr/>
        </p:nvSpPr>
        <p:spPr>
          <a:xfrm>
            <a:off x="7754112" y="4919472"/>
            <a:ext cx="3657600" cy="804672"/>
          </a:xfrm>
          <a:prstGeom prst="roundRect">
            <a:avLst/>
          </a:prstGeom>
          <a:solidFill>
            <a:srgbClr val="FFF8DE"/>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27848" y="5056632"/>
            <a:ext cx="3337560" cy="502920"/>
          </a:xfrm>
          <a:prstGeom prst="rect">
            <a:avLst/>
          </a:prstGeom>
          <a:noFill/>
        </p:spPr>
        <p:txBody>
          <a:bodyPr wrap="square" lIns="64008" tIns="27432" rIns="64008" bIns="18288">
            <a:spAutoFit/>
          </a:bodyPr>
          <a:lstStyle/>
          <a:p>
            <a:r>
              <a:rPr sz="1000" b="1">
                <a:solidFill>
                  <a:srgbClr val="192B3C"/>
                </a:solidFill>
                <a:latin typeface="Aptos"/>
              </a:rPr>
              <a:t>Decision cue: use this insight alongside date, borough and route filters in the Power BI dashboard.</a:t>
            </a:r>
          </a:p>
        </p:txBody>
      </p:sp>
      <p:sp>
        <p:nvSpPr>
          <p:cNvPr id="18" name="Rectangle 17"/>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6473952"/>
            <a:ext cx="7315200" cy="164592"/>
          </a:xfrm>
          <a:prstGeom prst="rect">
            <a:avLst/>
          </a:prstGeom>
          <a:noFill/>
        </p:spPr>
        <p:txBody>
          <a:bodyPr wrap="square" lIns="64008" tIns="27432" rIns="64008" bIns="18288">
            <a:spAutoFit/>
          </a:bodyPr>
          <a:lstStyle/>
          <a:p>
            <a:r>
              <a:rPr sz="800" b="1">
                <a:solidFill>
                  <a:srgbClr val="5F6F7F"/>
                </a:solidFill>
                <a:latin typeface="Aptos"/>
              </a:rPr>
              <a:t>UBER TRIPS ANALYTICS  •  SQL EDITION</a:t>
            </a:r>
          </a:p>
        </p:txBody>
      </p:sp>
      <p:sp>
        <p:nvSpPr>
          <p:cNvPr id="20" name="TextBox 19"/>
          <p:cNvSpPr txBox="1"/>
          <p:nvPr/>
        </p:nvSpPr>
        <p:spPr>
          <a:xfrm>
            <a:off x="11064240" y="6455664"/>
            <a:ext cx="548640" cy="182880"/>
          </a:xfrm>
          <a:prstGeom prst="rect">
            <a:avLst/>
          </a:prstGeom>
          <a:noFill/>
        </p:spPr>
        <p:txBody>
          <a:bodyPr wrap="square" lIns="64008" tIns="27432" rIns="64008" bIns="18288">
            <a:spAutoFit/>
          </a:bodyPr>
          <a:lstStyle/>
          <a:p>
            <a:r>
              <a:rPr sz="900" b="1">
                <a:solidFill>
                  <a:srgbClr val="5F6F7F"/>
                </a:solidFill>
                <a:latin typeface="Aptos"/>
              </a:rPr>
              <a:t>11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11480"/>
          </a:xfrm>
          <a:prstGeom prst="rect">
            <a:avLst/>
          </a:prstGeom>
          <a:noFill/>
        </p:spPr>
        <p:txBody>
          <a:bodyPr wrap="square" lIns="54864" tIns="27432" rIns="54864" bIns="18288">
            <a:spAutoFit/>
          </a:bodyPr>
          <a:lstStyle/>
          <a:p>
            <a:r>
              <a:rPr sz="2500" b="1">
                <a:solidFill>
                  <a:srgbClr val="051B31"/>
                </a:solidFill>
                <a:latin typeface="Aptos"/>
              </a:rPr>
              <a:t>Question 10  |  Revenue by Borough Pairs</a:t>
            </a:r>
          </a:p>
        </p:txBody>
      </p:sp>
      <p:sp>
        <p:nvSpPr>
          <p:cNvPr id="4" name="TextBox 3"/>
          <p:cNvSpPr txBox="1"/>
          <p:nvPr/>
        </p:nvSpPr>
        <p:spPr>
          <a:xfrm>
            <a:off x="621792" y="749808"/>
            <a:ext cx="10972800" cy="246888"/>
          </a:xfrm>
          <a:prstGeom prst="rect">
            <a:avLst/>
          </a:prstGeom>
          <a:noFill/>
        </p:spPr>
        <p:txBody>
          <a:bodyPr wrap="square" lIns="54864" tIns="27432" rIns="54864" bIns="18288">
            <a:spAutoFit/>
          </a:bodyPr>
          <a:lstStyle/>
          <a:p>
            <a:r>
              <a:rPr sz="900" b="1">
                <a:solidFill>
                  <a:srgbClr val="0069AA"/>
                </a:solidFill>
                <a:latin typeface="Aptos"/>
              </a:rPr>
              <a:t>CALCULATE TOTAL REVENUE FOR EACH PICKUP-BOROUGH TO DROP-OFF-BOROUGH PAIR.</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8" name="TextBox 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21</a:t>
            </a:r>
          </a:p>
        </p:txBody>
      </p:sp>
      <p:sp>
        <p:nvSpPr>
          <p:cNvPr id="9" name="Rounded Rectangle 8"/>
          <p:cNvSpPr/>
          <p:nvPr/>
        </p:nvSpPr>
        <p:spPr>
          <a:xfrm>
            <a:off x="658368" y="1353312"/>
            <a:ext cx="10881360" cy="475488"/>
          </a:xfrm>
          <a:prstGeom prst="roundRect">
            <a:avLst/>
          </a:prstGeom>
          <a:solidFill>
            <a:srgbClr val="051B31"/>
          </a:solidFill>
          <a:ln>
            <a:solidFill>
              <a:srgbClr val="051B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1472184"/>
            <a:ext cx="10515600" cy="210312"/>
          </a:xfrm>
          <a:prstGeom prst="rect">
            <a:avLst/>
          </a:prstGeom>
          <a:noFill/>
        </p:spPr>
        <p:txBody>
          <a:bodyPr wrap="square" lIns="54864" tIns="27432" rIns="54864" bIns="18288">
            <a:spAutoFit/>
          </a:bodyPr>
          <a:lstStyle/>
          <a:p>
            <a:r>
              <a:rPr sz="1100" b="1">
                <a:solidFill>
                  <a:srgbClr val="FFFFFF"/>
                </a:solidFill>
                <a:latin typeface="Aptos"/>
              </a:rPr>
              <a:t>BUSINESS QUESTION 10  •  SQL QUERY</a:t>
            </a:r>
          </a:p>
        </p:txBody>
      </p:sp>
      <p:pic>
        <p:nvPicPr>
          <p:cNvPr id="11" name="Picture 10" descr="Screenshot 2026-10-22 092932.png"/>
          <p:cNvPicPr>
            <a:picLocks noChangeAspect="1"/>
          </p:cNvPicPr>
          <p:nvPr/>
        </p:nvPicPr>
        <p:blipFill>
          <a:blip r:embed="rId2"/>
          <a:stretch>
            <a:fillRect/>
          </a:stretch>
        </p:blipFill>
        <p:spPr>
          <a:xfrm>
            <a:off x="3222804" y="2011679"/>
            <a:ext cx="5746085" cy="4069080"/>
          </a:xfrm>
          <a:prstGeom prst="rect">
            <a:avLst/>
          </a:prstGeom>
        </p:spPr>
      </p:pic>
      <p:sp>
        <p:nvSpPr>
          <p:cNvPr id="12" name="Rectangle 11"/>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14" name="TextBox 13"/>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21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11480"/>
          </a:xfrm>
          <a:prstGeom prst="rect">
            <a:avLst/>
          </a:prstGeom>
          <a:noFill/>
        </p:spPr>
        <p:txBody>
          <a:bodyPr wrap="square" lIns="54864" tIns="27432" rIns="54864" bIns="18288">
            <a:spAutoFit/>
          </a:bodyPr>
          <a:lstStyle/>
          <a:p>
            <a:r>
              <a:rPr sz="2500" b="1">
                <a:solidFill>
                  <a:srgbClr val="051B31"/>
                </a:solidFill>
                <a:latin typeface="Aptos"/>
              </a:rPr>
              <a:t>Question 10  |  Result &amp; interpretation</a:t>
            </a:r>
          </a:p>
        </p:txBody>
      </p:sp>
      <p:sp>
        <p:nvSpPr>
          <p:cNvPr id="4" name="TextBox 3"/>
          <p:cNvSpPr txBox="1"/>
          <p:nvPr/>
        </p:nvSpPr>
        <p:spPr>
          <a:xfrm>
            <a:off x="621792" y="749808"/>
            <a:ext cx="10972800" cy="246888"/>
          </a:xfrm>
          <a:prstGeom prst="rect">
            <a:avLst/>
          </a:prstGeom>
          <a:noFill/>
        </p:spPr>
        <p:txBody>
          <a:bodyPr wrap="square" lIns="54864" tIns="27432" rIns="54864" bIns="18288">
            <a:spAutoFit/>
          </a:bodyPr>
          <a:lstStyle/>
          <a:p>
            <a:r>
              <a:rPr sz="900" b="1">
                <a:solidFill>
                  <a:srgbClr val="0069AA"/>
                </a:solidFill>
                <a:latin typeface="Aptos"/>
              </a:rPr>
              <a:t>REVENUE BY BOROUGH PAIRS • OUTPUT PROVIDED IN YOUR SCREENSHOTS</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8" name="TextBox 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22</a:t>
            </a:r>
          </a:p>
        </p:txBody>
      </p:sp>
      <p:sp>
        <p:nvSpPr>
          <p:cNvPr id="9" name="Rounded Rectangle 8"/>
          <p:cNvSpPr/>
          <p:nvPr/>
        </p:nvSpPr>
        <p:spPr>
          <a:xfrm>
            <a:off x="658368" y="1344168"/>
            <a:ext cx="6903720" cy="4800600"/>
          </a:xfrm>
          <a:prstGeom prst="roundRect">
            <a:avLst/>
          </a:prstGeom>
          <a:solidFill>
            <a:srgbClr val="F4F7FA"/>
          </a:solidFill>
          <a:ln>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creenshot 2026-10-22 093928.png"/>
          <p:cNvPicPr>
            <a:picLocks noChangeAspect="1"/>
          </p:cNvPicPr>
          <p:nvPr/>
        </p:nvPicPr>
        <p:blipFill>
          <a:blip r:embed="rId2"/>
          <a:stretch>
            <a:fillRect/>
          </a:stretch>
        </p:blipFill>
        <p:spPr>
          <a:xfrm>
            <a:off x="841248" y="2652300"/>
            <a:ext cx="6537960" cy="2102039"/>
          </a:xfrm>
          <a:prstGeom prst="rect">
            <a:avLst/>
          </a:prstGeom>
        </p:spPr>
      </p:pic>
      <p:sp>
        <p:nvSpPr>
          <p:cNvPr id="11" name="TextBox 10"/>
          <p:cNvSpPr txBox="1"/>
          <p:nvPr/>
        </p:nvSpPr>
        <p:spPr>
          <a:xfrm>
            <a:off x="7909560" y="1481328"/>
            <a:ext cx="3474720" cy="329184"/>
          </a:xfrm>
          <a:prstGeom prst="rect">
            <a:avLst/>
          </a:prstGeom>
          <a:noFill/>
        </p:spPr>
        <p:txBody>
          <a:bodyPr wrap="square" lIns="54864" tIns="27432" rIns="54864" bIns="18288">
            <a:spAutoFit/>
          </a:bodyPr>
          <a:lstStyle/>
          <a:p>
            <a:r>
              <a:rPr sz="1200" b="1">
                <a:solidFill>
                  <a:srgbClr val="0069AA"/>
                </a:solidFill>
                <a:latin typeface="Aptos"/>
              </a:rPr>
              <a:t>KEY TAKEAWAY</a:t>
            </a:r>
          </a:p>
        </p:txBody>
      </p:sp>
      <p:sp>
        <p:nvSpPr>
          <p:cNvPr id="12" name="TextBox 11"/>
          <p:cNvSpPr txBox="1"/>
          <p:nvPr/>
        </p:nvSpPr>
        <p:spPr>
          <a:xfrm>
            <a:off x="7882127" y="1874519"/>
            <a:ext cx="3520440" cy="3154680"/>
          </a:xfrm>
          <a:prstGeom prst="rect">
            <a:avLst/>
          </a:prstGeom>
          <a:noFill/>
        </p:spPr>
        <p:txBody>
          <a:bodyPr wrap="square" lIns="54864" tIns="27432" rIns="54864" bIns="18288">
            <a:spAutoFit/>
          </a:bodyPr>
          <a:lstStyle/>
          <a:p>
            <a:r>
              <a:rPr sz="1400" b="0">
                <a:solidFill>
                  <a:srgbClr val="192B3C"/>
                </a:solidFill>
                <a:latin typeface="Aptos"/>
              </a:rPr>
              <a:t>Manhattan → Manhattan has the highest displayed revenue (about 65.09M), followed by Brooklyn → Brooklyn (about 62.75M) and Queens → Queens (about 57.80M). Same-borough pairs dominate the visible top rows; check currency, null handling and data coverage.</a:t>
            </a:r>
          </a:p>
        </p:txBody>
      </p:sp>
      <p:sp>
        <p:nvSpPr>
          <p:cNvPr id="13" name="Rounded Rectangle 12"/>
          <p:cNvSpPr/>
          <p:nvPr/>
        </p:nvSpPr>
        <p:spPr>
          <a:xfrm>
            <a:off x="7882127" y="5257800"/>
            <a:ext cx="3520440" cy="685800"/>
          </a:xfrm>
          <a:prstGeom prst="roundRect">
            <a:avLst/>
          </a:prstGeom>
          <a:solidFill>
            <a:srgbClr val="FFF8DE"/>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0" y="5376672"/>
            <a:ext cx="3200400" cy="411480"/>
          </a:xfrm>
          <a:prstGeom prst="rect">
            <a:avLst/>
          </a:prstGeom>
          <a:noFill/>
        </p:spPr>
        <p:txBody>
          <a:bodyPr wrap="square" lIns="54864" tIns="27432" rIns="54864" bIns="18288">
            <a:spAutoFit/>
          </a:bodyPr>
          <a:lstStyle/>
          <a:p>
            <a:r>
              <a:rPr sz="1000" b="1">
                <a:solidFill>
                  <a:srgbClr val="192B3C"/>
                </a:solidFill>
                <a:latin typeface="Aptos"/>
              </a:rPr>
              <a:t>Use this result with the Power BI dashboard for drill-down analysis.</a:t>
            </a:r>
          </a:p>
        </p:txBody>
      </p:sp>
      <p:sp>
        <p:nvSpPr>
          <p:cNvPr id="15" name="Rectangle 14"/>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17" name="TextBox 16"/>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22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384048"/>
          </a:xfrm>
          <a:prstGeom prst="rect">
            <a:avLst/>
          </a:prstGeom>
          <a:noFill/>
        </p:spPr>
        <p:txBody>
          <a:bodyPr wrap="square" lIns="64008" tIns="27432" rIns="64008" bIns="18288">
            <a:spAutoFit/>
          </a:bodyPr>
          <a:lstStyle/>
          <a:p>
            <a:r>
              <a:rPr sz="2400" b="1">
                <a:solidFill>
                  <a:srgbClr val="051B31"/>
                </a:solidFill>
                <a:latin typeface="Aptos"/>
              </a:rPr>
              <a:t>INSIGHT 10  |  Revenue by Borough Pairs</a:t>
            </a:r>
          </a:p>
        </p:txBody>
      </p:sp>
      <p:sp>
        <p:nvSpPr>
          <p:cNvPr id="4" name="TextBox 3"/>
          <p:cNvSpPr txBox="1"/>
          <p:nvPr/>
        </p:nvSpPr>
        <p:spPr>
          <a:xfrm>
            <a:off x="621792" y="749808"/>
            <a:ext cx="10972800" cy="256032"/>
          </a:xfrm>
          <a:prstGeom prst="rect">
            <a:avLst/>
          </a:prstGeom>
          <a:noFill/>
        </p:spPr>
        <p:txBody>
          <a:bodyPr wrap="square" lIns="64008" tIns="27432" rIns="64008" bIns="18288">
            <a:spAutoFit/>
          </a:bodyPr>
          <a:lstStyle/>
          <a:p>
            <a:r>
              <a:rPr sz="900" b="1">
                <a:solidFill>
                  <a:srgbClr val="0069AA"/>
                </a:solidFill>
                <a:latin typeface="Aptos"/>
              </a:rPr>
              <a:t>RESULT EXPLAINED  •  VISUAL SUMMARY  •  BUSINESS IMPLICATION</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58368" y="1353312"/>
            <a:ext cx="6766560" cy="4526280"/>
          </a:xfrm>
          <a:prstGeom prst="roundRect">
            <a:avLst/>
          </a:prstGeom>
          <a:solidFill>
            <a:srgbClr val="F4F7FA"/>
          </a:solidFill>
          <a:ln>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Chart 6"/>
          <p:cNvGraphicFramePr>
            <a:graphicFrameLocks noGrp="1"/>
          </p:cNvGraphicFramePr>
          <p:nvPr/>
        </p:nvGraphicFramePr>
        <p:xfrm>
          <a:off x="841248" y="1572768"/>
          <a:ext cx="6355080" cy="342900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914400" y="5193792"/>
            <a:ext cx="6263640" cy="384048"/>
          </a:xfrm>
          <a:prstGeom prst="rect">
            <a:avLst/>
          </a:prstGeom>
          <a:noFill/>
        </p:spPr>
        <p:txBody>
          <a:bodyPr wrap="square" lIns="64008" tIns="27432" rIns="64008" bIns="18288">
            <a:spAutoFit/>
          </a:bodyPr>
          <a:lstStyle/>
          <a:p>
            <a:r>
              <a:rPr sz="1200" b="1">
                <a:solidFill>
                  <a:srgbClr val="051B31"/>
                </a:solidFill>
                <a:latin typeface="Aptos"/>
              </a:rPr>
              <a:t>Same-borough trips dominate the top revenue rows in the supplied output.</a:t>
            </a:r>
          </a:p>
        </p:txBody>
      </p:sp>
      <p:sp>
        <p:nvSpPr>
          <p:cNvPr id="9" name="TextBox 8"/>
          <p:cNvSpPr txBox="1"/>
          <p:nvPr/>
        </p:nvSpPr>
        <p:spPr>
          <a:xfrm>
            <a:off x="7754112" y="1444752"/>
            <a:ext cx="3657600" cy="292608"/>
          </a:xfrm>
          <a:prstGeom prst="rect">
            <a:avLst/>
          </a:prstGeom>
          <a:noFill/>
        </p:spPr>
        <p:txBody>
          <a:bodyPr wrap="square" lIns="64008" tIns="27432" rIns="64008" bIns="18288">
            <a:spAutoFit/>
          </a:bodyPr>
          <a:lstStyle/>
          <a:p>
            <a:r>
              <a:rPr sz="1200" b="1">
                <a:solidFill>
                  <a:srgbClr val="0069AA"/>
                </a:solidFill>
                <a:latin typeface="Aptos"/>
              </a:rPr>
              <a:t>WHAT THE RESULT TELLS US</a:t>
            </a:r>
          </a:p>
        </p:txBody>
      </p:sp>
      <p:sp>
        <p:nvSpPr>
          <p:cNvPr id="10" name="Rounded Rectangle 9"/>
          <p:cNvSpPr/>
          <p:nvPr/>
        </p:nvSpPr>
        <p:spPr>
          <a:xfrm>
            <a:off x="7772400" y="187451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28431" y="1828800"/>
            <a:ext cx="3337560" cy="658368"/>
          </a:xfrm>
          <a:prstGeom prst="rect">
            <a:avLst/>
          </a:prstGeom>
          <a:noFill/>
        </p:spPr>
        <p:txBody>
          <a:bodyPr wrap="square" lIns="64008" tIns="27432" rIns="64008" bIns="18288">
            <a:spAutoFit/>
          </a:bodyPr>
          <a:lstStyle/>
          <a:p>
            <a:r>
              <a:rPr sz="1200" b="0">
                <a:solidFill>
                  <a:srgbClr val="192B3C"/>
                </a:solidFill>
                <a:latin typeface="Aptos"/>
              </a:rPr>
              <a:t>Manhattan → Manhattan leads at about 65.09M in total revenue.</a:t>
            </a:r>
          </a:p>
        </p:txBody>
      </p:sp>
      <p:sp>
        <p:nvSpPr>
          <p:cNvPr id="12" name="Rounded Rectangle 11"/>
          <p:cNvSpPr/>
          <p:nvPr/>
        </p:nvSpPr>
        <p:spPr>
          <a:xfrm>
            <a:off x="7772400" y="283463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28431" y="2788920"/>
            <a:ext cx="3337560" cy="658368"/>
          </a:xfrm>
          <a:prstGeom prst="rect">
            <a:avLst/>
          </a:prstGeom>
          <a:noFill/>
        </p:spPr>
        <p:txBody>
          <a:bodyPr wrap="square" lIns="64008" tIns="27432" rIns="64008" bIns="18288">
            <a:spAutoFit/>
          </a:bodyPr>
          <a:lstStyle/>
          <a:p>
            <a:r>
              <a:rPr sz="1200" b="0">
                <a:solidFill>
                  <a:srgbClr val="192B3C"/>
                </a:solidFill>
                <a:latin typeface="Aptos"/>
              </a:rPr>
              <a:t>Brooklyn → Brooklyn and Queens → Queens follow at about 62.75M and 57.80M.</a:t>
            </a:r>
          </a:p>
        </p:txBody>
      </p:sp>
      <p:sp>
        <p:nvSpPr>
          <p:cNvPr id="14" name="Rounded Rectangle 13"/>
          <p:cNvSpPr/>
          <p:nvPr/>
        </p:nvSpPr>
        <p:spPr>
          <a:xfrm>
            <a:off x="7772400" y="3794759"/>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28431" y="3749039"/>
            <a:ext cx="3337560" cy="658368"/>
          </a:xfrm>
          <a:prstGeom prst="rect">
            <a:avLst/>
          </a:prstGeom>
          <a:noFill/>
        </p:spPr>
        <p:txBody>
          <a:bodyPr wrap="square" lIns="64008" tIns="27432" rIns="64008" bIns="18288">
            <a:spAutoFit/>
          </a:bodyPr>
          <a:lstStyle/>
          <a:p>
            <a:r>
              <a:rPr sz="1200" b="0">
                <a:solidFill>
                  <a:srgbClr val="192B3C"/>
                </a:solidFill>
                <a:latin typeface="Aptos"/>
              </a:rPr>
              <a:t>Confirm currency/scale and date coverage before comparing revenue across years or borough pairs.</a:t>
            </a:r>
          </a:p>
        </p:txBody>
      </p:sp>
      <p:sp>
        <p:nvSpPr>
          <p:cNvPr id="16" name="Rounded Rectangle 15"/>
          <p:cNvSpPr/>
          <p:nvPr/>
        </p:nvSpPr>
        <p:spPr>
          <a:xfrm>
            <a:off x="7754112" y="4919472"/>
            <a:ext cx="3657600" cy="804672"/>
          </a:xfrm>
          <a:prstGeom prst="roundRect">
            <a:avLst/>
          </a:prstGeom>
          <a:solidFill>
            <a:srgbClr val="FFF8DE"/>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27848" y="5056632"/>
            <a:ext cx="3337560" cy="502920"/>
          </a:xfrm>
          <a:prstGeom prst="rect">
            <a:avLst/>
          </a:prstGeom>
          <a:noFill/>
        </p:spPr>
        <p:txBody>
          <a:bodyPr wrap="square" lIns="64008" tIns="27432" rIns="64008" bIns="18288">
            <a:spAutoFit/>
          </a:bodyPr>
          <a:lstStyle/>
          <a:p>
            <a:r>
              <a:rPr sz="1000" b="1">
                <a:solidFill>
                  <a:srgbClr val="192B3C"/>
                </a:solidFill>
                <a:latin typeface="Aptos"/>
              </a:rPr>
              <a:t>Decision cue: use this insight alongside date, borough and route filters in the Power BI dashboard.</a:t>
            </a:r>
          </a:p>
        </p:txBody>
      </p:sp>
      <p:sp>
        <p:nvSpPr>
          <p:cNvPr id="18" name="Rectangle 17"/>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6473952"/>
            <a:ext cx="7315200" cy="164592"/>
          </a:xfrm>
          <a:prstGeom prst="rect">
            <a:avLst/>
          </a:prstGeom>
          <a:noFill/>
        </p:spPr>
        <p:txBody>
          <a:bodyPr wrap="square" lIns="64008" tIns="27432" rIns="64008" bIns="18288">
            <a:spAutoFit/>
          </a:bodyPr>
          <a:lstStyle/>
          <a:p>
            <a:r>
              <a:rPr sz="800" b="1">
                <a:solidFill>
                  <a:srgbClr val="5F6F7F"/>
                </a:solidFill>
                <a:latin typeface="Aptos"/>
              </a:rPr>
              <a:t>UBER TRIPS ANALYTICS  •  SQL EDITION</a:t>
            </a:r>
          </a:p>
        </p:txBody>
      </p:sp>
      <p:sp>
        <p:nvSpPr>
          <p:cNvPr id="20" name="TextBox 19"/>
          <p:cNvSpPr txBox="1"/>
          <p:nvPr/>
        </p:nvSpPr>
        <p:spPr>
          <a:xfrm>
            <a:off x="11064240" y="6455664"/>
            <a:ext cx="548640" cy="182880"/>
          </a:xfrm>
          <a:prstGeom prst="rect">
            <a:avLst/>
          </a:prstGeom>
          <a:noFill/>
        </p:spPr>
        <p:txBody>
          <a:bodyPr wrap="square" lIns="64008" tIns="27432" rIns="64008" bIns="18288">
            <a:spAutoFit/>
          </a:bodyPr>
          <a:lstStyle/>
          <a:p>
            <a:r>
              <a:rPr sz="900" b="1">
                <a:solidFill>
                  <a:srgbClr val="5F6F7F"/>
                </a:solidFill>
                <a:latin typeface="Aptos"/>
              </a:rPr>
              <a:t>12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11480"/>
          </a:xfrm>
          <a:prstGeom prst="rect">
            <a:avLst/>
          </a:prstGeom>
          <a:noFill/>
        </p:spPr>
        <p:txBody>
          <a:bodyPr wrap="square" lIns="54864" tIns="27432" rIns="54864" bIns="18288">
            <a:spAutoFit/>
          </a:bodyPr>
          <a:lstStyle/>
          <a:p>
            <a:r>
              <a:rPr sz="2500" b="1">
                <a:solidFill>
                  <a:srgbClr val="051B31"/>
                </a:solidFill>
                <a:latin typeface="Aptos"/>
              </a:rPr>
              <a:t>Executive summary &amp; validation checklist</a:t>
            </a:r>
          </a:p>
        </p:txBody>
      </p:sp>
      <p:sp>
        <p:nvSpPr>
          <p:cNvPr id="4" name="TextBox 3"/>
          <p:cNvSpPr txBox="1"/>
          <p:nvPr/>
        </p:nvSpPr>
        <p:spPr>
          <a:xfrm>
            <a:off x="621792" y="749808"/>
            <a:ext cx="10972800" cy="246888"/>
          </a:xfrm>
          <a:prstGeom prst="rect">
            <a:avLst/>
          </a:prstGeom>
          <a:noFill/>
        </p:spPr>
        <p:txBody>
          <a:bodyPr wrap="square" lIns="54864" tIns="27432" rIns="54864" bIns="18288">
            <a:spAutoFit/>
          </a:bodyPr>
          <a:lstStyle/>
          <a:p>
            <a:r>
              <a:rPr sz="900" b="1">
                <a:solidFill>
                  <a:srgbClr val="0069AA"/>
                </a:solidFill>
                <a:latin typeface="Aptos"/>
              </a:rPr>
              <a:t>KEY FINDINGS FROM THE TEN SUPPLIED SQL RESULT SETS</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8" name="TextBox 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23</a:t>
            </a:r>
          </a:p>
        </p:txBody>
      </p:sp>
      <p:sp>
        <p:nvSpPr>
          <p:cNvPr id="9" name="Rectangle 8"/>
          <p:cNvSpPr/>
          <p:nvPr/>
        </p:nvSpPr>
        <p:spPr>
          <a:xfrm>
            <a:off x="822960" y="1353312"/>
            <a:ext cx="137160" cy="53035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43000" y="1380744"/>
            <a:ext cx="1828800" cy="274320"/>
          </a:xfrm>
          <a:prstGeom prst="rect">
            <a:avLst/>
          </a:prstGeom>
          <a:noFill/>
        </p:spPr>
        <p:txBody>
          <a:bodyPr wrap="square" lIns="54864" tIns="27432" rIns="54864" bIns="18288">
            <a:spAutoFit/>
          </a:bodyPr>
          <a:lstStyle/>
          <a:p>
            <a:r>
              <a:rPr sz="1200" b="1">
                <a:solidFill>
                  <a:srgbClr val="0069AA"/>
                </a:solidFill>
                <a:latin typeface="Aptos"/>
              </a:rPr>
              <a:t>Trip volume</a:t>
            </a:r>
          </a:p>
        </p:txBody>
      </p:sp>
      <p:sp>
        <p:nvSpPr>
          <p:cNvPr id="11" name="TextBox 10"/>
          <p:cNvSpPr txBox="1"/>
          <p:nvPr/>
        </p:nvSpPr>
        <p:spPr>
          <a:xfrm>
            <a:off x="2971800" y="1362456"/>
            <a:ext cx="8046720" cy="438912"/>
          </a:xfrm>
          <a:prstGeom prst="rect">
            <a:avLst/>
          </a:prstGeom>
          <a:noFill/>
        </p:spPr>
        <p:txBody>
          <a:bodyPr wrap="square" lIns="54864" tIns="27432" rIns="54864" bIns="18288">
            <a:spAutoFit/>
          </a:bodyPr>
          <a:lstStyle/>
          <a:p>
            <a:r>
              <a:rPr sz="1200" b="0">
                <a:solidFill>
                  <a:srgbClr val="192B3C"/>
                </a:solidFill>
                <a:latin typeface="Aptos"/>
              </a:rPr>
              <a:t>2018 is the highest-count year in the supplied output; subsequent years fall sharply.</a:t>
            </a:r>
          </a:p>
        </p:txBody>
      </p:sp>
      <p:sp>
        <p:nvSpPr>
          <p:cNvPr id="12" name="Rectangle 11"/>
          <p:cNvSpPr/>
          <p:nvPr/>
        </p:nvSpPr>
        <p:spPr>
          <a:xfrm>
            <a:off x="822960" y="2148840"/>
            <a:ext cx="137160" cy="53035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2176272"/>
            <a:ext cx="1828800" cy="274320"/>
          </a:xfrm>
          <a:prstGeom prst="rect">
            <a:avLst/>
          </a:prstGeom>
          <a:noFill/>
        </p:spPr>
        <p:txBody>
          <a:bodyPr wrap="square" lIns="54864" tIns="27432" rIns="54864" bIns="18288">
            <a:spAutoFit/>
          </a:bodyPr>
          <a:lstStyle/>
          <a:p>
            <a:r>
              <a:rPr sz="1200" b="1">
                <a:solidFill>
                  <a:srgbClr val="0069AA"/>
                </a:solidFill>
                <a:latin typeface="Aptos"/>
              </a:rPr>
              <a:t>Time</a:t>
            </a:r>
          </a:p>
        </p:txBody>
      </p:sp>
      <p:sp>
        <p:nvSpPr>
          <p:cNvPr id="14" name="TextBox 13"/>
          <p:cNvSpPr txBox="1"/>
          <p:nvPr/>
        </p:nvSpPr>
        <p:spPr>
          <a:xfrm>
            <a:off x="2971800" y="2157984"/>
            <a:ext cx="8046720" cy="438912"/>
          </a:xfrm>
          <a:prstGeom prst="rect">
            <a:avLst/>
          </a:prstGeom>
          <a:noFill/>
        </p:spPr>
        <p:txBody>
          <a:bodyPr wrap="square" lIns="54864" tIns="27432" rIns="54864" bIns="18288">
            <a:spAutoFit/>
          </a:bodyPr>
          <a:lstStyle/>
          <a:p>
            <a:r>
              <a:rPr sz="1200" b="0">
                <a:solidFill>
                  <a:srgbClr val="192B3C"/>
                </a:solidFill>
                <a:latin typeface="Aptos"/>
              </a:rPr>
              <a:t>Friday 5–6 PM is the busiest listed hour/day slot.</a:t>
            </a:r>
          </a:p>
        </p:txBody>
      </p:sp>
      <p:sp>
        <p:nvSpPr>
          <p:cNvPr id="15" name="Rectangle 14"/>
          <p:cNvSpPr/>
          <p:nvPr/>
        </p:nvSpPr>
        <p:spPr>
          <a:xfrm>
            <a:off x="822960" y="2944368"/>
            <a:ext cx="137160" cy="53035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43000" y="2971799"/>
            <a:ext cx="1828800" cy="274320"/>
          </a:xfrm>
          <a:prstGeom prst="rect">
            <a:avLst/>
          </a:prstGeom>
          <a:noFill/>
        </p:spPr>
        <p:txBody>
          <a:bodyPr wrap="square" lIns="54864" tIns="27432" rIns="54864" bIns="18288">
            <a:spAutoFit/>
          </a:bodyPr>
          <a:lstStyle/>
          <a:p>
            <a:r>
              <a:rPr sz="1200" b="1">
                <a:solidFill>
                  <a:srgbClr val="0069AA"/>
                </a:solidFill>
                <a:latin typeface="Aptos"/>
              </a:rPr>
              <a:t>Geography</a:t>
            </a:r>
          </a:p>
        </p:txBody>
      </p:sp>
      <p:sp>
        <p:nvSpPr>
          <p:cNvPr id="17" name="TextBox 16"/>
          <p:cNvSpPr txBox="1"/>
          <p:nvPr/>
        </p:nvSpPr>
        <p:spPr>
          <a:xfrm>
            <a:off x="2971800" y="2953511"/>
            <a:ext cx="8046720" cy="438912"/>
          </a:xfrm>
          <a:prstGeom prst="rect">
            <a:avLst/>
          </a:prstGeom>
          <a:noFill/>
        </p:spPr>
        <p:txBody>
          <a:bodyPr wrap="square" lIns="54864" tIns="27432" rIns="54864" bIns="18288">
            <a:spAutoFit/>
          </a:bodyPr>
          <a:lstStyle/>
          <a:p>
            <a:r>
              <a:rPr sz="1200" b="0">
                <a:solidFill>
                  <a:srgbClr val="192B3C"/>
                </a:solidFill>
                <a:latin typeface="Aptos"/>
              </a:rPr>
              <a:t>Manhattan, Brooklyn and Queens dominate pickup share; local borough pairs also lead displayed revenue.</a:t>
            </a:r>
          </a:p>
        </p:txBody>
      </p:sp>
      <p:sp>
        <p:nvSpPr>
          <p:cNvPr id="18" name="Rectangle 17"/>
          <p:cNvSpPr/>
          <p:nvPr/>
        </p:nvSpPr>
        <p:spPr>
          <a:xfrm>
            <a:off x="822960" y="3739896"/>
            <a:ext cx="137160" cy="53035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43000" y="3767328"/>
            <a:ext cx="1828800" cy="274320"/>
          </a:xfrm>
          <a:prstGeom prst="rect">
            <a:avLst/>
          </a:prstGeom>
          <a:noFill/>
        </p:spPr>
        <p:txBody>
          <a:bodyPr wrap="square" lIns="54864" tIns="27432" rIns="54864" bIns="18288">
            <a:spAutoFit/>
          </a:bodyPr>
          <a:lstStyle/>
          <a:p>
            <a:r>
              <a:rPr sz="1200" b="1">
                <a:solidFill>
                  <a:srgbClr val="0069AA"/>
                </a:solidFill>
                <a:latin typeface="Aptos"/>
              </a:rPr>
              <a:t>Passengers &amp; distance</a:t>
            </a:r>
          </a:p>
        </p:txBody>
      </p:sp>
      <p:sp>
        <p:nvSpPr>
          <p:cNvPr id="20" name="TextBox 19"/>
          <p:cNvSpPr txBox="1"/>
          <p:nvPr/>
        </p:nvSpPr>
        <p:spPr>
          <a:xfrm>
            <a:off x="2971800" y="3749039"/>
            <a:ext cx="8046720" cy="438912"/>
          </a:xfrm>
          <a:prstGeom prst="rect">
            <a:avLst/>
          </a:prstGeom>
          <a:noFill/>
        </p:spPr>
        <p:txBody>
          <a:bodyPr wrap="square" lIns="54864" tIns="27432" rIns="54864" bIns="18288">
            <a:spAutoFit/>
          </a:bodyPr>
          <a:lstStyle/>
          <a:p>
            <a:r>
              <a:rPr sz="1200" b="0">
                <a:solidFill>
                  <a:srgbClr val="192B3C"/>
                </a:solidFill>
                <a:latin typeface="Aptos"/>
              </a:rPr>
              <a:t>Queens has the highest displayed average passenger count; Manhattan → Staten Island has the longest displayed average distance.</a:t>
            </a:r>
          </a:p>
        </p:txBody>
      </p:sp>
      <p:sp>
        <p:nvSpPr>
          <p:cNvPr id="21" name="Rectangle 20"/>
          <p:cNvSpPr/>
          <p:nvPr/>
        </p:nvSpPr>
        <p:spPr>
          <a:xfrm>
            <a:off x="822960" y="4535424"/>
            <a:ext cx="137160" cy="53035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43000" y="4562856"/>
            <a:ext cx="1828800" cy="274320"/>
          </a:xfrm>
          <a:prstGeom prst="rect">
            <a:avLst/>
          </a:prstGeom>
          <a:noFill/>
        </p:spPr>
        <p:txBody>
          <a:bodyPr wrap="square" lIns="54864" tIns="27432" rIns="54864" bIns="18288">
            <a:spAutoFit/>
          </a:bodyPr>
          <a:lstStyle/>
          <a:p>
            <a:r>
              <a:rPr sz="1200" b="1">
                <a:solidFill>
                  <a:srgbClr val="0069AA"/>
                </a:solidFill>
                <a:latin typeface="Aptos"/>
              </a:rPr>
              <a:t>Payments &amp; tips</a:t>
            </a:r>
          </a:p>
        </p:txBody>
      </p:sp>
      <p:sp>
        <p:nvSpPr>
          <p:cNvPr id="23" name="TextBox 22"/>
          <p:cNvSpPr txBox="1"/>
          <p:nvPr/>
        </p:nvSpPr>
        <p:spPr>
          <a:xfrm>
            <a:off x="2971800" y="4544568"/>
            <a:ext cx="8046720" cy="438912"/>
          </a:xfrm>
          <a:prstGeom prst="rect">
            <a:avLst/>
          </a:prstGeom>
          <a:noFill/>
        </p:spPr>
        <p:txBody>
          <a:bodyPr wrap="square" lIns="54864" tIns="27432" rIns="54864" bIns="18288">
            <a:spAutoFit/>
          </a:bodyPr>
          <a:lstStyle/>
          <a:p>
            <a:r>
              <a:rPr sz="1200" b="0">
                <a:solidFill>
                  <a:srgbClr val="192B3C"/>
                </a:solidFill>
                <a:latin typeface="Aptos"/>
              </a:rPr>
              <a:t>Payment types 1 and 2 dominate the result; high-tip route ranking needs sample-size and mapping checks.</a:t>
            </a:r>
          </a:p>
        </p:txBody>
      </p:sp>
      <p:sp>
        <p:nvSpPr>
          <p:cNvPr id="24" name="Rounded Rectangle 23"/>
          <p:cNvSpPr/>
          <p:nvPr/>
        </p:nvSpPr>
        <p:spPr>
          <a:xfrm>
            <a:off x="822960" y="5532120"/>
            <a:ext cx="10561320" cy="612648"/>
          </a:xfrm>
          <a:prstGeom prst="roundRect">
            <a:avLst/>
          </a:prstGeom>
          <a:solidFill>
            <a:srgbClr val="FFF8DE"/>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87552" y="5650992"/>
            <a:ext cx="10241280" cy="347472"/>
          </a:xfrm>
          <a:prstGeom prst="rect">
            <a:avLst/>
          </a:prstGeom>
          <a:noFill/>
        </p:spPr>
        <p:txBody>
          <a:bodyPr wrap="square" lIns="54864" tIns="27432" rIns="54864" bIns="18288">
            <a:spAutoFit/>
          </a:bodyPr>
          <a:lstStyle/>
          <a:p>
            <a:r>
              <a:rPr sz="1000" b="1">
                <a:solidFill>
                  <a:srgbClr val="192B3C"/>
                </a:solidFill>
                <a:latin typeface="Aptos"/>
              </a:rPr>
              <a:t>Before final publication: fix the borough UNION list, verify year coverage/revenue units, label payment types, and validate tip-route row alignment.</a:t>
            </a:r>
          </a:p>
        </p:txBody>
      </p:sp>
      <p:sp>
        <p:nvSpPr>
          <p:cNvPr id="26" name="Rectangle 2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28" name="TextBox 2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23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11480"/>
          </a:xfrm>
          <a:prstGeom prst="rect">
            <a:avLst/>
          </a:prstGeom>
          <a:noFill/>
        </p:spPr>
        <p:txBody>
          <a:bodyPr wrap="square" lIns="54864" tIns="27432" rIns="54864" bIns="18288">
            <a:spAutoFit/>
          </a:bodyPr>
          <a:lstStyle/>
          <a:p>
            <a:r>
              <a:rPr sz="2500" b="1">
                <a:solidFill>
                  <a:srgbClr val="051B31"/>
                </a:solidFill>
                <a:latin typeface="Aptos"/>
              </a:rPr>
              <a:t>Next stage  |  Power BI &amp; predictive analytics</a:t>
            </a:r>
          </a:p>
        </p:txBody>
      </p:sp>
      <p:sp>
        <p:nvSpPr>
          <p:cNvPr id="4" name="TextBox 3"/>
          <p:cNvSpPr txBox="1"/>
          <p:nvPr/>
        </p:nvSpPr>
        <p:spPr>
          <a:xfrm>
            <a:off x="621792" y="749808"/>
            <a:ext cx="10972800" cy="246888"/>
          </a:xfrm>
          <a:prstGeom prst="rect">
            <a:avLst/>
          </a:prstGeom>
          <a:noFill/>
        </p:spPr>
        <p:txBody>
          <a:bodyPr wrap="square" lIns="54864" tIns="27432" rIns="54864" bIns="18288">
            <a:spAutoFit/>
          </a:bodyPr>
          <a:lstStyle/>
          <a:p>
            <a:r>
              <a:rPr sz="900" b="1">
                <a:solidFill>
                  <a:srgbClr val="0069AA"/>
                </a:solidFill>
                <a:latin typeface="Aptos"/>
              </a:rPr>
              <a:t>THIS SQL DECK IS DESIGNED TO MERGE WITH THE MATCHING DASHBOARD PRESENTATION LATER.</a:t>
            </a:r>
          </a:p>
        </p:txBody>
      </p:sp>
      <p:sp>
        <p:nvSpPr>
          <p:cNvPr id="5" name="Rectangle 4"/>
          <p:cNvSpPr/>
          <p:nvPr/>
        </p:nvSpPr>
        <p:spPr>
          <a:xfrm>
            <a:off x="621792" y="1078992"/>
            <a:ext cx="82296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8" name="TextBox 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24</a:t>
            </a:r>
          </a:p>
        </p:txBody>
      </p:sp>
      <p:sp>
        <p:nvSpPr>
          <p:cNvPr id="9" name="Rounded Rectangle 8"/>
          <p:cNvSpPr/>
          <p:nvPr/>
        </p:nvSpPr>
        <p:spPr>
          <a:xfrm>
            <a:off x="868680" y="1463040"/>
            <a:ext cx="530352" cy="53035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7552" y="1600200"/>
            <a:ext cx="292608" cy="228600"/>
          </a:xfrm>
          <a:prstGeom prst="rect">
            <a:avLst/>
          </a:prstGeom>
          <a:noFill/>
        </p:spPr>
        <p:txBody>
          <a:bodyPr wrap="square" lIns="54864" tIns="27432" rIns="54864" bIns="18288">
            <a:spAutoFit/>
          </a:bodyPr>
          <a:lstStyle/>
          <a:p>
            <a:pPr algn="ctr"/>
            <a:r>
              <a:rPr sz="1300" b="1">
                <a:solidFill>
                  <a:srgbClr val="051B31"/>
                </a:solidFill>
                <a:latin typeface="Aptos"/>
              </a:rPr>
              <a:t>1</a:t>
            </a:r>
          </a:p>
        </p:txBody>
      </p:sp>
      <p:sp>
        <p:nvSpPr>
          <p:cNvPr id="11" name="TextBox 10"/>
          <p:cNvSpPr txBox="1"/>
          <p:nvPr/>
        </p:nvSpPr>
        <p:spPr>
          <a:xfrm>
            <a:off x="1691640" y="1472184"/>
            <a:ext cx="2331720" cy="292608"/>
          </a:xfrm>
          <a:prstGeom prst="rect">
            <a:avLst/>
          </a:prstGeom>
          <a:noFill/>
        </p:spPr>
        <p:txBody>
          <a:bodyPr wrap="square" lIns="54864" tIns="27432" rIns="54864" bIns="18288">
            <a:spAutoFit/>
          </a:bodyPr>
          <a:lstStyle/>
          <a:p>
            <a:r>
              <a:rPr sz="1400" b="1">
                <a:solidFill>
                  <a:srgbClr val="051B31"/>
                </a:solidFill>
                <a:latin typeface="Aptos"/>
              </a:rPr>
              <a:t>Power BI</a:t>
            </a:r>
          </a:p>
        </p:txBody>
      </p:sp>
      <p:sp>
        <p:nvSpPr>
          <p:cNvPr id="12" name="TextBox 11"/>
          <p:cNvSpPr txBox="1"/>
          <p:nvPr/>
        </p:nvSpPr>
        <p:spPr>
          <a:xfrm>
            <a:off x="3931920" y="1472184"/>
            <a:ext cx="6858000" cy="438912"/>
          </a:xfrm>
          <a:prstGeom prst="rect">
            <a:avLst/>
          </a:prstGeom>
          <a:noFill/>
        </p:spPr>
        <p:txBody>
          <a:bodyPr wrap="square" lIns="54864" tIns="27432" rIns="54864" bIns="18288">
            <a:spAutoFit/>
          </a:bodyPr>
          <a:lstStyle/>
          <a:p>
            <a:r>
              <a:rPr sz="1200" b="0">
                <a:solidFill>
                  <a:srgbClr val="192B3C"/>
                </a:solidFill>
                <a:latin typeface="Aptos"/>
              </a:rPr>
              <a:t>Add dashboard overview, time demand, geographic patterns, passenger/distance, payment/tips pages.</a:t>
            </a:r>
          </a:p>
        </p:txBody>
      </p:sp>
      <p:sp>
        <p:nvSpPr>
          <p:cNvPr id="13" name="Rounded Rectangle 12"/>
          <p:cNvSpPr/>
          <p:nvPr/>
        </p:nvSpPr>
        <p:spPr>
          <a:xfrm>
            <a:off x="868680" y="2487168"/>
            <a:ext cx="530352" cy="53035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87552" y="2624328"/>
            <a:ext cx="292608" cy="228600"/>
          </a:xfrm>
          <a:prstGeom prst="rect">
            <a:avLst/>
          </a:prstGeom>
          <a:noFill/>
        </p:spPr>
        <p:txBody>
          <a:bodyPr wrap="square" lIns="54864" tIns="27432" rIns="54864" bIns="18288">
            <a:spAutoFit/>
          </a:bodyPr>
          <a:lstStyle/>
          <a:p>
            <a:pPr algn="ctr"/>
            <a:r>
              <a:rPr sz="1300" b="1">
                <a:solidFill>
                  <a:srgbClr val="051B31"/>
                </a:solidFill>
                <a:latin typeface="Aptos"/>
              </a:rPr>
              <a:t>2</a:t>
            </a:r>
          </a:p>
        </p:txBody>
      </p:sp>
      <p:sp>
        <p:nvSpPr>
          <p:cNvPr id="15" name="TextBox 14"/>
          <p:cNvSpPr txBox="1"/>
          <p:nvPr/>
        </p:nvSpPr>
        <p:spPr>
          <a:xfrm>
            <a:off x="1691640" y="2496312"/>
            <a:ext cx="2331720" cy="292608"/>
          </a:xfrm>
          <a:prstGeom prst="rect">
            <a:avLst/>
          </a:prstGeom>
          <a:noFill/>
        </p:spPr>
        <p:txBody>
          <a:bodyPr wrap="square" lIns="54864" tIns="27432" rIns="54864" bIns="18288">
            <a:spAutoFit/>
          </a:bodyPr>
          <a:lstStyle/>
          <a:p>
            <a:r>
              <a:rPr sz="1400" b="1">
                <a:solidFill>
                  <a:srgbClr val="051B31"/>
                </a:solidFill>
                <a:latin typeface="Aptos"/>
              </a:rPr>
              <a:t>Demand forecasting</a:t>
            </a:r>
          </a:p>
        </p:txBody>
      </p:sp>
      <p:sp>
        <p:nvSpPr>
          <p:cNvPr id="16" name="TextBox 15"/>
          <p:cNvSpPr txBox="1"/>
          <p:nvPr/>
        </p:nvSpPr>
        <p:spPr>
          <a:xfrm>
            <a:off x="3931920" y="2496312"/>
            <a:ext cx="6858000" cy="438912"/>
          </a:xfrm>
          <a:prstGeom prst="rect">
            <a:avLst/>
          </a:prstGeom>
          <a:noFill/>
        </p:spPr>
        <p:txBody>
          <a:bodyPr wrap="square" lIns="54864" tIns="27432" rIns="54864" bIns="18288">
            <a:spAutoFit/>
          </a:bodyPr>
          <a:lstStyle/>
          <a:p>
            <a:r>
              <a:rPr sz="1200" b="0">
                <a:solidFill>
                  <a:srgbClr val="192B3C"/>
                </a:solidFill>
                <a:latin typeface="Aptos"/>
              </a:rPr>
              <a:t>Add model features, train/test split, evaluation metrics, and forecast chart.</a:t>
            </a:r>
          </a:p>
        </p:txBody>
      </p:sp>
      <p:sp>
        <p:nvSpPr>
          <p:cNvPr id="17" name="Rounded Rectangle 16"/>
          <p:cNvSpPr/>
          <p:nvPr/>
        </p:nvSpPr>
        <p:spPr>
          <a:xfrm>
            <a:off x="868680" y="3511296"/>
            <a:ext cx="530352" cy="53035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87552" y="3648456"/>
            <a:ext cx="292608" cy="228600"/>
          </a:xfrm>
          <a:prstGeom prst="rect">
            <a:avLst/>
          </a:prstGeom>
          <a:noFill/>
        </p:spPr>
        <p:txBody>
          <a:bodyPr wrap="square" lIns="54864" tIns="27432" rIns="54864" bIns="18288">
            <a:spAutoFit/>
          </a:bodyPr>
          <a:lstStyle/>
          <a:p>
            <a:pPr algn="ctr"/>
            <a:r>
              <a:rPr sz="1300" b="1">
                <a:solidFill>
                  <a:srgbClr val="051B31"/>
                </a:solidFill>
                <a:latin typeface="Aptos"/>
              </a:rPr>
              <a:t>3</a:t>
            </a:r>
          </a:p>
        </p:txBody>
      </p:sp>
      <p:sp>
        <p:nvSpPr>
          <p:cNvPr id="19" name="TextBox 18"/>
          <p:cNvSpPr txBox="1"/>
          <p:nvPr/>
        </p:nvSpPr>
        <p:spPr>
          <a:xfrm>
            <a:off x="1691640" y="3520440"/>
            <a:ext cx="2331720" cy="292608"/>
          </a:xfrm>
          <a:prstGeom prst="rect">
            <a:avLst/>
          </a:prstGeom>
          <a:noFill/>
        </p:spPr>
        <p:txBody>
          <a:bodyPr wrap="square" lIns="54864" tIns="27432" rIns="54864" bIns="18288">
            <a:spAutoFit/>
          </a:bodyPr>
          <a:lstStyle/>
          <a:p>
            <a:r>
              <a:rPr sz="1400" b="1">
                <a:solidFill>
                  <a:srgbClr val="051B31"/>
                </a:solidFill>
                <a:latin typeface="Aptos"/>
              </a:rPr>
              <a:t>High-tip prediction</a:t>
            </a:r>
          </a:p>
        </p:txBody>
      </p:sp>
      <p:sp>
        <p:nvSpPr>
          <p:cNvPr id="20" name="TextBox 19"/>
          <p:cNvSpPr txBox="1"/>
          <p:nvPr/>
        </p:nvSpPr>
        <p:spPr>
          <a:xfrm>
            <a:off x="3931920" y="3520440"/>
            <a:ext cx="6858000" cy="438912"/>
          </a:xfrm>
          <a:prstGeom prst="rect">
            <a:avLst/>
          </a:prstGeom>
          <a:noFill/>
        </p:spPr>
        <p:txBody>
          <a:bodyPr wrap="square" lIns="54864" tIns="27432" rIns="54864" bIns="18288">
            <a:spAutoFit/>
          </a:bodyPr>
          <a:lstStyle/>
          <a:p>
            <a:r>
              <a:rPr sz="1200" b="0">
                <a:solidFill>
                  <a:srgbClr val="192B3C"/>
                </a:solidFill>
                <a:latin typeface="Aptos"/>
              </a:rPr>
              <a:t>Add target definition, model selection, evaluation metrics, and practical caveats.</a:t>
            </a:r>
          </a:p>
        </p:txBody>
      </p:sp>
      <p:sp>
        <p:nvSpPr>
          <p:cNvPr id="21" name="Rounded Rectangle 20"/>
          <p:cNvSpPr/>
          <p:nvPr/>
        </p:nvSpPr>
        <p:spPr>
          <a:xfrm>
            <a:off x="868680" y="4535424"/>
            <a:ext cx="530352" cy="53035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87552" y="4672584"/>
            <a:ext cx="292608" cy="228600"/>
          </a:xfrm>
          <a:prstGeom prst="rect">
            <a:avLst/>
          </a:prstGeom>
          <a:noFill/>
        </p:spPr>
        <p:txBody>
          <a:bodyPr wrap="square" lIns="54864" tIns="27432" rIns="54864" bIns="18288">
            <a:spAutoFit/>
          </a:bodyPr>
          <a:lstStyle/>
          <a:p>
            <a:pPr algn="ctr"/>
            <a:r>
              <a:rPr sz="1300" b="1">
                <a:solidFill>
                  <a:srgbClr val="051B31"/>
                </a:solidFill>
                <a:latin typeface="Aptos"/>
              </a:rPr>
              <a:t>4</a:t>
            </a:r>
          </a:p>
        </p:txBody>
      </p:sp>
      <p:sp>
        <p:nvSpPr>
          <p:cNvPr id="23" name="TextBox 22"/>
          <p:cNvSpPr txBox="1"/>
          <p:nvPr/>
        </p:nvSpPr>
        <p:spPr>
          <a:xfrm>
            <a:off x="1691640" y="4544568"/>
            <a:ext cx="2331720" cy="292608"/>
          </a:xfrm>
          <a:prstGeom prst="rect">
            <a:avLst/>
          </a:prstGeom>
          <a:noFill/>
        </p:spPr>
        <p:txBody>
          <a:bodyPr wrap="square" lIns="54864" tIns="27432" rIns="54864" bIns="18288">
            <a:spAutoFit/>
          </a:bodyPr>
          <a:lstStyle/>
          <a:p>
            <a:r>
              <a:rPr sz="1400" b="1">
                <a:solidFill>
                  <a:srgbClr val="051B31"/>
                </a:solidFill>
                <a:latin typeface="Aptos"/>
              </a:rPr>
              <a:t>Final recommendation</a:t>
            </a:r>
          </a:p>
        </p:txBody>
      </p:sp>
      <p:sp>
        <p:nvSpPr>
          <p:cNvPr id="24" name="TextBox 23"/>
          <p:cNvSpPr txBox="1"/>
          <p:nvPr/>
        </p:nvSpPr>
        <p:spPr>
          <a:xfrm>
            <a:off x="3931920" y="4544568"/>
            <a:ext cx="6858000" cy="438912"/>
          </a:xfrm>
          <a:prstGeom prst="rect">
            <a:avLst/>
          </a:prstGeom>
          <a:noFill/>
        </p:spPr>
        <p:txBody>
          <a:bodyPr wrap="square" lIns="54864" tIns="27432" rIns="54864" bIns="18288">
            <a:spAutoFit/>
          </a:bodyPr>
          <a:lstStyle/>
          <a:p>
            <a:r>
              <a:rPr sz="1200" b="0">
                <a:solidFill>
                  <a:srgbClr val="192B3C"/>
                </a:solidFill>
                <a:latin typeface="Aptos"/>
              </a:rPr>
              <a:t>Combine SQL and dashboard evidence into operational actions.</a:t>
            </a:r>
          </a:p>
        </p:txBody>
      </p:sp>
      <p:sp>
        <p:nvSpPr>
          <p:cNvPr id="25" name="TextBox 24"/>
          <p:cNvSpPr txBox="1"/>
          <p:nvPr/>
        </p:nvSpPr>
        <p:spPr>
          <a:xfrm>
            <a:off x="868680" y="5852160"/>
            <a:ext cx="9966960" cy="274320"/>
          </a:xfrm>
          <a:prstGeom prst="rect">
            <a:avLst/>
          </a:prstGeom>
          <a:noFill/>
        </p:spPr>
        <p:txBody>
          <a:bodyPr wrap="square" lIns="54864" tIns="27432" rIns="54864" bIns="18288">
            <a:spAutoFit/>
          </a:bodyPr>
          <a:lstStyle/>
          <a:p>
            <a:r>
              <a:rPr sz="1100" b="1">
                <a:solidFill>
                  <a:srgbClr val="0069AA"/>
                </a:solidFill>
                <a:latin typeface="Aptos"/>
              </a:rPr>
              <a:t>End of SQL analysis section  •  Power BI screenshots to follow</a:t>
            </a:r>
          </a:p>
        </p:txBody>
      </p:sp>
      <p:sp>
        <p:nvSpPr>
          <p:cNvPr id="26" name="Rectangle 25"/>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6473952"/>
            <a:ext cx="7315200" cy="164592"/>
          </a:xfrm>
          <a:prstGeom prst="rect">
            <a:avLst/>
          </a:prstGeom>
          <a:noFill/>
        </p:spPr>
        <p:txBody>
          <a:bodyPr wrap="square" lIns="54864" tIns="27432" rIns="54864" bIns="18288">
            <a:spAutoFit/>
          </a:bodyPr>
          <a:lstStyle/>
          <a:p>
            <a:r>
              <a:rPr sz="800" b="1">
                <a:solidFill>
                  <a:srgbClr val="5F6F7F"/>
                </a:solidFill>
                <a:latin typeface="Aptos"/>
              </a:rPr>
              <a:t>UBER TRIPS ANALYTICS  •  SQL CAPSTONE</a:t>
            </a:r>
          </a:p>
        </p:txBody>
      </p:sp>
      <p:sp>
        <p:nvSpPr>
          <p:cNvPr id="28" name="TextBox 27"/>
          <p:cNvSpPr txBox="1"/>
          <p:nvPr/>
        </p:nvSpPr>
        <p:spPr>
          <a:xfrm>
            <a:off x="11064240" y="6455664"/>
            <a:ext cx="548640" cy="182880"/>
          </a:xfrm>
          <a:prstGeom prst="rect">
            <a:avLst/>
          </a:prstGeom>
          <a:noFill/>
        </p:spPr>
        <p:txBody>
          <a:bodyPr wrap="square" lIns="54864" tIns="27432" rIns="54864" bIns="18288">
            <a:spAutoFit/>
          </a:bodyPr>
          <a:lstStyle/>
          <a:p>
            <a:pPr algn="r"/>
            <a:r>
              <a:rPr sz="900" b="1">
                <a:solidFill>
                  <a:srgbClr val="5F6F7F"/>
                </a:solidFill>
                <a:latin typeface="Aptos"/>
              </a:rPr>
              <a:t>24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93408"/>
            <a:ext cx="12191695" cy="1645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58368" y="658368"/>
            <a:ext cx="5166360" cy="5440680"/>
          </a:xfrm>
          <a:prstGeom prst="roundRect">
            <a:avLst/>
          </a:prstGeom>
          <a:solidFill>
            <a:srgbClr val="0A2033"/>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960120"/>
            <a:ext cx="4480560" cy="384048"/>
          </a:xfrm>
          <a:prstGeom prst="rect">
            <a:avLst/>
          </a:prstGeom>
          <a:noFill/>
        </p:spPr>
        <p:txBody>
          <a:bodyPr wrap="square" lIns="64008" tIns="36576" rIns="64008" bIns="18288" anchor="t">
            <a:spAutoFit/>
          </a:bodyPr>
          <a:lstStyle/>
          <a:p>
            <a:r>
              <a:rPr sz="1600" b="1">
                <a:solidFill>
                  <a:srgbClr val="FFC400"/>
                </a:solidFill>
                <a:latin typeface="Aptos"/>
              </a:rPr>
              <a:t>UBER TRIPS ANALYTICS</a:t>
            </a:r>
          </a:p>
        </p:txBody>
      </p:sp>
      <p:sp>
        <p:nvSpPr>
          <p:cNvPr id="6" name="TextBox 5"/>
          <p:cNvSpPr txBox="1"/>
          <p:nvPr/>
        </p:nvSpPr>
        <p:spPr>
          <a:xfrm>
            <a:off x="960120" y="1572768"/>
            <a:ext cx="4480560" cy="1234440"/>
          </a:xfrm>
          <a:prstGeom prst="rect">
            <a:avLst/>
          </a:prstGeom>
          <a:noFill/>
        </p:spPr>
        <p:txBody>
          <a:bodyPr wrap="square" lIns="64008" tIns="36576" rIns="64008" bIns="18288" anchor="t">
            <a:spAutoFit/>
          </a:bodyPr>
          <a:lstStyle/>
          <a:p>
            <a:r>
              <a:rPr sz="3000" b="1">
                <a:solidFill>
                  <a:srgbClr val="FFFFFF"/>
                </a:solidFill>
                <a:latin typeface="Aptos"/>
              </a:rPr>
              <a:t>POWER BI
DASHBOARD STORY</a:t>
            </a:r>
          </a:p>
        </p:txBody>
      </p:sp>
      <p:sp>
        <p:nvSpPr>
          <p:cNvPr id="7" name="TextBox 6"/>
          <p:cNvSpPr txBox="1"/>
          <p:nvPr/>
        </p:nvSpPr>
        <p:spPr>
          <a:xfrm>
            <a:off x="987552" y="2971800"/>
            <a:ext cx="4389120" cy="640080"/>
          </a:xfrm>
          <a:prstGeom prst="rect">
            <a:avLst/>
          </a:prstGeom>
          <a:noFill/>
        </p:spPr>
        <p:txBody>
          <a:bodyPr wrap="square" lIns="64008" tIns="36576" rIns="64008" bIns="18288" anchor="t">
            <a:spAutoFit/>
          </a:bodyPr>
          <a:lstStyle/>
          <a:p>
            <a:r>
              <a:rPr sz="1700" b="0">
                <a:solidFill>
                  <a:srgbClr val="C3CFDA"/>
                </a:solidFill>
                <a:latin typeface="Aptos"/>
              </a:rPr>
              <a:t>From operational data to visual insights and decisions</a:t>
            </a:r>
          </a:p>
        </p:txBody>
      </p:sp>
      <p:sp>
        <p:nvSpPr>
          <p:cNvPr id="8" name="Rectangle 7"/>
          <p:cNvSpPr/>
          <p:nvPr/>
        </p:nvSpPr>
        <p:spPr>
          <a:xfrm>
            <a:off x="987552" y="3913632"/>
            <a:ext cx="214884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87552" y="4187952"/>
            <a:ext cx="4389120" cy="640080"/>
          </a:xfrm>
          <a:prstGeom prst="rect">
            <a:avLst/>
          </a:prstGeom>
          <a:noFill/>
        </p:spPr>
        <p:txBody>
          <a:bodyPr wrap="square" lIns="64008" tIns="36576" rIns="64008" bIns="18288" anchor="t">
            <a:spAutoFit/>
          </a:bodyPr>
          <a:lstStyle/>
          <a:p>
            <a:r>
              <a:rPr sz="1200" b="1">
                <a:solidFill>
                  <a:srgbClr val="FFC400"/>
                </a:solidFill>
                <a:latin typeface="Aptos"/>
              </a:rPr>
              <a:t>POWER BI EDITION  •  5 DASHBOARDS</a:t>
            </a:r>
          </a:p>
        </p:txBody>
      </p:sp>
      <p:sp>
        <p:nvSpPr>
          <p:cNvPr id="10" name="TextBox 9"/>
          <p:cNvSpPr txBox="1"/>
          <p:nvPr/>
        </p:nvSpPr>
        <p:spPr>
          <a:xfrm>
            <a:off x="987552" y="5074920"/>
            <a:ext cx="4434840" cy="457200"/>
          </a:xfrm>
          <a:prstGeom prst="rect">
            <a:avLst/>
          </a:prstGeom>
          <a:noFill/>
        </p:spPr>
        <p:txBody>
          <a:bodyPr wrap="square" lIns="64008" tIns="36576" rIns="64008" bIns="18288" anchor="t">
            <a:spAutoFit/>
          </a:bodyPr>
          <a:lstStyle/>
          <a:p>
            <a:r>
              <a:rPr sz="1100" b="1">
                <a:solidFill>
                  <a:srgbClr val="FFFFFF"/>
                </a:solidFill>
                <a:latin typeface="Aptos"/>
              </a:rPr>
              <a:t>NYC GREEN TAXI TRIPS  |  2017–2020</a:t>
            </a:r>
          </a:p>
        </p:txBody>
      </p:sp>
      <p:sp>
        <p:nvSpPr>
          <p:cNvPr id="11" name="TextBox 10"/>
          <p:cNvSpPr txBox="1"/>
          <p:nvPr/>
        </p:nvSpPr>
        <p:spPr>
          <a:xfrm>
            <a:off x="6492240" y="914400"/>
            <a:ext cx="4846320" cy="594360"/>
          </a:xfrm>
          <a:prstGeom prst="rect">
            <a:avLst/>
          </a:prstGeom>
          <a:noFill/>
        </p:spPr>
        <p:txBody>
          <a:bodyPr wrap="square" lIns="64008" tIns="36576" rIns="64008" bIns="18288" anchor="t">
            <a:spAutoFit/>
          </a:bodyPr>
          <a:lstStyle/>
          <a:p>
            <a:pPr algn="ctr"/>
            <a:r>
              <a:rPr sz="4400" b="0">
                <a:solidFill>
                  <a:srgbClr val="FFC400"/>
                </a:solidFill>
                <a:latin typeface="Aptos"/>
              </a:rPr>
              <a:t>🚕</a:t>
            </a:r>
          </a:p>
        </p:txBody>
      </p:sp>
      <p:sp>
        <p:nvSpPr>
          <p:cNvPr id="12" name="TextBox 11"/>
          <p:cNvSpPr txBox="1"/>
          <p:nvPr/>
        </p:nvSpPr>
        <p:spPr>
          <a:xfrm>
            <a:off x="6537960" y="1627632"/>
            <a:ext cx="4754880" cy="411480"/>
          </a:xfrm>
          <a:prstGeom prst="rect">
            <a:avLst/>
          </a:prstGeom>
          <a:noFill/>
        </p:spPr>
        <p:txBody>
          <a:bodyPr wrap="square" lIns="64008" tIns="36576" rIns="64008" bIns="18288" anchor="t">
            <a:spAutoFit/>
          </a:bodyPr>
          <a:lstStyle/>
          <a:p>
            <a:pPr algn="ctr"/>
            <a:r>
              <a:rPr sz="1200" b="1">
                <a:solidFill>
                  <a:srgbClr val="FFFFFF"/>
                </a:solidFill>
                <a:latin typeface="Aptos"/>
              </a:rPr>
              <a:t>NYC MOBILITY • REVENUE • DEMAND</a:t>
            </a:r>
          </a:p>
        </p:txBody>
      </p:sp>
      <p:sp>
        <p:nvSpPr>
          <p:cNvPr id="13" name="Rectangle 12"/>
          <p:cNvSpPr/>
          <p:nvPr/>
        </p:nvSpPr>
        <p:spPr>
          <a:xfrm>
            <a:off x="6400800" y="3186684"/>
            <a:ext cx="384048" cy="1554480"/>
          </a:xfrm>
          <a:prstGeom prst="rect">
            <a:avLst/>
          </a:prstGeom>
          <a:solidFill>
            <a:srgbClr val="0A2033"/>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73952" y="3250692"/>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611112" y="3250692"/>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73952" y="3415284"/>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611112" y="3415284"/>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73952" y="3579876"/>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611112" y="3579876"/>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473952" y="3744468"/>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611112" y="3744468"/>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473952" y="3909060"/>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611112" y="3909060"/>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903720" y="2898648"/>
            <a:ext cx="384048" cy="2194560"/>
          </a:xfrm>
          <a:prstGeom prst="rect">
            <a:avLst/>
          </a:prstGeom>
          <a:solidFill>
            <a:srgbClr val="0A2033"/>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976872" y="2962656"/>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114032" y="2962656"/>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976872" y="3127248"/>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114032" y="3127248"/>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976872" y="3291840"/>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114032" y="3291840"/>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976872" y="3456432"/>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114032" y="3456432"/>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976872" y="3621024"/>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114032" y="3621024"/>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976872" y="3785616"/>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114032" y="3785616"/>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976872" y="3950208"/>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7114032" y="3950208"/>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7479792" y="3330702"/>
            <a:ext cx="384048" cy="1234440"/>
          </a:xfrm>
          <a:prstGeom prst="rect">
            <a:avLst/>
          </a:prstGeom>
          <a:solidFill>
            <a:srgbClr val="0A2033"/>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7552944" y="3394710"/>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690104" y="3394710"/>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552944" y="3559302"/>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690104" y="3559302"/>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7552944" y="3723894"/>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7690104" y="3723894"/>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7552944" y="3888486"/>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7690104" y="3888486"/>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001000" y="2734056"/>
            <a:ext cx="384048" cy="2560320"/>
          </a:xfrm>
          <a:prstGeom prst="rect">
            <a:avLst/>
          </a:prstGeom>
          <a:solidFill>
            <a:srgbClr val="0A2033"/>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8074152" y="2798064"/>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8211312" y="2798064"/>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8074152" y="2962656"/>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8211312" y="2962656"/>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8074152" y="3127248"/>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8211312" y="3127248"/>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8074152" y="3291840"/>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8211312" y="3291840"/>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074152" y="3456432"/>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211312" y="3456432"/>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8074152" y="3621024"/>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211312" y="3621024"/>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8074152" y="3785616"/>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8211312" y="3785616"/>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8074152" y="3950208"/>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8211312" y="3950208"/>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8641080" y="3104388"/>
            <a:ext cx="384048" cy="1737360"/>
          </a:xfrm>
          <a:prstGeom prst="rect">
            <a:avLst/>
          </a:prstGeom>
          <a:solidFill>
            <a:srgbClr val="0A2033"/>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8714232" y="3168396"/>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8851392" y="3168396"/>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8714232" y="3332988"/>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8851392" y="3332988"/>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8714232" y="3497580"/>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8851392" y="3497580"/>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8714232" y="3662172"/>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8851392" y="3662172"/>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8714232" y="3826764"/>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8851392" y="3826764"/>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9189720" y="2919222"/>
            <a:ext cx="384048" cy="2148840"/>
          </a:xfrm>
          <a:prstGeom prst="rect">
            <a:avLst/>
          </a:prstGeom>
          <a:solidFill>
            <a:srgbClr val="0A2033"/>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262872" y="2983230"/>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9400032" y="2983230"/>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9262872" y="3147822"/>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9400032" y="3147822"/>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9262872" y="3312414"/>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9400032" y="3312414"/>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9262872" y="3477006"/>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9400032" y="3477006"/>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9262872" y="3641598"/>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9400032" y="3641598"/>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9262872" y="3806189"/>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9400032" y="3806189"/>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9262872" y="3970782"/>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9400032" y="3970782"/>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9802368" y="3248406"/>
            <a:ext cx="384048" cy="1417320"/>
          </a:xfrm>
          <a:prstGeom prst="rect">
            <a:avLst/>
          </a:prstGeom>
          <a:solidFill>
            <a:srgbClr val="0A2033"/>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9875520" y="3312414"/>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10012680" y="3312414"/>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9875520" y="3477006"/>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10012680" y="3477006"/>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ectangle 95"/>
          <p:cNvSpPr/>
          <p:nvPr/>
        </p:nvSpPr>
        <p:spPr>
          <a:xfrm>
            <a:off x="9875520" y="3641598"/>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p:cNvSpPr/>
          <p:nvPr/>
        </p:nvSpPr>
        <p:spPr>
          <a:xfrm>
            <a:off x="10012680" y="3641598"/>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9875520" y="3806190"/>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p:cNvSpPr/>
          <p:nvPr/>
        </p:nvSpPr>
        <p:spPr>
          <a:xfrm>
            <a:off x="10012680" y="3806190"/>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p:cNvSpPr/>
          <p:nvPr/>
        </p:nvSpPr>
        <p:spPr>
          <a:xfrm>
            <a:off x="10332720" y="2816352"/>
            <a:ext cx="384048" cy="2377440"/>
          </a:xfrm>
          <a:prstGeom prst="rect">
            <a:avLst/>
          </a:prstGeom>
          <a:solidFill>
            <a:srgbClr val="0A2033"/>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10405872" y="2880360"/>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10543032" y="2880360"/>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p:cNvSpPr/>
          <p:nvPr/>
        </p:nvSpPr>
        <p:spPr>
          <a:xfrm>
            <a:off x="10405872" y="3044952"/>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ectangle 103"/>
          <p:cNvSpPr/>
          <p:nvPr/>
        </p:nvSpPr>
        <p:spPr>
          <a:xfrm>
            <a:off x="10543032" y="3044952"/>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ectangle 104"/>
          <p:cNvSpPr/>
          <p:nvPr/>
        </p:nvSpPr>
        <p:spPr>
          <a:xfrm>
            <a:off x="10405872" y="3209544"/>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angle 105"/>
          <p:cNvSpPr/>
          <p:nvPr/>
        </p:nvSpPr>
        <p:spPr>
          <a:xfrm>
            <a:off x="10543032" y="3209544"/>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10405872" y="3374136"/>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a:off x="10543032" y="3374136"/>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10405872" y="3538728"/>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ectangle 109"/>
          <p:cNvSpPr/>
          <p:nvPr/>
        </p:nvSpPr>
        <p:spPr>
          <a:xfrm>
            <a:off x="10543032" y="3538728"/>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10405872" y="3703320"/>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ectangle 111"/>
          <p:cNvSpPr/>
          <p:nvPr/>
        </p:nvSpPr>
        <p:spPr>
          <a:xfrm>
            <a:off x="10543032" y="3703320"/>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ectangle 112"/>
          <p:cNvSpPr/>
          <p:nvPr/>
        </p:nvSpPr>
        <p:spPr>
          <a:xfrm>
            <a:off x="10405872" y="3867912"/>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113"/>
          <p:cNvSpPr/>
          <p:nvPr/>
        </p:nvSpPr>
        <p:spPr>
          <a:xfrm>
            <a:off x="10543032" y="3867912"/>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ectangle 114"/>
          <p:cNvSpPr/>
          <p:nvPr/>
        </p:nvSpPr>
        <p:spPr>
          <a:xfrm>
            <a:off x="10972800" y="3145536"/>
            <a:ext cx="384048" cy="1645920"/>
          </a:xfrm>
          <a:prstGeom prst="rect">
            <a:avLst/>
          </a:prstGeom>
          <a:solidFill>
            <a:srgbClr val="0A2033"/>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ectangle 115"/>
          <p:cNvSpPr/>
          <p:nvPr/>
        </p:nvSpPr>
        <p:spPr>
          <a:xfrm>
            <a:off x="11045952" y="3209544"/>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11183112" y="3209544"/>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ectangle 117"/>
          <p:cNvSpPr/>
          <p:nvPr/>
        </p:nvSpPr>
        <p:spPr>
          <a:xfrm>
            <a:off x="11045952" y="3374136"/>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ectangle 118"/>
          <p:cNvSpPr/>
          <p:nvPr/>
        </p:nvSpPr>
        <p:spPr>
          <a:xfrm>
            <a:off x="11183112" y="3374136"/>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ectangle 119"/>
          <p:cNvSpPr/>
          <p:nvPr/>
        </p:nvSpPr>
        <p:spPr>
          <a:xfrm>
            <a:off x="11045952" y="3538728"/>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120"/>
          <p:cNvSpPr/>
          <p:nvPr/>
        </p:nvSpPr>
        <p:spPr>
          <a:xfrm>
            <a:off x="11183112" y="3538728"/>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ectangle 121"/>
          <p:cNvSpPr/>
          <p:nvPr/>
        </p:nvSpPr>
        <p:spPr>
          <a:xfrm>
            <a:off x="11045952" y="3703320"/>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ectangle 122"/>
          <p:cNvSpPr/>
          <p:nvPr/>
        </p:nvSpPr>
        <p:spPr>
          <a:xfrm>
            <a:off x="11183112" y="3703320"/>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ectangle 123"/>
          <p:cNvSpPr/>
          <p:nvPr/>
        </p:nvSpPr>
        <p:spPr>
          <a:xfrm>
            <a:off x="11045952" y="3867912"/>
            <a:ext cx="50292" cy="64008"/>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ectangle 124"/>
          <p:cNvSpPr/>
          <p:nvPr/>
        </p:nvSpPr>
        <p:spPr>
          <a:xfrm>
            <a:off x="11183112" y="3867912"/>
            <a:ext cx="50292" cy="64008"/>
          </a:xfrm>
          <a:prstGeom prst="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Rectangle 125"/>
          <p:cNvSpPr/>
          <p:nvPr/>
        </p:nvSpPr>
        <p:spPr>
          <a:xfrm>
            <a:off x="6263640" y="3886200"/>
            <a:ext cx="5394960" cy="7315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6446520" y="4572000"/>
            <a:ext cx="4937760" cy="594360"/>
          </a:xfrm>
          <a:prstGeom prst="rect">
            <a:avLst/>
          </a:prstGeom>
          <a:noFill/>
        </p:spPr>
        <p:txBody>
          <a:bodyPr wrap="square" lIns="64008" tIns="36576" rIns="64008" bIns="18288" anchor="t">
            <a:spAutoFit/>
          </a:bodyPr>
          <a:lstStyle/>
          <a:p>
            <a:pPr algn="ctr"/>
            <a:r>
              <a:rPr sz="1300" b="1">
                <a:solidFill>
                  <a:srgbClr val="FFFFFF"/>
                </a:solidFill>
                <a:latin typeface="Aptos"/>
              </a:rPr>
              <a:t>SQL + POWER BI = A COMPLETE ANALYTICS STORY</a:t>
            </a:r>
          </a:p>
        </p:txBody>
      </p:sp>
      <p:sp>
        <p:nvSpPr>
          <p:cNvPr id="128" name="TextBox 127"/>
          <p:cNvSpPr txBox="1"/>
          <p:nvPr/>
        </p:nvSpPr>
        <p:spPr>
          <a:xfrm>
            <a:off x="6446520" y="5257800"/>
            <a:ext cx="4937760" cy="457200"/>
          </a:xfrm>
          <a:prstGeom prst="rect">
            <a:avLst/>
          </a:prstGeom>
          <a:noFill/>
        </p:spPr>
        <p:txBody>
          <a:bodyPr wrap="square" lIns="64008" tIns="36576" rIns="64008" bIns="18288" anchor="t">
            <a:spAutoFit/>
          </a:bodyPr>
          <a:lstStyle/>
          <a:p>
            <a:pPr algn="ctr"/>
            <a:r>
              <a:rPr sz="1100" b="0">
                <a:solidFill>
                  <a:srgbClr val="C3CFDA"/>
                </a:solidFill>
                <a:latin typeface="Aptos"/>
              </a:rPr>
              <a:t>Five interactive report pages explained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37160"/>
            <a:ext cx="1325880" cy="6720840"/>
          </a:xfrm>
          <a:prstGeom prst="rect">
            <a:avLst/>
          </a:prstGeom>
          <a:solidFill>
            <a:srgbClr val="051422"/>
          </a:solidFill>
          <a:ln>
            <a:solidFill>
              <a:srgbClr val="0514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 y="256032"/>
            <a:ext cx="1024128" cy="411480"/>
          </a:xfrm>
          <a:prstGeom prst="rect">
            <a:avLst/>
          </a:prstGeom>
          <a:noFill/>
        </p:spPr>
        <p:txBody>
          <a:bodyPr wrap="square" lIns="64008" tIns="36576" rIns="64008" bIns="18288" anchor="t">
            <a:spAutoFit/>
          </a:bodyPr>
          <a:lstStyle/>
          <a:p>
            <a:pPr algn="ctr"/>
            <a:r>
              <a:rPr sz="2300" b="1">
                <a:solidFill>
                  <a:srgbClr val="FFFFFF"/>
                </a:solidFill>
                <a:latin typeface="Aptos"/>
              </a:rPr>
              <a:t>Uber</a:t>
            </a:r>
          </a:p>
        </p:txBody>
      </p:sp>
      <p:sp>
        <p:nvSpPr>
          <p:cNvPr id="5" name="Rectangle 4"/>
          <p:cNvSpPr/>
          <p:nvPr/>
        </p:nvSpPr>
        <p:spPr>
          <a:xfrm>
            <a:off x="1261872" y="256032"/>
            <a:ext cx="32004" cy="3657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1051560"/>
            <a:ext cx="960120" cy="594360"/>
          </a:xfrm>
          <a:prstGeom prst="rect">
            <a:avLst/>
          </a:prstGeom>
          <a:noFill/>
        </p:spPr>
        <p:txBody>
          <a:bodyPr wrap="square" lIns="64008" tIns="36576" rIns="64008" bIns="18288" anchor="t">
            <a:spAutoFit/>
          </a:bodyPr>
          <a:lstStyle/>
          <a:p>
            <a:pPr algn="ctr"/>
            <a:r>
              <a:rPr sz="1000" b="1">
                <a:solidFill>
                  <a:srgbClr val="FFC400"/>
                </a:solidFill>
                <a:latin typeface="Aptos"/>
              </a:rPr>
              <a:t>TRIPS
ANALYTICS</a:t>
            </a:r>
          </a:p>
        </p:txBody>
      </p:sp>
      <p:sp>
        <p:nvSpPr>
          <p:cNvPr id="7" name="TextBox 6"/>
          <p:cNvSpPr txBox="1"/>
          <p:nvPr/>
        </p:nvSpPr>
        <p:spPr>
          <a:xfrm>
            <a:off x="146304" y="4892040"/>
            <a:ext cx="1051560" cy="347472"/>
          </a:xfrm>
          <a:prstGeom prst="rect">
            <a:avLst/>
          </a:prstGeom>
          <a:noFill/>
        </p:spPr>
        <p:txBody>
          <a:bodyPr wrap="square" lIns="64008" tIns="36576" rIns="64008" bIns="18288" anchor="t">
            <a:spAutoFit/>
          </a:bodyPr>
          <a:lstStyle/>
          <a:p>
            <a:pPr algn="ctr"/>
            <a:r>
              <a:rPr sz="2600" b="0">
                <a:solidFill>
                  <a:srgbClr val="FFC400"/>
                </a:solidFill>
                <a:latin typeface="Aptos"/>
              </a:rPr>
              <a:t>🚕</a:t>
            </a:r>
          </a:p>
        </p:txBody>
      </p:sp>
      <p:sp>
        <p:nvSpPr>
          <p:cNvPr id="8" name="TextBox 7"/>
          <p:cNvSpPr txBox="1"/>
          <p:nvPr/>
        </p:nvSpPr>
        <p:spPr>
          <a:xfrm>
            <a:off x="109728" y="5303520"/>
            <a:ext cx="1097280" cy="685800"/>
          </a:xfrm>
          <a:prstGeom prst="rect">
            <a:avLst/>
          </a:prstGeom>
          <a:noFill/>
        </p:spPr>
        <p:txBody>
          <a:bodyPr wrap="square" lIns="64008" tIns="36576" rIns="64008" bIns="18288" anchor="t">
            <a:spAutoFit/>
          </a:bodyPr>
          <a:lstStyle/>
          <a:p>
            <a:pPr algn="ctr"/>
            <a:r>
              <a:rPr sz="800" b="1">
                <a:solidFill>
                  <a:srgbClr val="C3CFDA"/>
                </a:solidFill>
                <a:latin typeface="Aptos"/>
              </a:rPr>
              <a:t>NYC GREEN TAXI
DATA PROJECT</a:t>
            </a:r>
          </a:p>
        </p:txBody>
      </p:sp>
      <p:sp>
        <p:nvSpPr>
          <p:cNvPr id="9" name="TextBox 8"/>
          <p:cNvSpPr txBox="1"/>
          <p:nvPr/>
        </p:nvSpPr>
        <p:spPr>
          <a:xfrm>
            <a:off x="1645920" y="292608"/>
            <a:ext cx="9966960" cy="457200"/>
          </a:xfrm>
          <a:prstGeom prst="rect">
            <a:avLst/>
          </a:prstGeom>
          <a:noFill/>
        </p:spPr>
        <p:txBody>
          <a:bodyPr wrap="square" lIns="64008" tIns="36576" rIns="64008" bIns="18288" anchor="t">
            <a:spAutoFit/>
          </a:bodyPr>
          <a:lstStyle/>
          <a:p>
            <a:r>
              <a:rPr sz="2300" b="1">
                <a:solidFill>
                  <a:srgbClr val="051422"/>
                </a:solidFill>
                <a:latin typeface="Aptos"/>
              </a:rPr>
              <a:t>Presentation Roadmap</a:t>
            </a:r>
          </a:p>
        </p:txBody>
      </p:sp>
      <p:sp>
        <p:nvSpPr>
          <p:cNvPr id="10" name="TextBox 9"/>
          <p:cNvSpPr txBox="1"/>
          <p:nvPr/>
        </p:nvSpPr>
        <p:spPr>
          <a:xfrm>
            <a:off x="1664208" y="768096"/>
            <a:ext cx="9144000" cy="228600"/>
          </a:xfrm>
          <a:prstGeom prst="rect">
            <a:avLst/>
          </a:prstGeom>
          <a:noFill/>
        </p:spPr>
        <p:txBody>
          <a:bodyPr wrap="square" lIns="64008" tIns="36576" rIns="64008" bIns="18288" anchor="t">
            <a:spAutoFit/>
          </a:bodyPr>
          <a:lstStyle/>
          <a:p>
            <a:r>
              <a:rPr sz="900" b="1">
                <a:solidFill>
                  <a:srgbClr val="007EBE"/>
                </a:solidFill>
                <a:latin typeface="Aptos"/>
              </a:rPr>
              <a:t>POWER BI EDITION</a:t>
            </a:r>
          </a:p>
        </p:txBody>
      </p:sp>
      <p:sp>
        <p:nvSpPr>
          <p:cNvPr id="11" name="Rectangle 10"/>
          <p:cNvSpPr/>
          <p:nvPr/>
        </p:nvSpPr>
        <p:spPr>
          <a:xfrm>
            <a:off x="1664208" y="1060704"/>
            <a:ext cx="68580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828800" y="1417320"/>
            <a:ext cx="9509760" cy="457200"/>
          </a:xfrm>
          <a:prstGeom prst="rect">
            <a:avLst/>
          </a:prstGeom>
          <a:noFill/>
        </p:spPr>
        <p:txBody>
          <a:bodyPr wrap="square" lIns="64008" tIns="36576" rIns="64008" bIns="18288" anchor="t">
            <a:spAutoFit/>
          </a:bodyPr>
          <a:lstStyle/>
          <a:p>
            <a:r>
              <a:rPr sz="1700" b="1">
                <a:solidFill>
                  <a:srgbClr val="051422"/>
                </a:solidFill>
                <a:latin typeface="Aptos"/>
              </a:rPr>
              <a:t>WHAT THIS POWER BI EDITION COVERS</a:t>
            </a:r>
          </a:p>
        </p:txBody>
      </p:sp>
      <p:sp>
        <p:nvSpPr>
          <p:cNvPr id="14" name="Rounded Rectangle 13"/>
          <p:cNvSpPr/>
          <p:nvPr/>
        </p:nvSpPr>
        <p:spPr>
          <a:xfrm>
            <a:off x="1828800" y="1965960"/>
            <a:ext cx="566928" cy="502920"/>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828800" y="2075688"/>
            <a:ext cx="566928" cy="228600"/>
          </a:xfrm>
          <a:prstGeom prst="rect">
            <a:avLst/>
          </a:prstGeom>
          <a:noFill/>
        </p:spPr>
        <p:txBody>
          <a:bodyPr wrap="square" lIns="64008" tIns="36576" rIns="64008" bIns="18288" anchor="t">
            <a:spAutoFit/>
          </a:bodyPr>
          <a:lstStyle/>
          <a:p>
            <a:pPr algn="ctr"/>
            <a:r>
              <a:rPr sz="1400" b="1">
                <a:solidFill>
                  <a:srgbClr val="051422"/>
                </a:solidFill>
                <a:latin typeface="Aptos"/>
              </a:rPr>
              <a:t>01</a:t>
            </a:r>
          </a:p>
        </p:txBody>
      </p:sp>
      <p:sp>
        <p:nvSpPr>
          <p:cNvPr id="16" name="TextBox 15"/>
          <p:cNvSpPr txBox="1"/>
          <p:nvPr/>
        </p:nvSpPr>
        <p:spPr>
          <a:xfrm>
            <a:off x="2606040" y="1965960"/>
            <a:ext cx="2971800" cy="274320"/>
          </a:xfrm>
          <a:prstGeom prst="rect">
            <a:avLst/>
          </a:prstGeom>
          <a:noFill/>
        </p:spPr>
        <p:txBody>
          <a:bodyPr wrap="square" lIns="64008" tIns="36576" rIns="64008" bIns="18288" anchor="t">
            <a:spAutoFit/>
          </a:bodyPr>
          <a:lstStyle/>
          <a:p>
            <a:r>
              <a:rPr sz="1400" b="1">
                <a:solidFill>
                  <a:srgbClr val="051422"/>
                </a:solidFill>
                <a:latin typeface="Aptos"/>
              </a:rPr>
              <a:t>Trip &amp; Revenue Overview</a:t>
            </a:r>
          </a:p>
        </p:txBody>
      </p:sp>
      <p:sp>
        <p:nvSpPr>
          <p:cNvPr id="17" name="TextBox 16"/>
          <p:cNvSpPr txBox="1"/>
          <p:nvPr/>
        </p:nvSpPr>
        <p:spPr>
          <a:xfrm>
            <a:off x="5577840" y="1965960"/>
            <a:ext cx="5303520" cy="365760"/>
          </a:xfrm>
          <a:prstGeom prst="rect">
            <a:avLst/>
          </a:prstGeom>
          <a:noFill/>
        </p:spPr>
        <p:txBody>
          <a:bodyPr wrap="square" lIns="64008" tIns="36576" rIns="64008" bIns="18288" anchor="t">
            <a:spAutoFit/>
          </a:bodyPr>
          <a:lstStyle/>
          <a:p>
            <a:r>
              <a:rPr sz="1200" b="0">
                <a:solidFill>
                  <a:srgbClr val="192B3C"/>
                </a:solidFill>
                <a:latin typeface="Aptos"/>
              </a:rPr>
              <a:t>Scale, revenue, fare levels and yearly movement</a:t>
            </a:r>
          </a:p>
        </p:txBody>
      </p:sp>
      <p:sp>
        <p:nvSpPr>
          <p:cNvPr id="18" name="Rounded Rectangle 17"/>
          <p:cNvSpPr/>
          <p:nvPr/>
        </p:nvSpPr>
        <p:spPr>
          <a:xfrm>
            <a:off x="1828800" y="2715768"/>
            <a:ext cx="566928" cy="502920"/>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828800" y="2825496"/>
            <a:ext cx="566928" cy="228600"/>
          </a:xfrm>
          <a:prstGeom prst="rect">
            <a:avLst/>
          </a:prstGeom>
          <a:noFill/>
        </p:spPr>
        <p:txBody>
          <a:bodyPr wrap="square" lIns="64008" tIns="36576" rIns="64008" bIns="18288" anchor="t">
            <a:spAutoFit/>
          </a:bodyPr>
          <a:lstStyle/>
          <a:p>
            <a:pPr algn="ctr"/>
            <a:r>
              <a:rPr sz="1400" b="1">
                <a:solidFill>
                  <a:srgbClr val="051422"/>
                </a:solidFill>
                <a:latin typeface="Aptos"/>
              </a:rPr>
              <a:t>02</a:t>
            </a:r>
          </a:p>
        </p:txBody>
      </p:sp>
      <p:sp>
        <p:nvSpPr>
          <p:cNvPr id="20" name="TextBox 19"/>
          <p:cNvSpPr txBox="1"/>
          <p:nvPr/>
        </p:nvSpPr>
        <p:spPr>
          <a:xfrm>
            <a:off x="2606040" y="2715768"/>
            <a:ext cx="2971800" cy="274320"/>
          </a:xfrm>
          <a:prstGeom prst="rect">
            <a:avLst/>
          </a:prstGeom>
          <a:noFill/>
        </p:spPr>
        <p:txBody>
          <a:bodyPr wrap="square" lIns="64008" tIns="36576" rIns="64008" bIns="18288" anchor="t">
            <a:spAutoFit/>
          </a:bodyPr>
          <a:lstStyle/>
          <a:p>
            <a:r>
              <a:rPr sz="1400" b="1">
                <a:solidFill>
                  <a:srgbClr val="051422"/>
                </a:solidFill>
                <a:latin typeface="Aptos"/>
              </a:rPr>
              <a:t>Time-Based Demand</a:t>
            </a:r>
          </a:p>
        </p:txBody>
      </p:sp>
      <p:sp>
        <p:nvSpPr>
          <p:cNvPr id="21" name="TextBox 20"/>
          <p:cNvSpPr txBox="1"/>
          <p:nvPr/>
        </p:nvSpPr>
        <p:spPr>
          <a:xfrm>
            <a:off x="5577840" y="2715768"/>
            <a:ext cx="5303520" cy="365760"/>
          </a:xfrm>
          <a:prstGeom prst="rect">
            <a:avLst/>
          </a:prstGeom>
          <a:noFill/>
        </p:spPr>
        <p:txBody>
          <a:bodyPr wrap="square" lIns="64008" tIns="36576" rIns="64008" bIns="18288" anchor="t">
            <a:spAutoFit/>
          </a:bodyPr>
          <a:lstStyle/>
          <a:p>
            <a:r>
              <a:rPr sz="1200" b="0">
                <a:solidFill>
                  <a:srgbClr val="192B3C"/>
                </a:solidFill>
                <a:latin typeface="Aptos"/>
              </a:rPr>
              <a:t>Hourly peaks and weekday patterns</a:t>
            </a:r>
          </a:p>
        </p:txBody>
      </p:sp>
      <p:sp>
        <p:nvSpPr>
          <p:cNvPr id="22" name="Rounded Rectangle 21"/>
          <p:cNvSpPr/>
          <p:nvPr/>
        </p:nvSpPr>
        <p:spPr>
          <a:xfrm>
            <a:off x="1828800" y="3465575"/>
            <a:ext cx="566928" cy="502920"/>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828800" y="3575303"/>
            <a:ext cx="566928" cy="228600"/>
          </a:xfrm>
          <a:prstGeom prst="rect">
            <a:avLst/>
          </a:prstGeom>
          <a:noFill/>
        </p:spPr>
        <p:txBody>
          <a:bodyPr wrap="square" lIns="64008" tIns="36576" rIns="64008" bIns="18288" anchor="t">
            <a:spAutoFit/>
          </a:bodyPr>
          <a:lstStyle/>
          <a:p>
            <a:pPr algn="ctr"/>
            <a:r>
              <a:rPr sz="1400" b="1">
                <a:solidFill>
                  <a:srgbClr val="051422"/>
                </a:solidFill>
                <a:latin typeface="Aptos"/>
              </a:rPr>
              <a:t>03</a:t>
            </a:r>
          </a:p>
        </p:txBody>
      </p:sp>
      <p:sp>
        <p:nvSpPr>
          <p:cNvPr id="24" name="TextBox 23"/>
          <p:cNvSpPr txBox="1"/>
          <p:nvPr/>
        </p:nvSpPr>
        <p:spPr>
          <a:xfrm>
            <a:off x="2606040" y="3465575"/>
            <a:ext cx="2971800" cy="274320"/>
          </a:xfrm>
          <a:prstGeom prst="rect">
            <a:avLst/>
          </a:prstGeom>
          <a:noFill/>
        </p:spPr>
        <p:txBody>
          <a:bodyPr wrap="square" lIns="64008" tIns="36576" rIns="64008" bIns="18288" anchor="t">
            <a:spAutoFit/>
          </a:bodyPr>
          <a:lstStyle/>
          <a:p>
            <a:r>
              <a:rPr sz="1400" b="1">
                <a:solidFill>
                  <a:srgbClr val="051422"/>
                </a:solidFill>
                <a:latin typeface="Aptos"/>
              </a:rPr>
              <a:t>Geographic Patterns</a:t>
            </a:r>
          </a:p>
        </p:txBody>
      </p:sp>
      <p:sp>
        <p:nvSpPr>
          <p:cNvPr id="25" name="TextBox 24"/>
          <p:cNvSpPr txBox="1"/>
          <p:nvPr/>
        </p:nvSpPr>
        <p:spPr>
          <a:xfrm>
            <a:off x="5577840" y="3465575"/>
            <a:ext cx="5303520" cy="365760"/>
          </a:xfrm>
          <a:prstGeom prst="rect">
            <a:avLst/>
          </a:prstGeom>
          <a:noFill/>
        </p:spPr>
        <p:txBody>
          <a:bodyPr wrap="square" lIns="64008" tIns="36576" rIns="64008" bIns="18288" anchor="t">
            <a:spAutoFit/>
          </a:bodyPr>
          <a:lstStyle/>
          <a:p>
            <a:r>
              <a:rPr sz="1200" b="0">
                <a:solidFill>
                  <a:srgbClr val="192B3C"/>
                </a:solidFill>
                <a:latin typeface="Aptos"/>
              </a:rPr>
              <a:t>Borough mix, zones and trip distance</a:t>
            </a:r>
          </a:p>
        </p:txBody>
      </p:sp>
      <p:sp>
        <p:nvSpPr>
          <p:cNvPr id="26" name="Rounded Rectangle 25"/>
          <p:cNvSpPr/>
          <p:nvPr/>
        </p:nvSpPr>
        <p:spPr>
          <a:xfrm>
            <a:off x="1828800" y="4215383"/>
            <a:ext cx="566928" cy="502920"/>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828800" y="4325112"/>
            <a:ext cx="566928" cy="228600"/>
          </a:xfrm>
          <a:prstGeom prst="rect">
            <a:avLst/>
          </a:prstGeom>
          <a:noFill/>
        </p:spPr>
        <p:txBody>
          <a:bodyPr wrap="square" lIns="64008" tIns="36576" rIns="64008" bIns="18288" anchor="t">
            <a:spAutoFit/>
          </a:bodyPr>
          <a:lstStyle/>
          <a:p>
            <a:pPr algn="ctr"/>
            <a:r>
              <a:rPr sz="1400" b="1">
                <a:solidFill>
                  <a:srgbClr val="051422"/>
                </a:solidFill>
                <a:latin typeface="Aptos"/>
              </a:rPr>
              <a:t>04</a:t>
            </a:r>
          </a:p>
        </p:txBody>
      </p:sp>
      <p:sp>
        <p:nvSpPr>
          <p:cNvPr id="28" name="TextBox 27"/>
          <p:cNvSpPr txBox="1"/>
          <p:nvPr/>
        </p:nvSpPr>
        <p:spPr>
          <a:xfrm>
            <a:off x="2606040" y="4215383"/>
            <a:ext cx="2971800" cy="274320"/>
          </a:xfrm>
          <a:prstGeom prst="rect">
            <a:avLst/>
          </a:prstGeom>
          <a:noFill/>
        </p:spPr>
        <p:txBody>
          <a:bodyPr wrap="square" lIns="64008" tIns="36576" rIns="64008" bIns="18288" anchor="t">
            <a:spAutoFit/>
          </a:bodyPr>
          <a:lstStyle/>
          <a:p>
            <a:r>
              <a:rPr sz="1400" b="1">
                <a:solidFill>
                  <a:srgbClr val="051422"/>
                </a:solidFill>
                <a:latin typeface="Aptos"/>
              </a:rPr>
              <a:t>Payment &amp; Tips</a:t>
            </a:r>
          </a:p>
        </p:txBody>
      </p:sp>
      <p:sp>
        <p:nvSpPr>
          <p:cNvPr id="29" name="TextBox 28"/>
          <p:cNvSpPr txBox="1"/>
          <p:nvPr/>
        </p:nvSpPr>
        <p:spPr>
          <a:xfrm>
            <a:off x="5577840" y="4215383"/>
            <a:ext cx="5303520" cy="365760"/>
          </a:xfrm>
          <a:prstGeom prst="rect">
            <a:avLst/>
          </a:prstGeom>
          <a:noFill/>
        </p:spPr>
        <p:txBody>
          <a:bodyPr wrap="square" lIns="64008" tIns="36576" rIns="64008" bIns="18288" anchor="t">
            <a:spAutoFit/>
          </a:bodyPr>
          <a:lstStyle/>
          <a:p>
            <a:r>
              <a:rPr sz="1200" b="0">
                <a:solidFill>
                  <a:srgbClr val="192B3C"/>
                </a:solidFill>
                <a:latin typeface="Aptos"/>
              </a:rPr>
              <a:t>Payment mix and borough-level tipping</a:t>
            </a:r>
          </a:p>
        </p:txBody>
      </p:sp>
      <p:sp>
        <p:nvSpPr>
          <p:cNvPr id="30" name="Rounded Rectangle 29"/>
          <p:cNvSpPr/>
          <p:nvPr/>
        </p:nvSpPr>
        <p:spPr>
          <a:xfrm>
            <a:off x="1828800" y="4965192"/>
            <a:ext cx="566928" cy="502920"/>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828800" y="5074920"/>
            <a:ext cx="566928" cy="228600"/>
          </a:xfrm>
          <a:prstGeom prst="rect">
            <a:avLst/>
          </a:prstGeom>
          <a:noFill/>
        </p:spPr>
        <p:txBody>
          <a:bodyPr wrap="square" lIns="64008" tIns="36576" rIns="64008" bIns="18288" anchor="t">
            <a:spAutoFit/>
          </a:bodyPr>
          <a:lstStyle/>
          <a:p>
            <a:pPr algn="ctr"/>
            <a:r>
              <a:rPr sz="1400" b="1">
                <a:solidFill>
                  <a:srgbClr val="051422"/>
                </a:solidFill>
                <a:latin typeface="Aptos"/>
              </a:rPr>
              <a:t>05</a:t>
            </a:r>
          </a:p>
        </p:txBody>
      </p:sp>
      <p:sp>
        <p:nvSpPr>
          <p:cNvPr id="32" name="TextBox 31"/>
          <p:cNvSpPr txBox="1"/>
          <p:nvPr/>
        </p:nvSpPr>
        <p:spPr>
          <a:xfrm>
            <a:off x="2606040" y="4965192"/>
            <a:ext cx="2971800" cy="274320"/>
          </a:xfrm>
          <a:prstGeom prst="rect">
            <a:avLst/>
          </a:prstGeom>
          <a:noFill/>
        </p:spPr>
        <p:txBody>
          <a:bodyPr wrap="square" lIns="64008" tIns="36576" rIns="64008" bIns="18288" anchor="t">
            <a:spAutoFit/>
          </a:bodyPr>
          <a:lstStyle/>
          <a:p>
            <a:r>
              <a:rPr sz="1400" b="1">
                <a:solidFill>
                  <a:srgbClr val="051422"/>
                </a:solidFill>
                <a:latin typeface="Aptos"/>
              </a:rPr>
              <a:t>Passenger &amp; Distance</a:t>
            </a:r>
          </a:p>
        </p:txBody>
      </p:sp>
      <p:sp>
        <p:nvSpPr>
          <p:cNvPr id="33" name="TextBox 32"/>
          <p:cNvSpPr txBox="1"/>
          <p:nvPr/>
        </p:nvSpPr>
        <p:spPr>
          <a:xfrm>
            <a:off x="5577840" y="4965192"/>
            <a:ext cx="5303520" cy="365760"/>
          </a:xfrm>
          <a:prstGeom prst="rect">
            <a:avLst/>
          </a:prstGeom>
          <a:noFill/>
        </p:spPr>
        <p:txBody>
          <a:bodyPr wrap="square" lIns="64008" tIns="36576" rIns="64008" bIns="18288" anchor="t">
            <a:spAutoFit/>
          </a:bodyPr>
          <a:lstStyle/>
          <a:p>
            <a:r>
              <a:rPr sz="1200" b="0">
                <a:solidFill>
                  <a:srgbClr val="192B3C"/>
                </a:solidFill>
                <a:latin typeface="Aptos"/>
              </a:rPr>
              <a:t>Passenger load and distance differences</a:t>
            </a:r>
          </a:p>
        </p:txBody>
      </p:sp>
      <p:sp>
        <p:nvSpPr>
          <p:cNvPr id="34" name="TextBox 33"/>
          <p:cNvSpPr txBox="1"/>
          <p:nvPr/>
        </p:nvSpPr>
        <p:spPr>
          <a:xfrm>
            <a:off x="1828800" y="5897880"/>
            <a:ext cx="9601200" cy="365760"/>
          </a:xfrm>
          <a:prstGeom prst="rect">
            <a:avLst/>
          </a:prstGeom>
          <a:noFill/>
        </p:spPr>
        <p:txBody>
          <a:bodyPr wrap="square" lIns="64008" tIns="36576" rIns="64008" bIns="18288" anchor="t">
            <a:spAutoFit/>
          </a:bodyPr>
          <a:lstStyle/>
          <a:p>
            <a:r>
              <a:rPr sz="1000" b="1">
                <a:solidFill>
                  <a:srgbClr val="007EBE"/>
                </a:solidFill>
                <a:latin typeface="Aptos"/>
              </a:rPr>
              <a:t>The supplied screenshots are preserved as dashboard evidence; the following slides interpret the visible metrics.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37160"/>
            <a:ext cx="1325880" cy="6720840"/>
          </a:xfrm>
          <a:prstGeom prst="rect">
            <a:avLst/>
          </a:prstGeom>
          <a:solidFill>
            <a:srgbClr val="051422"/>
          </a:solidFill>
          <a:ln>
            <a:solidFill>
              <a:srgbClr val="0514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 y="256032"/>
            <a:ext cx="1024128" cy="411480"/>
          </a:xfrm>
          <a:prstGeom prst="rect">
            <a:avLst/>
          </a:prstGeom>
          <a:noFill/>
        </p:spPr>
        <p:txBody>
          <a:bodyPr wrap="square" lIns="64008" tIns="36576" rIns="64008" bIns="18288" anchor="t">
            <a:spAutoFit/>
          </a:bodyPr>
          <a:lstStyle/>
          <a:p>
            <a:pPr algn="ctr"/>
            <a:r>
              <a:rPr sz="2300" b="1">
                <a:solidFill>
                  <a:srgbClr val="FFFFFF"/>
                </a:solidFill>
                <a:latin typeface="Aptos"/>
              </a:rPr>
              <a:t>Uber</a:t>
            </a:r>
          </a:p>
        </p:txBody>
      </p:sp>
      <p:sp>
        <p:nvSpPr>
          <p:cNvPr id="5" name="Rectangle 4"/>
          <p:cNvSpPr/>
          <p:nvPr/>
        </p:nvSpPr>
        <p:spPr>
          <a:xfrm>
            <a:off x="1261872" y="256032"/>
            <a:ext cx="32004" cy="3657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1051560"/>
            <a:ext cx="960120" cy="594360"/>
          </a:xfrm>
          <a:prstGeom prst="rect">
            <a:avLst/>
          </a:prstGeom>
          <a:noFill/>
        </p:spPr>
        <p:txBody>
          <a:bodyPr wrap="square" lIns="64008" tIns="36576" rIns="64008" bIns="18288" anchor="t">
            <a:spAutoFit/>
          </a:bodyPr>
          <a:lstStyle/>
          <a:p>
            <a:pPr algn="ctr"/>
            <a:r>
              <a:rPr sz="1000" b="1">
                <a:solidFill>
                  <a:srgbClr val="FFC400"/>
                </a:solidFill>
                <a:latin typeface="Aptos"/>
              </a:rPr>
              <a:t>TRIPS
ANALYTICS</a:t>
            </a:r>
          </a:p>
        </p:txBody>
      </p:sp>
      <p:sp>
        <p:nvSpPr>
          <p:cNvPr id="7" name="TextBox 6"/>
          <p:cNvSpPr txBox="1"/>
          <p:nvPr/>
        </p:nvSpPr>
        <p:spPr>
          <a:xfrm>
            <a:off x="146304" y="4892040"/>
            <a:ext cx="1051560" cy="347472"/>
          </a:xfrm>
          <a:prstGeom prst="rect">
            <a:avLst/>
          </a:prstGeom>
          <a:noFill/>
        </p:spPr>
        <p:txBody>
          <a:bodyPr wrap="square" lIns="64008" tIns="36576" rIns="64008" bIns="18288" anchor="t">
            <a:spAutoFit/>
          </a:bodyPr>
          <a:lstStyle/>
          <a:p>
            <a:pPr algn="ctr"/>
            <a:r>
              <a:rPr sz="2600" b="0">
                <a:solidFill>
                  <a:srgbClr val="FFC400"/>
                </a:solidFill>
                <a:latin typeface="Aptos"/>
              </a:rPr>
              <a:t>🚕</a:t>
            </a:r>
          </a:p>
        </p:txBody>
      </p:sp>
      <p:sp>
        <p:nvSpPr>
          <p:cNvPr id="8" name="TextBox 7"/>
          <p:cNvSpPr txBox="1"/>
          <p:nvPr/>
        </p:nvSpPr>
        <p:spPr>
          <a:xfrm>
            <a:off x="109728" y="5303520"/>
            <a:ext cx="1097280" cy="685800"/>
          </a:xfrm>
          <a:prstGeom prst="rect">
            <a:avLst/>
          </a:prstGeom>
          <a:noFill/>
        </p:spPr>
        <p:txBody>
          <a:bodyPr wrap="square" lIns="64008" tIns="36576" rIns="64008" bIns="18288" anchor="t">
            <a:spAutoFit/>
          </a:bodyPr>
          <a:lstStyle/>
          <a:p>
            <a:pPr algn="ctr"/>
            <a:r>
              <a:rPr sz="800" b="1">
                <a:solidFill>
                  <a:srgbClr val="C3CFDA"/>
                </a:solidFill>
                <a:latin typeface="Aptos"/>
              </a:rPr>
              <a:t>NYC GREEN TAXI
DATA PROJECT</a:t>
            </a:r>
          </a:p>
        </p:txBody>
      </p:sp>
      <p:sp>
        <p:nvSpPr>
          <p:cNvPr id="9" name="TextBox 8"/>
          <p:cNvSpPr txBox="1"/>
          <p:nvPr/>
        </p:nvSpPr>
        <p:spPr>
          <a:xfrm>
            <a:off x="1645920" y="292608"/>
            <a:ext cx="9966960" cy="457200"/>
          </a:xfrm>
          <a:prstGeom prst="rect">
            <a:avLst/>
          </a:prstGeom>
          <a:noFill/>
        </p:spPr>
        <p:txBody>
          <a:bodyPr wrap="square" lIns="64008" tIns="36576" rIns="64008" bIns="18288" anchor="t">
            <a:spAutoFit/>
          </a:bodyPr>
          <a:lstStyle/>
          <a:p>
            <a:r>
              <a:rPr sz="2300" b="1">
                <a:solidFill>
                  <a:srgbClr val="051422"/>
                </a:solidFill>
                <a:latin typeface="Aptos"/>
              </a:rPr>
              <a:t>Dashboard 1: Trip &amp; Revenue Overview</a:t>
            </a:r>
          </a:p>
        </p:txBody>
      </p:sp>
      <p:sp>
        <p:nvSpPr>
          <p:cNvPr id="10" name="TextBox 9"/>
          <p:cNvSpPr txBox="1"/>
          <p:nvPr/>
        </p:nvSpPr>
        <p:spPr>
          <a:xfrm>
            <a:off x="1664208" y="768096"/>
            <a:ext cx="9144000" cy="228600"/>
          </a:xfrm>
          <a:prstGeom prst="rect">
            <a:avLst/>
          </a:prstGeom>
          <a:noFill/>
        </p:spPr>
        <p:txBody>
          <a:bodyPr wrap="square" lIns="64008" tIns="36576" rIns="64008" bIns="18288" anchor="t">
            <a:spAutoFit/>
          </a:bodyPr>
          <a:lstStyle/>
          <a:p>
            <a:r>
              <a:rPr sz="900" b="1">
                <a:solidFill>
                  <a:srgbClr val="007EBE"/>
                </a:solidFill>
                <a:latin typeface="Aptos"/>
              </a:rPr>
              <a:t>ORIGINAL POWER BI SCREENSHOT</a:t>
            </a:r>
          </a:p>
        </p:txBody>
      </p:sp>
      <p:sp>
        <p:nvSpPr>
          <p:cNvPr id="11" name="Rectangle 10"/>
          <p:cNvSpPr/>
          <p:nvPr/>
        </p:nvSpPr>
        <p:spPr>
          <a:xfrm>
            <a:off x="1664208" y="1060704"/>
            <a:ext cx="68580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719072" y="1234440"/>
            <a:ext cx="10012680" cy="256032"/>
          </a:xfrm>
          <a:prstGeom prst="rect">
            <a:avLst/>
          </a:prstGeom>
          <a:noFill/>
        </p:spPr>
        <p:txBody>
          <a:bodyPr wrap="square" lIns="64008" tIns="36576" rIns="64008" bIns="18288" anchor="t">
            <a:spAutoFit/>
          </a:bodyPr>
          <a:lstStyle/>
          <a:p>
            <a:r>
              <a:rPr sz="900" b="1">
                <a:solidFill>
                  <a:srgbClr val="007EBE"/>
                </a:solidFill>
                <a:latin typeface="Aptos"/>
              </a:rPr>
              <a:t>FILTERS AND VISUALS AS PROVIDED</a:t>
            </a:r>
          </a:p>
        </p:txBody>
      </p:sp>
      <p:pic>
        <p:nvPicPr>
          <p:cNvPr id="14" name="Picture 13" descr="Screenshot 2026-10-22 100559.png"/>
          <p:cNvPicPr>
            <a:picLocks noChangeAspect="1"/>
          </p:cNvPicPr>
          <p:nvPr/>
        </p:nvPicPr>
        <p:blipFill>
          <a:blip r:embed="rId2"/>
          <a:stretch>
            <a:fillRect/>
          </a:stretch>
        </p:blipFill>
        <p:spPr>
          <a:xfrm>
            <a:off x="2644484" y="1572768"/>
            <a:ext cx="8161854" cy="507492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37160"/>
            <a:ext cx="1325880" cy="6720840"/>
          </a:xfrm>
          <a:prstGeom prst="rect">
            <a:avLst/>
          </a:prstGeom>
          <a:solidFill>
            <a:srgbClr val="051422"/>
          </a:solidFill>
          <a:ln>
            <a:solidFill>
              <a:srgbClr val="0514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 y="256032"/>
            <a:ext cx="1024128" cy="411480"/>
          </a:xfrm>
          <a:prstGeom prst="rect">
            <a:avLst/>
          </a:prstGeom>
          <a:noFill/>
        </p:spPr>
        <p:txBody>
          <a:bodyPr wrap="square" lIns="64008" tIns="36576" rIns="64008" bIns="18288" anchor="t">
            <a:spAutoFit/>
          </a:bodyPr>
          <a:lstStyle/>
          <a:p>
            <a:pPr algn="ctr"/>
            <a:r>
              <a:rPr sz="2300" b="1">
                <a:solidFill>
                  <a:srgbClr val="FFFFFF"/>
                </a:solidFill>
                <a:latin typeface="Aptos"/>
              </a:rPr>
              <a:t>Uber</a:t>
            </a:r>
          </a:p>
        </p:txBody>
      </p:sp>
      <p:sp>
        <p:nvSpPr>
          <p:cNvPr id="5" name="Rectangle 4"/>
          <p:cNvSpPr/>
          <p:nvPr/>
        </p:nvSpPr>
        <p:spPr>
          <a:xfrm>
            <a:off x="1261872" y="256032"/>
            <a:ext cx="32004" cy="3657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1051560"/>
            <a:ext cx="960120" cy="594360"/>
          </a:xfrm>
          <a:prstGeom prst="rect">
            <a:avLst/>
          </a:prstGeom>
          <a:noFill/>
        </p:spPr>
        <p:txBody>
          <a:bodyPr wrap="square" lIns="64008" tIns="36576" rIns="64008" bIns="18288" anchor="t">
            <a:spAutoFit/>
          </a:bodyPr>
          <a:lstStyle/>
          <a:p>
            <a:pPr algn="ctr"/>
            <a:r>
              <a:rPr sz="1000" b="1">
                <a:solidFill>
                  <a:srgbClr val="FFC400"/>
                </a:solidFill>
                <a:latin typeface="Aptos"/>
              </a:rPr>
              <a:t>TRIPS
ANALYTICS</a:t>
            </a:r>
          </a:p>
        </p:txBody>
      </p:sp>
      <p:sp>
        <p:nvSpPr>
          <p:cNvPr id="7" name="TextBox 6"/>
          <p:cNvSpPr txBox="1"/>
          <p:nvPr/>
        </p:nvSpPr>
        <p:spPr>
          <a:xfrm>
            <a:off x="146304" y="4892040"/>
            <a:ext cx="1051560" cy="347472"/>
          </a:xfrm>
          <a:prstGeom prst="rect">
            <a:avLst/>
          </a:prstGeom>
          <a:noFill/>
        </p:spPr>
        <p:txBody>
          <a:bodyPr wrap="square" lIns="64008" tIns="36576" rIns="64008" bIns="18288" anchor="t">
            <a:spAutoFit/>
          </a:bodyPr>
          <a:lstStyle/>
          <a:p>
            <a:pPr algn="ctr"/>
            <a:r>
              <a:rPr sz="2600" b="0">
                <a:solidFill>
                  <a:srgbClr val="FFC400"/>
                </a:solidFill>
                <a:latin typeface="Aptos"/>
              </a:rPr>
              <a:t>🚕</a:t>
            </a:r>
          </a:p>
        </p:txBody>
      </p:sp>
      <p:sp>
        <p:nvSpPr>
          <p:cNvPr id="8" name="TextBox 7"/>
          <p:cNvSpPr txBox="1"/>
          <p:nvPr/>
        </p:nvSpPr>
        <p:spPr>
          <a:xfrm>
            <a:off x="109728" y="5303520"/>
            <a:ext cx="1097280" cy="685800"/>
          </a:xfrm>
          <a:prstGeom prst="rect">
            <a:avLst/>
          </a:prstGeom>
          <a:noFill/>
        </p:spPr>
        <p:txBody>
          <a:bodyPr wrap="square" lIns="64008" tIns="36576" rIns="64008" bIns="18288" anchor="t">
            <a:spAutoFit/>
          </a:bodyPr>
          <a:lstStyle/>
          <a:p>
            <a:pPr algn="ctr"/>
            <a:r>
              <a:rPr sz="800" b="1">
                <a:solidFill>
                  <a:srgbClr val="C3CFDA"/>
                </a:solidFill>
                <a:latin typeface="Aptos"/>
              </a:rPr>
              <a:t>NYC GREEN TAXI
DATA PROJECT</a:t>
            </a:r>
          </a:p>
        </p:txBody>
      </p:sp>
      <p:sp>
        <p:nvSpPr>
          <p:cNvPr id="9" name="TextBox 8"/>
          <p:cNvSpPr txBox="1"/>
          <p:nvPr/>
        </p:nvSpPr>
        <p:spPr>
          <a:xfrm>
            <a:off x="1645920" y="292608"/>
            <a:ext cx="9966960" cy="457200"/>
          </a:xfrm>
          <a:prstGeom prst="rect">
            <a:avLst/>
          </a:prstGeom>
          <a:noFill/>
        </p:spPr>
        <p:txBody>
          <a:bodyPr wrap="square" lIns="64008" tIns="36576" rIns="64008" bIns="18288" anchor="t">
            <a:spAutoFit/>
          </a:bodyPr>
          <a:lstStyle/>
          <a:p>
            <a:r>
              <a:rPr sz="2300" b="1">
                <a:solidFill>
                  <a:srgbClr val="051422"/>
                </a:solidFill>
                <a:latin typeface="Aptos"/>
              </a:rPr>
              <a:t>Dashboard 1: Key Findings</a:t>
            </a:r>
          </a:p>
        </p:txBody>
      </p:sp>
      <p:sp>
        <p:nvSpPr>
          <p:cNvPr id="10" name="TextBox 9"/>
          <p:cNvSpPr txBox="1"/>
          <p:nvPr/>
        </p:nvSpPr>
        <p:spPr>
          <a:xfrm>
            <a:off x="1664208" y="768096"/>
            <a:ext cx="9144000" cy="228600"/>
          </a:xfrm>
          <a:prstGeom prst="rect">
            <a:avLst/>
          </a:prstGeom>
          <a:noFill/>
        </p:spPr>
        <p:txBody>
          <a:bodyPr wrap="square" lIns="64008" tIns="36576" rIns="64008" bIns="18288" anchor="t">
            <a:spAutoFit/>
          </a:bodyPr>
          <a:lstStyle/>
          <a:p>
            <a:r>
              <a:rPr sz="900" b="1">
                <a:solidFill>
                  <a:srgbClr val="007EBE"/>
                </a:solidFill>
                <a:latin typeface="Aptos"/>
              </a:rPr>
              <a:t>INTERPRETATION • BUSINESS USE</a:t>
            </a:r>
          </a:p>
        </p:txBody>
      </p:sp>
      <p:sp>
        <p:nvSpPr>
          <p:cNvPr id="11" name="Rectangle 10"/>
          <p:cNvSpPr/>
          <p:nvPr/>
        </p:nvSpPr>
        <p:spPr>
          <a:xfrm>
            <a:off x="1664208" y="1060704"/>
            <a:ext cx="68580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783080" y="1261872"/>
            <a:ext cx="9875520" cy="320040"/>
          </a:xfrm>
          <a:prstGeom prst="rect">
            <a:avLst/>
          </a:prstGeom>
          <a:noFill/>
        </p:spPr>
        <p:txBody>
          <a:bodyPr wrap="square" lIns="64008" tIns="36576" rIns="64008" bIns="18288" anchor="t">
            <a:spAutoFit/>
          </a:bodyPr>
          <a:lstStyle/>
          <a:p>
            <a:r>
              <a:rPr sz="1100" b="1">
                <a:solidFill>
                  <a:srgbClr val="007EBE"/>
                </a:solidFill>
                <a:latin typeface="Aptos"/>
              </a:rPr>
              <a:t>KEY METRICS VISIBLE IN THE DASHBOARD</a:t>
            </a:r>
          </a:p>
        </p:txBody>
      </p:sp>
      <p:sp>
        <p:nvSpPr>
          <p:cNvPr id="14" name="Rounded Rectangle 13"/>
          <p:cNvSpPr/>
          <p:nvPr/>
        </p:nvSpPr>
        <p:spPr>
          <a:xfrm>
            <a:off x="1755648" y="1627632"/>
            <a:ext cx="2331720" cy="777240"/>
          </a:xfrm>
          <a:prstGeom prst="roundRect">
            <a:avLst/>
          </a:prstGeom>
          <a:solidFill>
            <a:srgbClr val="0A2033"/>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828800" y="1737360"/>
            <a:ext cx="2185415" cy="182880"/>
          </a:xfrm>
          <a:prstGeom prst="rect">
            <a:avLst/>
          </a:prstGeom>
          <a:noFill/>
        </p:spPr>
        <p:txBody>
          <a:bodyPr wrap="square" lIns="64008" tIns="36576" rIns="64008" bIns="18288" anchor="t">
            <a:spAutoFit/>
          </a:bodyPr>
          <a:lstStyle/>
          <a:p>
            <a:pPr algn="ctr"/>
            <a:r>
              <a:rPr sz="800" b="1">
                <a:solidFill>
                  <a:srgbClr val="FFC400"/>
                </a:solidFill>
                <a:latin typeface="Aptos"/>
              </a:rPr>
              <a:t>TOTAL TRIPS</a:t>
            </a:r>
          </a:p>
        </p:txBody>
      </p:sp>
      <p:sp>
        <p:nvSpPr>
          <p:cNvPr id="16" name="TextBox 15"/>
          <p:cNvSpPr txBox="1"/>
          <p:nvPr/>
        </p:nvSpPr>
        <p:spPr>
          <a:xfrm>
            <a:off x="1828800" y="1975104"/>
            <a:ext cx="2185415" cy="274320"/>
          </a:xfrm>
          <a:prstGeom prst="rect">
            <a:avLst/>
          </a:prstGeom>
          <a:noFill/>
        </p:spPr>
        <p:txBody>
          <a:bodyPr wrap="square" lIns="64008" tIns="36576" rIns="64008" bIns="18288" anchor="t">
            <a:spAutoFit/>
          </a:bodyPr>
          <a:lstStyle/>
          <a:p>
            <a:pPr algn="ctr"/>
            <a:r>
              <a:rPr sz="1700" b="1">
                <a:solidFill>
                  <a:srgbClr val="FFFFFF"/>
                </a:solidFill>
                <a:latin typeface="Aptos"/>
              </a:rPr>
              <a:t>18M</a:t>
            </a:r>
          </a:p>
        </p:txBody>
      </p:sp>
      <p:sp>
        <p:nvSpPr>
          <p:cNvPr id="17" name="Rounded Rectangle 16"/>
          <p:cNvSpPr/>
          <p:nvPr/>
        </p:nvSpPr>
        <p:spPr>
          <a:xfrm>
            <a:off x="4288536" y="1627632"/>
            <a:ext cx="2331720" cy="777240"/>
          </a:xfrm>
          <a:prstGeom prst="roundRect">
            <a:avLst/>
          </a:prstGeom>
          <a:solidFill>
            <a:srgbClr val="0A2033"/>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61688" y="1737360"/>
            <a:ext cx="2185415" cy="182880"/>
          </a:xfrm>
          <a:prstGeom prst="rect">
            <a:avLst/>
          </a:prstGeom>
          <a:noFill/>
        </p:spPr>
        <p:txBody>
          <a:bodyPr wrap="square" lIns="64008" tIns="36576" rIns="64008" bIns="18288" anchor="t">
            <a:spAutoFit/>
          </a:bodyPr>
          <a:lstStyle/>
          <a:p>
            <a:pPr algn="ctr"/>
            <a:r>
              <a:rPr sz="800" b="1">
                <a:solidFill>
                  <a:srgbClr val="FFC400"/>
                </a:solidFill>
                <a:latin typeface="Aptos"/>
              </a:rPr>
              <a:t>TOTAL REVENUE</a:t>
            </a:r>
          </a:p>
        </p:txBody>
      </p:sp>
      <p:sp>
        <p:nvSpPr>
          <p:cNvPr id="19" name="TextBox 18"/>
          <p:cNvSpPr txBox="1"/>
          <p:nvPr/>
        </p:nvSpPr>
        <p:spPr>
          <a:xfrm>
            <a:off x="4361688" y="1975104"/>
            <a:ext cx="2185415" cy="274320"/>
          </a:xfrm>
          <a:prstGeom prst="rect">
            <a:avLst/>
          </a:prstGeom>
          <a:noFill/>
        </p:spPr>
        <p:txBody>
          <a:bodyPr wrap="square" lIns="64008" tIns="36576" rIns="64008" bIns="18288" anchor="t">
            <a:spAutoFit/>
          </a:bodyPr>
          <a:lstStyle/>
          <a:p>
            <a:pPr algn="ctr"/>
            <a:r>
              <a:rPr sz="1700" b="1">
                <a:solidFill>
                  <a:srgbClr val="FFFFFF"/>
                </a:solidFill>
                <a:latin typeface="Aptos"/>
              </a:rPr>
              <a:t>292.31M</a:t>
            </a:r>
          </a:p>
        </p:txBody>
      </p:sp>
      <p:sp>
        <p:nvSpPr>
          <p:cNvPr id="20" name="Rounded Rectangle 19"/>
          <p:cNvSpPr/>
          <p:nvPr/>
        </p:nvSpPr>
        <p:spPr>
          <a:xfrm>
            <a:off x="6821424" y="1627632"/>
            <a:ext cx="2331720" cy="777240"/>
          </a:xfrm>
          <a:prstGeom prst="roundRect">
            <a:avLst/>
          </a:prstGeom>
          <a:solidFill>
            <a:srgbClr val="0A2033"/>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94576" y="1737360"/>
            <a:ext cx="2185415" cy="182880"/>
          </a:xfrm>
          <a:prstGeom prst="rect">
            <a:avLst/>
          </a:prstGeom>
          <a:noFill/>
        </p:spPr>
        <p:txBody>
          <a:bodyPr wrap="square" lIns="64008" tIns="36576" rIns="64008" bIns="18288" anchor="t">
            <a:spAutoFit/>
          </a:bodyPr>
          <a:lstStyle/>
          <a:p>
            <a:pPr algn="ctr"/>
            <a:r>
              <a:rPr sz="800" b="1">
                <a:solidFill>
                  <a:srgbClr val="FFC400"/>
                </a:solidFill>
                <a:latin typeface="Aptos"/>
              </a:rPr>
              <a:t>AVG FARE / TRIP</a:t>
            </a:r>
          </a:p>
        </p:txBody>
      </p:sp>
      <p:sp>
        <p:nvSpPr>
          <p:cNvPr id="22" name="TextBox 21"/>
          <p:cNvSpPr txBox="1"/>
          <p:nvPr/>
        </p:nvSpPr>
        <p:spPr>
          <a:xfrm>
            <a:off x="6894576" y="1975104"/>
            <a:ext cx="2185415" cy="274320"/>
          </a:xfrm>
          <a:prstGeom prst="rect">
            <a:avLst/>
          </a:prstGeom>
          <a:noFill/>
        </p:spPr>
        <p:txBody>
          <a:bodyPr wrap="square" lIns="64008" tIns="36576" rIns="64008" bIns="18288" anchor="t">
            <a:spAutoFit/>
          </a:bodyPr>
          <a:lstStyle/>
          <a:p>
            <a:pPr algn="ctr"/>
            <a:r>
              <a:rPr sz="1700" b="1">
                <a:solidFill>
                  <a:srgbClr val="FFFFFF"/>
                </a:solidFill>
                <a:latin typeface="Aptos"/>
              </a:rPr>
              <a:t>18.45</a:t>
            </a:r>
          </a:p>
        </p:txBody>
      </p:sp>
      <p:sp>
        <p:nvSpPr>
          <p:cNvPr id="23" name="Rounded Rectangle 22"/>
          <p:cNvSpPr/>
          <p:nvPr/>
        </p:nvSpPr>
        <p:spPr>
          <a:xfrm>
            <a:off x="9354312" y="1627632"/>
            <a:ext cx="2331720" cy="777240"/>
          </a:xfrm>
          <a:prstGeom prst="roundRect">
            <a:avLst/>
          </a:prstGeom>
          <a:solidFill>
            <a:srgbClr val="0A2033"/>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27464" y="1737360"/>
            <a:ext cx="2185415" cy="182880"/>
          </a:xfrm>
          <a:prstGeom prst="rect">
            <a:avLst/>
          </a:prstGeom>
          <a:noFill/>
        </p:spPr>
        <p:txBody>
          <a:bodyPr wrap="square" lIns="64008" tIns="36576" rIns="64008" bIns="18288" anchor="t">
            <a:spAutoFit/>
          </a:bodyPr>
          <a:lstStyle/>
          <a:p>
            <a:pPr algn="ctr"/>
            <a:r>
              <a:rPr sz="800" b="1">
                <a:solidFill>
                  <a:srgbClr val="FFC400"/>
                </a:solidFill>
                <a:latin typeface="Aptos"/>
              </a:rPr>
              <a:t>YOY TRIPS</a:t>
            </a:r>
          </a:p>
        </p:txBody>
      </p:sp>
      <p:sp>
        <p:nvSpPr>
          <p:cNvPr id="25" name="TextBox 24"/>
          <p:cNvSpPr txBox="1"/>
          <p:nvPr/>
        </p:nvSpPr>
        <p:spPr>
          <a:xfrm>
            <a:off x="9427464" y="1975104"/>
            <a:ext cx="2185415" cy="274320"/>
          </a:xfrm>
          <a:prstGeom prst="rect">
            <a:avLst/>
          </a:prstGeom>
          <a:noFill/>
        </p:spPr>
        <p:txBody>
          <a:bodyPr wrap="square" lIns="64008" tIns="36576" rIns="64008" bIns="18288" anchor="t">
            <a:spAutoFit/>
          </a:bodyPr>
          <a:lstStyle/>
          <a:p>
            <a:pPr algn="ctr"/>
            <a:r>
              <a:rPr sz="1700" b="1">
                <a:solidFill>
                  <a:srgbClr val="FFFFFF"/>
                </a:solidFill>
                <a:latin typeface="Aptos"/>
              </a:rPr>
              <a:t>-8E-16</a:t>
            </a:r>
          </a:p>
        </p:txBody>
      </p:sp>
      <p:sp>
        <p:nvSpPr>
          <p:cNvPr id="26" name="Rounded Rectangle 25"/>
          <p:cNvSpPr/>
          <p:nvPr/>
        </p:nvSpPr>
        <p:spPr>
          <a:xfrm>
            <a:off x="1783080" y="2697480"/>
            <a:ext cx="4617720" cy="3246120"/>
          </a:xfrm>
          <a:prstGeom prst="roundRect">
            <a:avLst/>
          </a:prstGeom>
          <a:solidFill>
            <a:srgbClr val="F2F6F9"/>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993392" y="2880360"/>
            <a:ext cx="4206240" cy="292608"/>
          </a:xfrm>
          <a:prstGeom prst="rect">
            <a:avLst/>
          </a:prstGeom>
          <a:noFill/>
        </p:spPr>
        <p:txBody>
          <a:bodyPr wrap="square" lIns="64008" tIns="36576" rIns="64008" bIns="18288" anchor="t">
            <a:spAutoFit/>
          </a:bodyPr>
          <a:lstStyle/>
          <a:p>
            <a:r>
              <a:rPr sz="1200" b="1">
                <a:solidFill>
                  <a:srgbClr val="051422"/>
                </a:solidFill>
                <a:latin typeface="Aptos"/>
              </a:rPr>
              <a:t>WHAT THE DASHBOARD SHOWS</a:t>
            </a:r>
          </a:p>
        </p:txBody>
      </p:sp>
      <p:sp>
        <p:nvSpPr>
          <p:cNvPr id="28" name="Rounded Rectangle 27"/>
          <p:cNvSpPr/>
          <p:nvPr/>
        </p:nvSpPr>
        <p:spPr>
          <a:xfrm>
            <a:off x="1993392" y="337413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49424" y="3310128"/>
            <a:ext cx="3904487" cy="731519"/>
          </a:xfrm>
          <a:prstGeom prst="rect">
            <a:avLst/>
          </a:prstGeom>
          <a:noFill/>
        </p:spPr>
        <p:txBody>
          <a:bodyPr wrap="square" lIns="64008" tIns="36576" rIns="64008" bIns="18288" anchor="t">
            <a:spAutoFit/>
          </a:bodyPr>
          <a:lstStyle/>
          <a:p>
            <a:r>
              <a:rPr sz="1100" b="0">
                <a:solidFill>
                  <a:srgbClr val="192B3C"/>
                </a:solidFill>
                <a:latin typeface="Aptos"/>
              </a:rPr>
              <a:t>The page summarizes the overall trip scale, total revenue and average fare.</a:t>
            </a:r>
          </a:p>
        </p:txBody>
      </p:sp>
      <p:sp>
        <p:nvSpPr>
          <p:cNvPr id="30" name="Rounded Rectangle 29"/>
          <p:cNvSpPr/>
          <p:nvPr/>
        </p:nvSpPr>
        <p:spPr>
          <a:xfrm>
            <a:off x="1993392" y="415137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249424" y="4087368"/>
            <a:ext cx="3904487" cy="731519"/>
          </a:xfrm>
          <a:prstGeom prst="rect">
            <a:avLst/>
          </a:prstGeom>
          <a:noFill/>
        </p:spPr>
        <p:txBody>
          <a:bodyPr wrap="square" lIns="64008" tIns="36576" rIns="64008" bIns="18288" anchor="t">
            <a:spAutoFit/>
          </a:bodyPr>
          <a:lstStyle/>
          <a:p>
            <a:r>
              <a:rPr sz="1100" b="0">
                <a:solidFill>
                  <a:srgbClr val="192B3C"/>
                </a:solidFill>
                <a:latin typeface="Aptos"/>
              </a:rPr>
              <a:t>The monthly revenue chart is relatively high early in the visible period and trends lower later.</a:t>
            </a:r>
          </a:p>
        </p:txBody>
      </p:sp>
      <p:sp>
        <p:nvSpPr>
          <p:cNvPr id="32" name="Rounded Rectangle 31"/>
          <p:cNvSpPr/>
          <p:nvPr/>
        </p:nvSpPr>
        <p:spPr>
          <a:xfrm>
            <a:off x="1993392" y="492861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249424" y="4864607"/>
            <a:ext cx="3904487" cy="731519"/>
          </a:xfrm>
          <a:prstGeom prst="rect">
            <a:avLst/>
          </a:prstGeom>
          <a:noFill/>
        </p:spPr>
        <p:txBody>
          <a:bodyPr wrap="square" lIns="64008" tIns="36576" rIns="64008" bIns="18288" anchor="t">
            <a:spAutoFit/>
          </a:bodyPr>
          <a:lstStyle/>
          <a:p>
            <a:r>
              <a:rPr sz="1100" b="0">
                <a:solidFill>
                  <a:srgbClr val="192B3C"/>
                </a:solidFill>
                <a:latin typeface="Aptos"/>
              </a:rPr>
              <a:t>The yearly growth line falls sharply after 2018; validate year coverage and measure formatting before interpreting the KPI.</a:t>
            </a:r>
          </a:p>
        </p:txBody>
      </p:sp>
      <p:sp>
        <p:nvSpPr>
          <p:cNvPr id="34" name="Rounded Rectangle 33"/>
          <p:cNvSpPr/>
          <p:nvPr/>
        </p:nvSpPr>
        <p:spPr>
          <a:xfrm>
            <a:off x="6629400" y="2697480"/>
            <a:ext cx="4983480" cy="3246120"/>
          </a:xfrm>
          <a:prstGeom prst="roundRect">
            <a:avLst/>
          </a:prstGeom>
          <a:solidFill>
            <a:srgbClr val="FFF9E1"/>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8000" y="2880360"/>
            <a:ext cx="4480560" cy="292608"/>
          </a:xfrm>
          <a:prstGeom prst="rect">
            <a:avLst/>
          </a:prstGeom>
          <a:noFill/>
        </p:spPr>
        <p:txBody>
          <a:bodyPr wrap="square" lIns="64008" tIns="36576" rIns="64008" bIns="18288" anchor="t">
            <a:spAutoFit/>
          </a:bodyPr>
          <a:lstStyle/>
          <a:p>
            <a:r>
              <a:rPr sz="1200" b="1">
                <a:solidFill>
                  <a:srgbClr val="051422"/>
                </a:solidFill>
                <a:latin typeface="Aptos"/>
              </a:rPr>
              <a:t>HOW THE BUSINESS CAN USE IT</a:t>
            </a:r>
          </a:p>
        </p:txBody>
      </p:sp>
      <p:sp>
        <p:nvSpPr>
          <p:cNvPr id="36" name="Rounded Rectangle 35"/>
          <p:cNvSpPr/>
          <p:nvPr/>
        </p:nvSpPr>
        <p:spPr>
          <a:xfrm>
            <a:off x="6858000" y="337413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114032" y="3310128"/>
            <a:ext cx="4178807" cy="731519"/>
          </a:xfrm>
          <a:prstGeom prst="rect">
            <a:avLst/>
          </a:prstGeom>
          <a:noFill/>
        </p:spPr>
        <p:txBody>
          <a:bodyPr wrap="square" lIns="64008" tIns="36576" rIns="64008" bIns="18288" anchor="t">
            <a:spAutoFit/>
          </a:bodyPr>
          <a:lstStyle/>
          <a:p>
            <a:r>
              <a:rPr sz="1100" b="0">
                <a:solidFill>
                  <a:srgbClr val="192B3C"/>
                </a:solidFill>
                <a:latin typeface="Aptos"/>
              </a:rPr>
              <a:t>Use monthly and yearly filters to isolate periods with material demand changes.</a:t>
            </a:r>
          </a:p>
        </p:txBody>
      </p:sp>
      <p:sp>
        <p:nvSpPr>
          <p:cNvPr id="38" name="Rounded Rectangle 37"/>
          <p:cNvSpPr/>
          <p:nvPr/>
        </p:nvSpPr>
        <p:spPr>
          <a:xfrm>
            <a:off x="6858000" y="415137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114032" y="4087368"/>
            <a:ext cx="4178807" cy="731519"/>
          </a:xfrm>
          <a:prstGeom prst="rect">
            <a:avLst/>
          </a:prstGeom>
          <a:noFill/>
        </p:spPr>
        <p:txBody>
          <a:bodyPr wrap="square" lIns="64008" tIns="36576" rIns="64008" bIns="18288" anchor="t">
            <a:spAutoFit/>
          </a:bodyPr>
          <a:lstStyle/>
          <a:p>
            <a:r>
              <a:rPr sz="1100" b="0">
                <a:solidFill>
                  <a:srgbClr val="192B3C"/>
                </a:solidFill>
                <a:latin typeface="Aptos"/>
              </a:rPr>
              <a:t>Compare revenue and trip counts together: revenue can change because of trip volume, fare mix or data coverage.</a:t>
            </a:r>
          </a:p>
        </p:txBody>
      </p:sp>
      <p:sp>
        <p:nvSpPr>
          <p:cNvPr id="40" name="Rounded Rectangle 39"/>
          <p:cNvSpPr/>
          <p:nvPr/>
        </p:nvSpPr>
        <p:spPr>
          <a:xfrm>
            <a:off x="6858000" y="492861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114032" y="4864607"/>
            <a:ext cx="4178807" cy="731519"/>
          </a:xfrm>
          <a:prstGeom prst="rect">
            <a:avLst/>
          </a:prstGeom>
          <a:noFill/>
        </p:spPr>
        <p:txBody>
          <a:bodyPr wrap="square" lIns="64008" tIns="36576" rIns="64008" bIns="18288" anchor="t">
            <a:spAutoFit/>
          </a:bodyPr>
          <a:lstStyle/>
          <a:p>
            <a:r>
              <a:rPr sz="1100" b="0">
                <a:solidFill>
                  <a:srgbClr val="192B3C"/>
                </a:solidFill>
                <a:latin typeface="Aptos"/>
              </a:rPr>
              <a:t>Fix the YoY KPI format; -8E-16 is effectively zero due to floating-point/measure formatting, not a meaningful business result.</a:t>
            </a:r>
          </a:p>
        </p:txBody>
      </p:sp>
      <p:sp>
        <p:nvSpPr>
          <p:cNvPr id="42" name="TextBox 41"/>
          <p:cNvSpPr txBox="1"/>
          <p:nvPr/>
        </p:nvSpPr>
        <p:spPr>
          <a:xfrm>
            <a:off x="1828800" y="6144768"/>
            <a:ext cx="9692640" cy="274320"/>
          </a:xfrm>
          <a:prstGeom prst="rect">
            <a:avLst/>
          </a:prstGeom>
          <a:noFill/>
        </p:spPr>
        <p:txBody>
          <a:bodyPr wrap="square" lIns="64008" tIns="36576" rIns="64008" bIns="18288" anchor="t">
            <a:spAutoFit/>
          </a:bodyPr>
          <a:lstStyle/>
          <a:p>
            <a:r>
              <a:rPr sz="900" b="0">
                <a:solidFill>
                  <a:srgbClr val="5F6F7F"/>
                </a:solidFill>
                <a:latin typeface="Aptos"/>
              </a:rPr>
              <a:t>Interpretation is based on the values visible in the supplied screenshot; validate measures and filters in the PBIX before operational use.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37160"/>
            <a:ext cx="1325880" cy="6720840"/>
          </a:xfrm>
          <a:prstGeom prst="rect">
            <a:avLst/>
          </a:prstGeom>
          <a:solidFill>
            <a:srgbClr val="051422"/>
          </a:solidFill>
          <a:ln>
            <a:solidFill>
              <a:srgbClr val="0514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 y="256032"/>
            <a:ext cx="1024128" cy="411480"/>
          </a:xfrm>
          <a:prstGeom prst="rect">
            <a:avLst/>
          </a:prstGeom>
          <a:noFill/>
        </p:spPr>
        <p:txBody>
          <a:bodyPr wrap="square" lIns="64008" tIns="36576" rIns="64008" bIns="18288" anchor="t">
            <a:spAutoFit/>
          </a:bodyPr>
          <a:lstStyle/>
          <a:p>
            <a:pPr algn="ctr"/>
            <a:r>
              <a:rPr sz="2300" b="1">
                <a:solidFill>
                  <a:srgbClr val="FFFFFF"/>
                </a:solidFill>
                <a:latin typeface="Aptos"/>
              </a:rPr>
              <a:t>Uber</a:t>
            </a:r>
          </a:p>
        </p:txBody>
      </p:sp>
      <p:sp>
        <p:nvSpPr>
          <p:cNvPr id="5" name="Rectangle 4"/>
          <p:cNvSpPr/>
          <p:nvPr/>
        </p:nvSpPr>
        <p:spPr>
          <a:xfrm>
            <a:off x="1261872" y="256032"/>
            <a:ext cx="32004" cy="3657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1051560"/>
            <a:ext cx="960120" cy="594360"/>
          </a:xfrm>
          <a:prstGeom prst="rect">
            <a:avLst/>
          </a:prstGeom>
          <a:noFill/>
        </p:spPr>
        <p:txBody>
          <a:bodyPr wrap="square" lIns="64008" tIns="36576" rIns="64008" bIns="18288" anchor="t">
            <a:spAutoFit/>
          </a:bodyPr>
          <a:lstStyle/>
          <a:p>
            <a:pPr algn="ctr"/>
            <a:r>
              <a:rPr sz="1000" b="1">
                <a:solidFill>
                  <a:srgbClr val="FFC400"/>
                </a:solidFill>
                <a:latin typeface="Aptos"/>
              </a:rPr>
              <a:t>TRIPS
ANALYTICS</a:t>
            </a:r>
          </a:p>
        </p:txBody>
      </p:sp>
      <p:sp>
        <p:nvSpPr>
          <p:cNvPr id="7" name="TextBox 6"/>
          <p:cNvSpPr txBox="1"/>
          <p:nvPr/>
        </p:nvSpPr>
        <p:spPr>
          <a:xfrm>
            <a:off x="146304" y="4892040"/>
            <a:ext cx="1051560" cy="347472"/>
          </a:xfrm>
          <a:prstGeom prst="rect">
            <a:avLst/>
          </a:prstGeom>
          <a:noFill/>
        </p:spPr>
        <p:txBody>
          <a:bodyPr wrap="square" lIns="64008" tIns="36576" rIns="64008" bIns="18288" anchor="t">
            <a:spAutoFit/>
          </a:bodyPr>
          <a:lstStyle/>
          <a:p>
            <a:pPr algn="ctr"/>
            <a:r>
              <a:rPr sz="2600" b="0">
                <a:solidFill>
                  <a:srgbClr val="FFC400"/>
                </a:solidFill>
                <a:latin typeface="Aptos"/>
              </a:rPr>
              <a:t>🚕</a:t>
            </a:r>
          </a:p>
        </p:txBody>
      </p:sp>
      <p:sp>
        <p:nvSpPr>
          <p:cNvPr id="8" name="TextBox 7"/>
          <p:cNvSpPr txBox="1"/>
          <p:nvPr/>
        </p:nvSpPr>
        <p:spPr>
          <a:xfrm>
            <a:off x="109728" y="5303520"/>
            <a:ext cx="1097280" cy="685800"/>
          </a:xfrm>
          <a:prstGeom prst="rect">
            <a:avLst/>
          </a:prstGeom>
          <a:noFill/>
        </p:spPr>
        <p:txBody>
          <a:bodyPr wrap="square" lIns="64008" tIns="36576" rIns="64008" bIns="18288" anchor="t">
            <a:spAutoFit/>
          </a:bodyPr>
          <a:lstStyle/>
          <a:p>
            <a:pPr algn="ctr"/>
            <a:r>
              <a:rPr sz="800" b="1">
                <a:solidFill>
                  <a:srgbClr val="C3CFDA"/>
                </a:solidFill>
                <a:latin typeface="Aptos"/>
              </a:rPr>
              <a:t>NYC GREEN TAXI
DATA PROJECT</a:t>
            </a:r>
          </a:p>
        </p:txBody>
      </p:sp>
      <p:sp>
        <p:nvSpPr>
          <p:cNvPr id="9" name="TextBox 8"/>
          <p:cNvSpPr txBox="1"/>
          <p:nvPr/>
        </p:nvSpPr>
        <p:spPr>
          <a:xfrm>
            <a:off x="1645920" y="292608"/>
            <a:ext cx="9966960" cy="457200"/>
          </a:xfrm>
          <a:prstGeom prst="rect">
            <a:avLst/>
          </a:prstGeom>
          <a:noFill/>
        </p:spPr>
        <p:txBody>
          <a:bodyPr wrap="square" lIns="64008" tIns="36576" rIns="64008" bIns="18288" anchor="t">
            <a:spAutoFit/>
          </a:bodyPr>
          <a:lstStyle/>
          <a:p>
            <a:r>
              <a:rPr sz="2300" b="1">
                <a:solidFill>
                  <a:srgbClr val="051422"/>
                </a:solidFill>
                <a:latin typeface="Aptos"/>
              </a:rPr>
              <a:t>Dashboard 2: Time-Based Demand Analysis</a:t>
            </a:r>
          </a:p>
        </p:txBody>
      </p:sp>
      <p:sp>
        <p:nvSpPr>
          <p:cNvPr id="10" name="TextBox 9"/>
          <p:cNvSpPr txBox="1"/>
          <p:nvPr/>
        </p:nvSpPr>
        <p:spPr>
          <a:xfrm>
            <a:off x="1664208" y="768096"/>
            <a:ext cx="9144000" cy="228600"/>
          </a:xfrm>
          <a:prstGeom prst="rect">
            <a:avLst/>
          </a:prstGeom>
          <a:noFill/>
        </p:spPr>
        <p:txBody>
          <a:bodyPr wrap="square" lIns="64008" tIns="36576" rIns="64008" bIns="18288" anchor="t">
            <a:spAutoFit/>
          </a:bodyPr>
          <a:lstStyle/>
          <a:p>
            <a:r>
              <a:rPr sz="900" b="1">
                <a:solidFill>
                  <a:srgbClr val="007EBE"/>
                </a:solidFill>
                <a:latin typeface="Aptos"/>
              </a:rPr>
              <a:t>ORIGINAL POWER BI SCREENSHOT</a:t>
            </a:r>
          </a:p>
        </p:txBody>
      </p:sp>
      <p:sp>
        <p:nvSpPr>
          <p:cNvPr id="11" name="Rectangle 10"/>
          <p:cNvSpPr/>
          <p:nvPr/>
        </p:nvSpPr>
        <p:spPr>
          <a:xfrm>
            <a:off x="1664208" y="1060704"/>
            <a:ext cx="68580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719072" y="1234440"/>
            <a:ext cx="10012680" cy="256032"/>
          </a:xfrm>
          <a:prstGeom prst="rect">
            <a:avLst/>
          </a:prstGeom>
          <a:noFill/>
        </p:spPr>
        <p:txBody>
          <a:bodyPr wrap="square" lIns="64008" tIns="36576" rIns="64008" bIns="18288" anchor="t">
            <a:spAutoFit/>
          </a:bodyPr>
          <a:lstStyle/>
          <a:p>
            <a:r>
              <a:rPr sz="900" b="1">
                <a:solidFill>
                  <a:srgbClr val="007EBE"/>
                </a:solidFill>
                <a:latin typeface="Aptos"/>
              </a:rPr>
              <a:t>FILTERS AND VISUALS AS PROVIDED</a:t>
            </a:r>
          </a:p>
        </p:txBody>
      </p:sp>
      <p:pic>
        <p:nvPicPr>
          <p:cNvPr id="14" name="Picture 13" descr="Screenshot 2026-10-22 100823.png"/>
          <p:cNvPicPr>
            <a:picLocks noChangeAspect="1"/>
          </p:cNvPicPr>
          <p:nvPr/>
        </p:nvPicPr>
        <p:blipFill>
          <a:blip r:embed="rId2"/>
          <a:stretch>
            <a:fillRect/>
          </a:stretch>
        </p:blipFill>
        <p:spPr>
          <a:xfrm>
            <a:off x="2654390" y="1572768"/>
            <a:ext cx="8142043" cy="507492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37160"/>
            <a:ext cx="1325880" cy="6720840"/>
          </a:xfrm>
          <a:prstGeom prst="rect">
            <a:avLst/>
          </a:prstGeom>
          <a:solidFill>
            <a:srgbClr val="051422"/>
          </a:solidFill>
          <a:ln>
            <a:solidFill>
              <a:srgbClr val="0514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 y="256032"/>
            <a:ext cx="1024128" cy="411480"/>
          </a:xfrm>
          <a:prstGeom prst="rect">
            <a:avLst/>
          </a:prstGeom>
          <a:noFill/>
        </p:spPr>
        <p:txBody>
          <a:bodyPr wrap="square" lIns="64008" tIns="36576" rIns="64008" bIns="18288" anchor="t">
            <a:spAutoFit/>
          </a:bodyPr>
          <a:lstStyle/>
          <a:p>
            <a:pPr algn="ctr"/>
            <a:r>
              <a:rPr sz="2300" b="1">
                <a:solidFill>
                  <a:srgbClr val="FFFFFF"/>
                </a:solidFill>
                <a:latin typeface="Aptos"/>
              </a:rPr>
              <a:t>Uber</a:t>
            </a:r>
          </a:p>
        </p:txBody>
      </p:sp>
      <p:sp>
        <p:nvSpPr>
          <p:cNvPr id="5" name="Rectangle 4"/>
          <p:cNvSpPr/>
          <p:nvPr/>
        </p:nvSpPr>
        <p:spPr>
          <a:xfrm>
            <a:off x="1261872" y="256032"/>
            <a:ext cx="32004" cy="3657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1051560"/>
            <a:ext cx="960120" cy="594360"/>
          </a:xfrm>
          <a:prstGeom prst="rect">
            <a:avLst/>
          </a:prstGeom>
          <a:noFill/>
        </p:spPr>
        <p:txBody>
          <a:bodyPr wrap="square" lIns="64008" tIns="36576" rIns="64008" bIns="18288" anchor="t">
            <a:spAutoFit/>
          </a:bodyPr>
          <a:lstStyle/>
          <a:p>
            <a:pPr algn="ctr"/>
            <a:r>
              <a:rPr sz="1000" b="1">
                <a:solidFill>
                  <a:srgbClr val="FFC400"/>
                </a:solidFill>
                <a:latin typeface="Aptos"/>
              </a:rPr>
              <a:t>TRIPS
ANALYTICS</a:t>
            </a:r>
          </a:p>
        </p:txBody>
      </p:sp>
      <p:sp>
        <p:nvSpPr>
          <p:cNvPr id="7" name="TextBox 6"/>
          <p:cNvSpPr txBox="1"/>
          <p:nvPr/>
        </p:nvSpPr>
        <p:spPr>
          <a:xfrm>
            <a:off x="146304" y="4892040"/>
            <a:ext cx="1051560" cy="347472"/>
          </a:xfrm>
          <a:prstGeom prst="rect">
            <a:avLst/>
          </a:prstGeom>
          <a:noFill/>
        </p:spPr>
        <p:txBody>
          <a:bodyPr wrap="square" lIns="64008" tIns="36576" rIns="64008" bIns="18288" anchor="t">
            <a:spAutoFit/>
          </a:bodyPr>
          <a:lstStyle/>
          <a:p>
            <a:pPr algn="ctr"/>
            <a:r>
              <a:rPr sz="2600" b="0">
                <a:solidFill>
                  <a:srgbClr val="FFC400"/>
                </a:solidFill>
                <a:latin typeface="Aptos"/>
              </a:rPr>
              <a:t>🚕</a:t>
            </a:r>
          </a:p>
        </p:txBody>
      </p:sp>
      <p:sp>
        <p:nvSpPr>
          <p:cNvPr id="8" name="TextBox 7"/>
          <p:cNvSpPr txBox="1"/>
          <p:nvPr/>
        </p:nvSpPr>
        <p:spPr>
          <a:xfrm>
            <a:off x="109728" y="5303520"/>
            <a:ext cx="1097280" cy="685800"/>
          </a:xfrm>
          <a:prstGeom prst="rect">
            <a:avLst/>
          </a:prstGeom>
          <a:noFill/>
        </p:spPr>
        <p:txBody>
          <a:bodyPr wrap="square" lIns="64008" tIns="36576" rIns="64008" bIns="18288" anchor="t">
            <a:spAutoFit/>
          </a:bodyPr>
          <a:lstStyle/>
          <a:p>
            <a:pPr algn="ctr"/>
            <a:r>
              <a:rPr sz="800" b="1">
                <a:solidFill>
                  <a:srgbClr val="C3CFDA"/>
                </a:solidFill>
                <a:latin typeface="Aptos"/>
              </a:rPr>
              <a:t>NYC GREEN TAXI
DATA PROJECT</a:t>
            </a:r>
          </a:p>
        </p:txBody>
      </p:sp>
      <p:sp>
        <p:nvSpPr>
          <p:cNvPr id="9" name="TextBox 8"/>
          <p:cNvSpPr txBox="1"/>
          <p:nvPr/>
        </p:nvSpPr>
        <p:spPr>
          <a:xfrm>
            <a:off x="1645920" y="292608"/>
            <a:ext cx="9966960" cy="457200"/>
          </a:xfrm>
          <a:prstGeom prst="rect">
            <a:avLst/>
          </a:prstGeom>
          <a:noFill/>
        </p:spPr>
        <p:txBody>
          <a:bodyPr wrap="square" lIns="64008" tIns="36576" rIns="64008" bIns="18288" anchor="t">
            <a:spAutoFit/>
          </a:bodyPr>
          <a:lstStyle/>
          <a:p>
            <a:r>
              <a:rPr sz="2300" b="1">
                <a:solidFill>
                  <a:srgbClr val="051422"/>
                </a:solidFill>
                <a:latin typeface="Aptos"/>
              </a:rPr>
              <a:t>Dashboard 2: Key Findings</a:t>
            </a:r>
          </a:p>
        </p:txBody>
      </p:sp>
      <p:sp>
        <p:nvSpPr>
          <p:cNvPr id="10" name="TextBox 9"/>
          <p:cNvSpPr txBox="1"/>
          <p:nvPr/>
        </p:nvSpPr>
        <p:spPr>
          <a:xfrm>
            <a:off x="1664208" y="768096"/>
            <a:ext cx="9144000" cy="228600"/>
          </a:xfrm>
          <a:prstGeom prst="rect">
            <a:avLst/>
          </a:prstGeom>
          <a:noFill/>
        </p:spPr>
        <p:txBody>
          <a:bodyPr wrap="square" lIns="64008" tIns="36576" rIns="64008" bIns="18288" anchor="t">
            <a:spAutoFit/>
          </a:bodyPr>
          <a:lstStyle/>
          <a:p>
            <a:r>
              <a:rPr sz="900" b="1">
                <a:solidFill>
                  <a:srgbClr val="007EBE"/>
                </a:solidFill>
                <a:latin typeface="Aptos"/>
              </a:rPr>
              <a:t>INTERPRETATION • BUSINESS USE</a:t>
            </a:r>
          </a:p>
        </p:txBody>
      </p:sp>
      <p:sp>
        <p:nvSpPr>
          <p:cNvPr id="11" name="Rectangle 10"/>
          <p:cNvSpPr/>
          <p:nvPr/>
        </p:nvSpPr>
        <p:spPr>
          <a:xfrm>
            <a:off x="1664208" y="1060704"/>
            <a:ext cx="68580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783080" y="1261872"/>
            <a:ext cx="9875520" cy="320040"/>
          </a:xfrm>
          <a:prstGeom prst="rect">
            <a:avLst/>
          </a:prstGeom>
          <a:noFill/>
        </p:spPr>
        <p:txBody>
          <a:bodyPr wrap="square" lIns="64008" tIns="36576" rIns="64008" bIns="18288" anchor="t">
            <a:spAutoFit/>
          </a:bodyPr>
          <a:lstStyle/>
          <a:p>
            <a:r>
              <a:rPr sz="1100" b="1">
                <a:solidFill>
                  <a:srgbClr val="007EBE"/>
                </a:solidFill>
                <a:latin typeface="Aptos"/>
              </a:rPr>
              <a:t>KEY METRICS VISIBLE IN THE DASHBOARD</a:t>
            </a:r>
          </a:p>
        </p:txBody>
      </p:sp>
      <p:sp>
        <p:nvSpPr>
          <p:cNvPr id="14" name="Rounded Rectangle 13"/>
          <p:cNvSpPr/>
          <p:nvPr/>
        </p:nvSpPr>
        <p:spPr>
          <a:xfrm>
            <a:off x="1755648" y="1627632"/>
            <a:ext cx="2331720" cy="777240"/>
          </a:xfrm>
          <a:prstGeom prst="roundRect">
            <a:avLst/>
          </a:prstGeom>
          <a:solidFill>
            <a:srgbClr val="0A2033"/>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828800" y="1737360"/>
            <a:ext cx="2185415" cy="182880"/>
          </a:xfrm>
          <a:prstGeom prst="rect">
            <a:avLst/>
          </a:prstGeom>
          <a:noFill/>
        </p:spPr>
        <p:txBody>
          <a:bodyPr wrap="square" lIns="64008" tIns="36576" rIns="64008" bIns="18288" anchor="t">
            <a:spAutoFit/>
          </a:bodyPr>
          <a:lstStyle/>
          <a:p>
            <a:pPr algn="ctr"/>
            <a:r>
              <a:rPr sz="800" b="1">
                <a:solidFill>
                  <a:srgbClr val="FFC400"/>
                </a:solidFill>
                <a:latin typeface="Aptos"/>
              </a:rPr>
              <a:t>TOTAL TRIPS</a:t>
            </a:r>
          </a:p>
        </p:txBody>
      </p:sp>
      <p:sp>
        <p:nvSpPr>
          <p:cNvPr id="16" name="TextBox 15"/>
          <p:cNvSpPr txBox="1"/>
          <p:nvPr/>
        </p:nvSpPr>
        <p:spPr>
          <a:xfrm>
            <a:off x="1828800" y="1975104"/>
            <a:ext cx="2185415" cy="274320"/>
          </a:xfrm>
          <a:prstGeom prst="rect">
            <a:avLst/>
          </a:prstGeom>
          <a:noFill/>
        </p:spPr>
        <p:txBody>
          <a:bodyPr wrap="square" lIns="64008" tIns="36576" rIns="64008" bIns="18288" anchor="t">
            <a:spAutoFit/>
          </a:bodyPr>
          <a:lstStyle/>
          <a:p>
            <a:pPr algn="ctr"/>
            <a:r>
              <a:rPr sz="1700" b="1">
                <a:solidFill>
                  <a:srgbClr val="FFFFFF"/>
                </a:solidFill>
                <a:latin typeface="Aptos"/>
              </a:rPr>
              <a:t>18M</a:t>
            </a:r>
          </a:p>
        </p:txBody>
      </p:sp>
      <p:sp>
        <p:nvSpPr>
          <p:cNvPr id="17" name="Rounded Rectangle 16"/>
          <p:cNvSpPr/>
          <p:nvPr/>
        </p:nvSpPr>
        <p:spPr>
          <a:xfrm>
            <a:off x="4288536" y="1627632"/>
            <a:ext cx="2331720" cy="777240"/>
          </a:xfrm>
          <a:prstGeom prst="roundRect">
            <a:avLst/>
          </a:prstGeom>
          <a:solidFill>
            <a:srgbClr val="0A2033"/>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61688" y="1737360"/>
            <a:ext cx="2185415" cy="182880"/>
          </a:xfrm>
          <a:prstGeom prst="rect">
            <a:avLst/>
          </a:prstGeom>
          <a:noFill/>
        </p:spPr>
        <p:txBody>
          <a:bodyPr wrap="square" lIns="64008" tIns="36576" rIns="64008" bIns="18288" anchor="t">
            <a:spAutoFit/>
          </a:bodyPr>
          <a:lstStyle/>
          <a:p>
            <a:pPr algn="ctr"/>
            <a:r>
              <a:rPr sz="800" b="1">
                <a:solidFill>
                  <a:srgbClr val="FFC400"/>
                </a:solidFill>
                <a:latin typeface="Aptos"/>
              </a:rPr>
              <a:t>AVG TRIP DISTANCE</a:t>
            </a:r>
          </a:p>
        </p:txBody>
      </p:sp>
      <p:sp>
        <p:nvSpPr>
          <p:cNvPr id="19" name="TextBox 18"/>
          <p:cNvSpPr txBox="1"/>
          <p:nvPr/>
        </p:nvSpPr>
        <p:spPr>
          <a:xfrm>
            <a:off x="4361688" y="1975104"/>
            <a:ext cx="2185415" cy="274320"/>
          </a:xfrm>
          <a:prstGeom prst="rect">
            <a:avLst/>
          </a:prstGeom>
          <a:noFill/>
        </p:spPr>
        <p:txBody>
          <a:bodyPr wrap="square" lIns="64008" tIns="36576" rIns="64008" bIns="18288" anchor="t">
            <a:spAutoFit/>
          </a:bodyPr>
          <a:lstStyle/>
          <a:p>
            <a:pPr algn="ctr"/>
            <a:r>
              <a:rPr sz="1700" b="1">
                <a:solidFill>
                  <a:srgbClr val="FFFFFF"/>
                </a:solidFill>
                <a:latin typeface="Aptos"/>
              </a:rPr>
              <a:t>4.58</a:t>
            </a:r>
          </a:p>
        </p:txBody>
      </p:sp>
      <p:sp>
        <p:nvSpPr>
          <p:cNvPr id="20" name="Rounded Rectangle 19"/>
          <p:cNvSpPr/>
          <p:nvPr/>
        </p:nvSpPr>
        <p:spPr>
          <a:xfrm>
            <a:off x="6821424" y="1627632"/>
            <a:ext cx="2331720" cy="777240"/>
          </a:xfrm>
          <a:prstGeom prst="roundRect">
            <a:avLst/>
          </a:prstGeom>
          <a:solidFill>
            <a:srgbClr val="0A2033"/>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94576" y="1737360"/>
            <a:ext cx="2185415" cy="182880"/>
          </a:xfrm>
          <a:prstGeom prst="rect">
            <a:avLst/>
          </a:prstGeom>
          <a:noFill/>
        </p:spPr>
        <p:txBody>
          <a:bodyPr wrap="square" lIns="64008" tIns="36576" rIns="64008" bIns="18288" anchor="t">
            <a:spAutoFit/>
          </a:bodyPr>
          <a:lstStyle/>
          <a:p>
            <a:pPr algn="ctr"/>
            <a:r>
              <a:rPr sz="800" b="1">
                <a:solidFill>
                  <a:srgbClr val="FFC400"/>
                </a:solidFill>
                <a:latin typeface="Aptos"/>
              </a:rPr>
              <a:t>AVG FARE / TRIP</a:t>
            </a:r>
          </a:p>
        </p:txBody>
      </p:sp>
      <p:sp>
        <p:nvSpPr>
          <p:cNvPr id="22" name="TextBox 21"/>
          <p:cNvSpPr txBox="1"/>
          <p:nvPr/>
        </p:nvSpPr>
        <p:spPr>
          <a:xfrm>
            <a:off x="6894576" y="1975104"/>
            <a:ext cx="2185415" cy="274320"/>
          </a:xfrm>
          <a:prstGeom prst="rect">
            <a:avLst/>
          </a:prstGeom>
          <a:noFill/>
        </p:spPr>
        <p:txBody>
          <a:bodyPr wrap="square" lIns="64008" tIns="36576" rIns="64008" bIns="18288" anchor="t">
            <a:spAutoFit/>
          </a:bodyPr>
          <a:lstStyle/>
          <a:p>
            <a:pPr algn="ctr"/>
            <a:r>
              <a:rPr sz="1700" b="1">
                <a:solidFill>
                  <a:srgbClr val="FFFFFF"/>
                </a:solidFill>
                <a:latin typeface="Aptos"/>
              </a:rPr>
              <a:t>18.45</a:t>
            </a:r>
          </a:p>
        </p:txBody>
      </p:sp>
      <p:sp>
        <p:nvSpPr>
          <p:cNvPr id="23" name="Rounded Rectangle 22"/>
          <p:cNvSpPr/>
          <p:nvPr/>
        </p:nvSpPr>
        <p:spPr>
          <a:xfrm>
            <a:off x="9354312" y="1627632"/>
            <a:ext cx="2331720" cy="777240"/>
          </a:xfrm>
          <a:prstGeom prst="roundRect">
            <a:avLst/>
          </a:prstGeom>
          <a:solidFill>
            <a:srgbClr val="0A2033"/>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27464" y="1737360"/>
            <a:ext cx="2185415" cy="182880"/>
          </a:xfrm>
          <a:prstGeom prst="rect">
            <a:avLst/>
          </a:prstGeom>
          <a:noFill/>
        </p:spPr>
        <p:txBody>
          <a:bodyPr wrap="square" lIns="64008" tIns="36576" rIns="64008" bIns="18288" anchor="t">
            <a:spAutoFit/>
          </a:bodyPr>
          <a:lstStyle/>
          <a:p>
            <a:pPr algn="ctr"/>
            <a:r>
              <a:rPr sz="800" b="1">
                <a:solidFill>
                  <a:srgbClr val="FFC400"/>
                </a:solidFill>
                <a:latin typeface="Aptos"/>
              </a:rPr>
              <a:t>TOTAL ZONES</a:t>
            </a:r>
          </a:p>
        </p:txBody>
      </p:sp>
      <p:sp>
        <p:nvSpPr>
          <p:cNvPr id="25" name="TextBox 24"/>
          <p:cNvSpPr txBox="1"/>
          <p:nvPr/>
        </p:nvSpPr>
        <p:spPr>
          <a:xfrm>
            <a:off x="9427464" y="1975104"/>
            <a:ext cx="2185415" cy="274320"/>
          </a:xfrm>
          <a:prstGeom prst="rect">
            <a:avLst/>
          </a:prstGeom>
          <a:noFill/>
        </p:spPr>
        <p:txBody>
          <a:bodyPr wrap="square" lIns="64008" tIns="36576" rIns="64008" bIns="18288" anchor="t">
            <a:spAutoFit/>
          </a:bodyPr>
          <a:lstStyle/>
          <a:p>
            <a:pPr algn="ctr"/>
            <a:r>
              <a:rPr sz="1700" b="1">
                <a:solidFill>
                  <a:srgbClr val="FFFFFF"/>
                </a:solidFill>
                <a:latin typeface="Aptos"/>
              </a:rPr>
              <a:t>262</a:t>
            </a:r>
          </a:p>
        </p:txBody>
      </p:sp>
      <p:sp>
        <p:nvSpPr>
          <p:cNvPr id="26" name="Rounded Rectangle 25"/>
          <p:cNvSpPr/>
          <p:nvPr/>
        </p:nvSpPr>
        <p:spPr>
          <a:xfrm>
            <a:off x="1783080" y="2697480"/>
            <a:ext cx="4617720" cy="3246120"/>
          </a:xfrm>
          <a:prstGeom prst="roundRect">
            <a:avLst/>
          </a:prstGeom>
          <a:solidFill>
            <a:srgbClr val="F2F6F9"/>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993392" y="2880360"/>
            <a:ext cx="4206240" cy="292608"/>
          </a:xfrm>
          <a:prstGeom prst="rect">
            <a:avLst/>
          </a:prstGeom>
          <a:noFill/>
        </p:spPr>
        <p:txBody>
          <a:bodyPr wrap="square" lIns="64008" tIns="36576" rIns="64008" bIns="18288" anchor="t">
            <a:spAutoFit/>
          </a:bodyPr>
          <a:lstStyle/>
          <a:p>
            <a:r>
              <a:rPr sz="1200" b="1">
                <a:solidFill>
                  <a:srgbClr val="051422"/>
                </a:solidFill>
                <a:latin typeface="Aptos"/>
              </a:rPr>
              <a:t>WHAT THE DASHBOARD SHOWS</a:t>
            </a:r>
          </a:p>
        </p:txBody>
      </p:sp>
      <p:sp>
        <p:nvSpPr>
          <p:cNvPr id="28" name="Rounded Rectangle 27"/>
          <p:cNvSpPr/>
          <p:nvPr/>
        </p:nvSpPr>
        <p:spPr>
          <a:xfrm>
            <a:off x="1993392" y="337413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49424" y="3310128"/>
            <a:ext cx="3904487" cy="731519"/>
          </a:xfrm>
          <a:prstGeom prst="rect">
            <a:avLst/>
          </a:prstGeom>
          <a:noFill/>
        </p:spPr>
        <p:txBody>
          <a:bodyPr wrap="square" lIns="64008" tIns="36576" rIns="64008" bIns="18288" anchor="t">
            <a:spAutoFit/>
          </a:bodyPr>
          <a:lstStyle/>
          <a:p>
            <a:r>
              <a:rPr sz="1100" b="0">
                <a:solidFill>
                  <a:srgbClr val="192B3C"/>
                </a:solidFill>
                <a:latin typeface="Aptos"/>
              </a:rPr>
              <a:t>The hourly line shows demand rising through the day, with the strongest activity around late afternoon / early evening.</a:t>
            </a:r>
          </a:p>
        </p:txBody>
      </p:sp>
      <p:sp>
        <p:nvSpPr>
          <p:cNvPr id="30" name="Rounded Rectangle 29"/>
          <p:cNvSpPr/>
          <p:nvPr/>
        </p:nvSpPr>
        <p:spPr>
          <a:xfrm>
            <a:off x="1993392" y="415137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249424" y="4087368"/>
            <a:ext cx="3904487" cy="731519"/>
          </a:xfrm>
          <a:prstGeom prst="rect">
            <a:avLst/>
          </a:prstGeom>
          <a:noFill/>
        </p:spPr>
        <p:txBody>
          <a:bodyPr wrap="square" lIns="64008" tIns="36576" rIns="64008" bIns="18288" anchor="t">
            <a:spAutoFit/>
          </a:bodyPr>
          <a:lstStyle/>
          <a:p>
            <a:r>
              <a:rPr sz="1100" b="0">
                <a:solidFill>
                  <a:srgbClr val="192B3C"/>
                </a:solidFill>
                <a:latin typeface="Aptos"/>
              </a:rPr>
              <a:t>The weekday bar chart ranks Friday highest among the displayed days, followed by Saturday and Thursday.</a:t>
            </a:r>
          </a:p>
        </p:txBody>
      </p:sp>
      <p:sp>
        <p:nvSpPr>
          <p:cNvPr id="32" name="Rounded Rectangle 31"/>
          <p:cNvSpPr/>
          <p:nvPr/>
        </p:nvSpPr>
        <p:spPr>
          <a:xfrm>
            <a:off x="1993392" y="492861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249424" y="4864607"/>
            <a:ext cx="3904487" cy="731519"/>
          </a:xfrm>
          <a:prstGeom prst="rect">
            <a:avLst/>
          </a:prstGeom>
          <a:noFill/>
        </p:spPr>
        <p:txBody>
          <a:bodyPr wrap="square" lIns="64008" tIns="36576" rIns="64008" bIns="18288" anchor="t">
            <a:spAutoFit/>
          </a:bodyPr>
          <a:lstStyle/>
          <a:p>
            <a:r>
              <a:rPr sz="1100" b="0">
                <a:solidFill>
                  <a:srgbClr val="192B3C"/>
                </a:solidFill>
                <a:latin typeface="Aptos"/>
              </a:rPr>
              <a:t>The report provides hour and day filters to examine demand at more granular levels.</a:t>
            </a:r>
          </a:p>
        </p:txBody>
      </p:sp>
      <p:sp>
        <p:nvSpPr>
          <p:cNvPr id="34" name="Rounded Rectangle 33"/>
          <p:cNvSpPr/>
          <p:nvPr/>
        </p:nvSpPr>
        <p:spPr>
          <a:xfrm>
            <a:off x="6629400" y="2697480"/>
            <a:ext cx="4983480" cy="3246120"/>
          </a:xfrm>
          <a:prstGeom prst="roundRect">
            <a:avLst/>
          </a:prstGeom>
          <a:solidFill>
            <a:srgbClr val="FFF9E1"/>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8000" y="2880360"/>
            <a:ext cx="4480560" cy="292608"/>
          </a:xfrm>
          <a:prstGeom prst="rect">
            <a:avLst/>
          </a:prstGeom>
          <a:noFill/>
        </p:spPr>
        <p:txBody>
          <a:bodyPr wrap="square" lIns="64008" tIns="36576" rIns="64008" bIns="18288" anchor="t">
            <a:spAutoFit/>
          </a:bodyPr>
          <a:lstStyle/>
          <a:p>
            <a:r>
              <a:rPr sz="1200" b="1">
                <a:solidFill>
                  <a:srgbClr val="051422"/>
                </a:solidFill>
                <a:latin typeface="Aptos"/>
              </a:rPr>
              <a:t>HOW THE BUSINESS CAN USE IT</a:t>
            </a:r>
          </a:p>
        </p:txBody>
      </p:sp>
      <p:sp>
        <p:nvSpPr>
          <p:cNvPr id="36" name="Rounded Rectangle 35"/>
          <p:cNvSpPr/>
          <p:nvPr/>
        </p:nvSpPr>
        <p:spPr>
          <a:xfrm>
            <a:off x="6858000" y="337413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114032" y="3310128"/>
            <a:ext cx="4178807" cy="731519"/>
          </a:xfrm>
          <a:prstGeom prst="rect">
            <a:avLst/>
          </a:prstGeom>
          <a:noFill/>
        </p:spPr>
        <p:txBody>
          <a:bodyPr wrap="square" lIns="64008" tIns="36576" rIns="64008" bIns="18288" anchor="t">
            <a:spAutoFit/>
          </a:bodyPr>
          <a:lstStyle/>
          <a:p>
            <a:r>
              <a:rPr sz="1100" b="0">
                <a:solidFill>
                  <a:srgbClr val="192B3C"/>
                </a:solidFill>
                <a:latin typeface="Aptos"/>
              </a:rPr>
              <a:t>Test driver positioning before the late-afternoon/evening peak, using more than one representative week.</a:t>
            </a:r>
          </a:p>
        </p:txBody>
      </p:sp>
      <p:sp>
        <p:nvSpPr>
          <p:cNvPr id="38" name="Rounded Rectangle 37"/>
          <p:cNvSpPr/>
          <p:nvPr/>
        </p:nvSpPr>
        <p:spPr>
          <a:xfrm>
            <a:off x="6858000" y="415137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114032" y="4087368"/>
            <a:ext cx="4178807" cy="731519"/>
          </a:xfrm>
          <a:prstGeom prst="rect">
            <a:avLst/>
          </a:prstGeom>
          <a:noFill/>
        </p:spPr>
        <p:txBody>
          <a:bodyPr wrap="square" lIns="64008" tIns="36576" rIns="64008" bIns="18288" anchor="t">
            <a:spAutoFit/>
          </a:bodyPr>
          <a:lstStyle/>
          <a:p>
            <a:r>
              <a:rPr sz="1100" b="0">
                <a:solidFill>
                  <a:srgbClr val="192B3C"/>
                </a:solidFill>
                <a:latin typeface="Aptos"/>
              </a:rPr>
              <a:t>Compare weekdays with weekends and seasonality before changing shift plans.</a:t>
            </a:r>
          </a:p>
        </p:txBody>
      </p:sp>
      <p:sp>
        <p:nvSpPr>
          <p:cNvPr id="40" name="Rounded Rectangle 39"/>
          <p:cNvSpPr/>
          <p:nvPr/>
        </p:nvSpPr>
        <p:spPr>
          <a:xfrm>
            <a:off x="6858000" y="492861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114032" y="4864607"/>
            <a:ext cx="4178807" cy="731519"/>
          </a:xfrm>
          <a:prstGeom prst="rect">
            <a:avLst/>
          </a:prstGeom>
          <a:noFill/>
        </p:spPr>
        <p:txBody>
          <a:bodyPr wrap="square" lIns="64008" tIns="36576" rIns="64008" bIns="18288" anchor="t">
            <a:spAutoFit/>
          </a:bodyPr>
          <a:lstStyle/>
          <a:p>
            <a:r>
              <a:rPr sz="1100" b="0">
                <a:solidFill>
                  <a:srgbClr val="192B3C"/>
                </a:solidFill>
                <a:latin typeface="Aptos"/>
              </a:rPr>
              <a:t>Confirm the donut visual is mapped to the intended measure: its labels currently repeat total revenue rather than a time-slot distribution.</a:t>
            </a:r>
          </a:p>
        </p:txBody>
      </p:sp>
      <p:sp>
        <p:nvSpPr>
          <p:cNvPr id="42" name="TextBox 41"/>
          <p:cNvSpPr txBox="1"/>
          <p:nvPr/>
        </p:nvSpPr>
        <p:spPr>
          <a:xfrm>
            <a:off x="1828800" y="6144768"/>
            <a:ext cx="9692640" cy="274320"/>
          </a:xfrm>
          <a:prstGeom prst="rect">
            <a:avLst/>
          </a:prstGeom>
          <a:noFill/>
        </p:spPr>
        <p:txBody>
          <a:bodyPr wrap="square" lIns="64008" tIns="36576" rIns="64008" bIns="18288" anchor="t">
            <a:spAutoFit/>
          </a:bodyPr>
          <a:lstStyle/>
          <a:p>
            <a:r>
              <a:rPr sz="900" b="0">
                <a:solidFill>
                  <a:srgbClr val="5F6F7F"/>
                </a:solidFill>
                <a:latin typeface="Aptos"/>
              </a:rPr>
              <a:t>Interpretation is based on the values visible in the supplied screenshot; validate measures and filters in the PBIX before operational use.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37160"/>
            <a:ext cx="1325880" cy="6720840"/>
          </a:xfrm>
          <a:prstGeom prst="rect">
            <a:avLst/>
          </a:prstGeom>
          <a:solidFill>
            <a:srgbClr val="051422"/>
          </a:solidFill>
          <a:ln>
            <a:solidFill>
              <a:srgbClr val="0514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 y="256032"/>
            <a:ext cx="1024128" cy="411480"/>
          </a:xfrm>
          <a:prstGeom prst="rect">
            <a:avLst/>
          </a:prstGeom>
          <a:noFill/>
        </p:spPr>
        <p:txBody>
          <a:bodyPr wrap="square" lIns="64008" tIns="36576" rIns="64008" bIns="18288" anchor="t">
            <a:spAutoFit/>
          </a:bodyPr>
          <a:lstStyle/>
          <a:p>
            <a:pPr algn="ctr"/>
            <a:r>
              <a:rPr sz="2300" b="1">
                <a:solidFill>
                  <a:srgbClr val="FFFFFF"/>
                </a:solidFill>
                <a:latin typeface="Aptos"/>
              </a:rPr>
              <a:t>Uber</a:t>
            </a:r>
          </a:p>
        </p:txBody>
      </p:sp>
      <p:sp>
        <p:nvSpPr>
          <p:cNvPr id="5" name="Rectangle 4"/>
          <p:cNvSpPr/>
          <p:nvPr/>
        </p:nvSpPr>
        <p:spPr>
          <a:xfrm>
            <a:off x="1261872" y="256032"/>
            <a:ext cx="32004" cy="3657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1051560"/>
            <a:ext cx="960120" cy="594360"/>
          </a:xfrm>
          <a:prstGeom prst="rect">
            <a:avLst/>
          </a:prstGeom>
          <a:noFill/>
        </p:spPr>
        <p:txBody>
          <a:bodyPr wrap="square" lIns="64008" tIns="36576" rIns="64008" bIns="18288" anchor="t">
            <a:spAutoFit/>
          </a:bodyPr>
          <a:lstStyle/>
          <a:p>
            <a:pPr algn="ctr"/>
            <a:r>
              <a:rPr sz="1000" b="1">
                <a:solidFill>
                  <a:srgbClr val="FFC400"/>
                </a:solidFill>
                <a:latin typeface="Aptos"/>
              </a:rPr>
              <a:t>TRIPS
ANALYTICS</a:t>
            </a:r>
          </a:p>
        </p:txBody>
      </p:sp>
      <p:sp>
        <p:nvSpPr>
          <p:cNvPr id="7" name="TextBox 6"/>
          <p:cNvSpPr txBox="1"/>
          <p:nvPr/>
        </p:nvSpPr>
        <p:spPr>
          <a:xfrm>
            <a:off x="146304" y="4892040"/>
            <a:ext cx="1051560" cy="347472"/>
          </a:xfrm>
          <a:prstGeom prst="rect">
            <a:avLst/>
          </a:prstGeom>
          <a:noFill/>
        </p:spPr>
        <p:txBody>
          <a:bodyPr wrap="square" lIns="64008" tIns="36576" rIns="64008" bIns="18288" anchor="t">
            <a:spAutoFit/>
          </a:bodyPr>
          <a:lstStyle/>
          <a:p>
            <a:pPr algn="ctr"/>
            <a:r>
              <a:rPr sz="2600" b="0">
                <a:solidFill>
                  <a:srgbClr val="FFC400"/>
                </a:solidFill>
                <a:latin typeface="Aptos"/>
              </a:rPr>
              <a:t>🚕</a:t>
            </a:r>
          </a:p>
        </p:txBody>
      </p:sp>
      <p:sp>
        <p:nvSpPr>
          <p:cNvPr id="8" name="TextBox 7"/>
          <p:cNvSpPr txBox="1"/>
          <p:nvPr/>
        </p:nvSpPr>
        <p:spPr>
          <a:xfrm>
            <a:off x="109728" y="5303520"/>
            <a:ext cx="1097280" cy="685800"/>
          </a:xfrm>
          <a:prstGeom prst="rect">
            <a:avLst/>
          </a:prstGeom>
          <a:noFill/>
        </p:spPr>
        <p:txBody>
          <a:bodyPr wrap="square" lIns="64008" tIns="36576" rIns="64008" bIns="18288" anchor="t">
            <a:spAutoFit/>
          </a:bodyPr>
          <a:lstStyle/>
          <a:p>
            <a:pPr algn="ctr"/>
            <a:r>
              <a:rPr sz="800" b="1">
                <a:solidFill>
                  <a:srgbClr val="C3CFDA"/>
                </a:solidFill>
                <a:latin typeface="Aptos"/>
              </a:rPr>
              <a:t>NYC GREEN TAXI
DATA PROJECT</a:t>
            </a:r>
          </a:p>
        </p:txBody>
      </p:sp>
      <p:sp>
        <p:nvSpPr>
          <p:cNvPr id="9" name="TextBox 8"/>
          <p:cNvSpPr txBox="1"/>
          <p:nvPr/>
        </p:nvSpPr>
        <p:spPr>
          <a:xfrm>
            <a:off x="1645920" y="292608"/>
            <a:ext cx="9966960" cy="457200"/>
          </a:xfrm>
          <a:prstGeom prst="rect">
            <a:avLst/>
          </a:prstGeom>
          <a:noFill/>
        </p:spPr>
        <p:txBody>
          <a:bodyPr wrap="square" lIns="64008" tIns="36576" rIns="64008" bIns="18288" anchor="t">
            <a:spAutoFit/>
          </a:bodyPr>
          <a:lstStyle/>
          <a:p>
            <a:r>
              <a:rPr sz="2300" b="1">
                <a:solidFill>
                  <a:srgbClr val="051422"/>
                </a:solidFill>
                <a:latin typeface="Aptos"/>
              </a:rPr>
              <a:t>Dashboard 3: Geographic Patterns</a:t>
            </a:r>
          </a:p>
        </p:txBody>
      </p:sp>
      <p:sp>
        <p:nvSpPr>
          <p:cNvPr id="10" name="TextBox 9"/>
          <p:cNvSpPr txBox="1"/>
          <p:nvPr/>
        </p:nvSpPr>
        <p:spPr>
          <a:xfrm>
            <a:off x="1664208" y="768096"/>
            <a:ext cx="9144000" cy="228600"/>
          </a:xfrm>
          <a:prstGeom prst="rect">
            <a:avLst/>
          </a:prstGeom>
          <a:noFill/>
        </p:spPr>
        <p:txBody>
          <a:bodyPr wrap="square" lIns="64008" tIns="36576" rIns="64008" bIns="18288" anchor="t">
            <a:spAutoFit/>
          </a:bodyPr>
          <a:lstStyle/>
          <a:p>
            <a:r>
              <a:rPr sz="900" b="1">
                <a:solidFill>
                  <a:srgbClr val="007EBE"/>
                </a:solidFill>
                <a:latin typeface="Aptos"/>
              </a:rPr>
              <a:t>ORIGINAL POWER BI SCREENSHOT</a:t>
            </a:r>
          </a:p>
        </p:txBody>
      </p:sp>
      <p:sp>
        <p:nvSpPr>
          <p:cNvPr id="11" name="Rectangle 10"/>
          <p:cNvSpPr/>
          <p:nvPr/>
        </p:nvSpPr>
        <p:spPr>
          <a:xfrm>
            <a:off x="1664208" y="1060704"/>
            <a:ext cx="68580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719072" y="1234440"/>
            <a:ext cx="10012680" cy="256032"/>
          </a:xfrm>
          <a:prstGeom prst="rect">
            <a:avLst/>
          </a:prstGeom>
          <a:noFill/>
        </p:spPr>
        <p:txBody>
          <a:bodyPr wrap="square" lIns="64008" tIns="36576" rIns="64008" bIns="18288" anchor="t">
            <a:spAutoFit/>
          </a:bodyPr>
          <a:lstStyle/>
          <a:p>
            <a:r>
              <a:rPr sz="900" b="1">
                <a:solidFill>
                  <a:srgbClr val="007EBE"/>
                </a:solidFill>
                <a:latin typeface="Aptos"/>
              </a:rPr>
              <a:t>FILTERS AND VISUALS AS PROVIDED</a:t>
            </a:r>
          </a:p>
        </p:txBody>
      </p:sp>
      <p:pic>
        <p:nvPicPr>
          <p:cNvPr id="14" name="Picture 13" descr="Screenshot 2026-10-22 101007.png"/>
          <p:cNvPicPr>
            <a:picLocks noChangeAspect="1"/>
          </p:cNvPicPr>
          <p:nvPr/>
        </p:nvPicPr>
        <p:blipFill>
          <a:blip r:embed="rId2"/>
          <a:stretch>
            <a:fillRect/>
          </a:stretch>
        </p:blipFill>
        <p:spPr>
          <a:xfrm>
            <a:off x="2654390" y="1572768"/>
            <a:ext cx="8142043" cy="507492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37160"/>
            <a:ext cx="1325880" cy="6720840"/>
          </a:xfrm>
          <a:prstGeom prst="rect">
            <a:avLst/>
          </a:prstGeom>
          <a:solidFill>
            <a:srgbClr val="051422"/>
          </a:solidFill>
          <a:ln>
            <a:solidFill>
              <a:srgbClr val="0514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 y="256032"/>
            <a:ext cx="1024128" cy="411480"/>
          </a:xfrm>
          <a:prstGeom prst="rect">
            <a:avLst/>
          </a:prstGeom>
          <a:noFill/>
        </p:spPr>
        <p:txBody>
          <a:bodyPr wrap="square" lIns="64008" tIns="36576" rIns="64008" bIns="18288" anchor="t">
            <a:spAutoFit/>
          </a:bodyPr>
          <a:lstStyle/>
          <a:p>
            <a:pPr algn="ctr"/>
            <a:r>
              <a:rPr sz="2300" b="1">
                <a:solidFill>
                  <a:srgbClr val="FFFFFF"/>
                </a:solidFill>
                <a:latin typeface="Aptos"/>
              </a:rPr>
              <a:t>Uber</a:t>
            </a:r>
          </a:p>
        </p:txBody>
      </p:sp>
      <p:sp>
        <p:nvSpPr>
          <p:cNvPr id="5" name="Rectangle 4"/>
          <p:cNvSpPr/>
          <p:nvPr/>
        </p:nvSpPr>
        <p:spPr>
          <a:xfrm>
            <a:off x="1261872" y="256032"/>
            <a:ext cx="32004" cy="3657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1051560"/>
            <a:ext cx="960120" cy="594360"/>
          </a:xfrm>
          <a:prstGeom prst="rect">
            <a:avLst/>
          </a:prstGeom>
          <a:noFill/>
        </p:spPr>
        <p:txBody>
          <a:bodyPr wrap="square" lIns="64008" tIns="36576" rIns="64008" bIns="18288" anchor="t">
            <a:spAutoFit/>
          </a:bodyPr>
          <a:lstStyle/>
          <a:p>
            <a:pPr algn="ctr"/>
            <a:r>
              <a:rPr sz="1000" b="1">
                <a:solidFill>
                  <a:srgbClr val="FFC400"/>
                </a:solidFill>
                <a:latin typeface="Aptos"/>
              </a:rPr>
              <a:t>TRIPS
ANALYTICS</a:t>
            </a:r>
          </a:p>
        </p:txBody>
      </p:sp>
      <p:sp>
        <p:nvSpPr>
          <p:cNvPr id="7" name="TextBox 6"/>
          <p:cNvSpPr txBox="1"/>
          <p:nvPr/>
        </p:nvSpPr>
        <p:spPr>
          <a:xfrm>
            <a:off x="146304" y="4892040"/>
            <a:ext cx="1051560" cy="347472"/>
          </a:xfrm>
          <a:prstGeom prst="rect">
            <a:avLst/>
          </a:prstGeom>
          <a:noFill/>
        </p:spPr>
        <p:txBody>
          <a:bodyPr wrap="square" lIns="64008" tIns="36576" rIns="64008" bIns="18288" anchor="t">
            <a:spAutoFit/>
          </a:bodyPr>
          <a:lstStyle/>
          <a:p>
            <a:pPr algn="ctr"/>
            <a:r>
              <a:rPr sz="2600" b="0">
                <a:solidFill>
                  <a:srgbClr val="FFC400"/>
                </a:solidFill>
                <a:latin typeface="Aptos"/>
              </a:rPr>
              <a:t>🚕</a:t>
            </a:r>
          </a:p>
        </p:txBody>
      </p:sp>
      <p:sp>
        <p:nvSpPr>
          <p:cNvPr id="8" name="TextBox 7"/>
          <p:cNvSpPr txBox="1"/>
          <p:nvPr/>
        </p:nvSpPr>
        <p:spPr>
          <a:xfrm>
            <a:off x="109728" y="5303520"/>
            <a:ext cx="1097280" cy="685800"/>
          </a:xfrm>
          <a:prstGeom prst="rect">
            <a:avLst/>
          </a:prstGeom>
          <a:noFill/>
        </p:spPr>
        <p:txBody>
          <a:bodyPr wrap="square" lIns="64008" tIns="36576" rIns="64008" bIns="18288" anchor="t">
            <a:spAutoFit/>
          </a:bodyPr>
          <a:lstStyle/>
          <a:p>
            <a:pPr algn="ctr"/>
            <a:r>
              <a:rPr sz="800" b="1">
                <a:solidFill>
                  <a:srgbClr val="C3CFDA"/>
                </a:solidFill>
                <a:latin typeface="Aptos"/>
              </a:rPr>
              <a:t>NYC GREEN TAXI
DATA PROJECT</a:t>
            </a:r>
          </a:p>
        </p:txBody>
      </p:sp>
      <p:sp>
        <p:nvSpPr>
          <p:cNvPr id="9" name="TextBox 8"/>
          <p:cNvSpPr txBox="1"/>
          <p:nvPr/>
        </p:nvSpPr>
        <p:spPr>
          <a:xfrm>
            <a:off x="1645920" y="292608"/>
            <a:ext cx="9966960" cy="457200"/>
          </a:xfrm>
          <a:prstGeom prst="rect">
            <a:avLst/>
          </a:prstGeom>
          <a:noFill/>
        </p:spPr>
        <p:txBody>
          <a:bodyPr wrap="square" lIns="64008" tIns="36576" rIns="64008" bIns="18288" anchor="t">
            <a:spAutoFit/>
          </a:bodyPr>
          <a:lstStyle/>
          <a:p>
            <a:r>
              <a:rPr sz="2300" b="1">
                <a:solidFill>
                  <a:srgbClr val="051422"/>
                </a:solidFill>
                <a:latin typeface="Aptos"/>
              </a:rPr>
              <a:t>Dashboard 3: Key Findings</a:t>
            </a:r>
          </a:p>
        </p:txBody>
      </p:sp>
      <p:sp>
        <p:nvSpPr>
          <p:cNvPr id="10" name="TextBox 9"/>
          <p:cNvSpPr txBox="1"/>
          <p:nvPr/>
        </p:nvSpPr>
        <p:spPr>
          <a:xfrm>
            <a:off x="1664208" y="768096"/>
            <a:ext cx="9144000" cy="228600"/>
          </a:xfrm>
          <a:prstGeom prst="rect">
            <a:avLst/>
          </a:prstGeom>
          <a:noFill/>
        </p:spPr>
        <p:txBody>
          <a:bodyPr wrap="square" lIns="64008" tIns="36576" rIns="64008" bIns="18288" anchor="t">
            <a:spAutoFit/>
          </a:bodyPr>
          <a:lstStyle/>
          <a:p>
            <a:r>
              <a:rPr sz="900" b="1">
                <a:solidFill>
                  <a:srgbClr val="007EBE"/>
                </a:solidFill>
                <a:latin typeface="Aptos"/>
              </a:rPr>
              <a:t>INTERPRETATION • BUSINESS USE</a:t>
            </a:r>
          </a:p>
        </p:txBody>
      </p:sp>
      <p:sp>
        <p:nvSpPr>
          <p:cNvPr id="11" name="Rectangle 10"/>
          <p:cNvSpPr/>
          <p:nvPr/>
        </p:nvSpPr>
        <p:spPr>
          <a:xfrm>
            <a:off x="1664208" y="1060704"/>
            <a:ext cx="68580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783080" y="1261872"/>
            <a:ext cx="9875520" cy="320040"/>
          </a:xfrm>
          <a:prstGeom prst="rect">
            <a:avLst/>
          </a:prstGeom>
          <a:noFill/>
        </p:spPr>
        <p:txBody>
          <a:bodyPr wrap="square" lIns="64008" tIns="36576" rIns="64008" bIns="18288" anchor="t">
            <a:spAutoFit/>
          </a:bodyPr>
          <a:lstStyle/>
          <a:p>
            <a:r>
              <a:rPr sz="1100" b="1">
                <a:solidFill>
                  <a:srgbClr val="007EBE"/>
                </a:solidFill>
                <a:latin typeface="Aptos"/>
              </a:rPr>
              <a:t>KEY METRICS VISIBLE IN THE DASHBOARD</a:t>
            </a:r>
          </a:p>
        </p:txBody>
      </p:sp>
      <p:sp>
        <p:nvSpPr>
          <p:cNvPr id="14" name="Rounded Rectangle 13"/>
          <p:cNvSpPr/>
          <p:nvPr/>
        </p:nvSpPr>
        <p:spPr>
          <a:xfrm>
            <a:off x="1755648" y="1627632"/>
            <a:ext cx="2331720" cy="777240"/>
          </a:xfrm>
          <a:prstGeom prst="roundRect">
            <a:avLst/>
          </a:prstGeom>
          <a:solidFill>
            <a:srgbClr val="0A2033"/>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828800" y="1737360"/>
            <a:ext cx="2185415" cy="182880"/>
          </a:xfrm>
          <a:prstGeom prst="rect">
            <a:avLst/>
          </a:prstGeom>
          <a:noFill/>
        </p:spPr>
        <p:txBody>
          <a:bodyPr wrap="square" lIns="64008" tIns="36576" rIns="64008" bIns="18288" anchor="t">
            <a:spAutoFit/>
          </a:bodyPr>
          <a:lstStyle/>
          <a:p>
            <a:pPr algn="ctr"/>
            <a:r>
              <a:rPr sz="800" b="1">
                <a:solidFill>
                  <a:srgbClr val="FFC400"/>
                </a:solidFill>
                <a:latin typeface="Aptos"/>
              </a:rPr>
              <a:t>TOTAL ZONES</a:t>
            </a:r>
          </a:p>
        </p:txBody>
      </p:sp>
      <p:sp>
        <p:nvSpPr>
          <p:cNvPr id="16" name="TextBox 15"/>
          <p:cNvSpPr txBox="1"/>
          <p:nvPr/>
        </p:nvSpPr>
        <p:spPr>
          <a:xfrm>
            <a:off x="1828800" y="1975104"/>
            <a:ext cx="2185415" cy="274320"/>
          </a:xfrm>
          <a:prstGeom prst="rect">
            <a:avLst/>
          </a:prstGeom>
          <a:noFill/>
        </p:spPr>
        <p:txBody>
          <a:bodyPr wrap="square" lIns="64008" tIns="36576" rIns="64008" bIns="18288" anchor="t">
            <a:spAutoFit/>
          </a:bodyPr>
          <a:lstStyle/>
          <a:p>
            <a:pPr algn="ctr"/>
            <a:r>
              <a:rPr sz="1700" b="1">
                <a:solidFill>
                  <a:srgbClr val="FFFFFF"/>
                </a:solidFill>
                <a:latin typeface="Aptos"/>
              </a:rPr>
              <a:t>262</a:t>
            </a:r>
          </a:p>
        </p:txBody>
      </p:sp>
      <p:sp>
        <p:nvSpPr>
          <p:cNvPr id="17" name="Rounded Rectangle 16"/>
          <p:cNvSpPr/>
          <p:nvPr/>
        </p:nvSpPr>
        <p:spPr>
          <a:xfrm>
            <a:off x="4288536" y="1627632"/>
            <a:ext cx="2331720" cy="777240"/>
          </a:xfrm>
          <a:prstGeom prst="roundRect">
            <a:avLst/>
          </a:prstGeom>
          <a:solidFill>
            <a:srgbClr val="0A2033"/>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61688" y="1737360"/>
            <a:ext cx="2185415" cy="182880"/>
          </a:xfrm>
          <a:prstGeom prst="rect">
            <a:avLst/>
          </a:prstGeom>
          <a:noFill/>
        </p:spPr>
        <p:txBody>
          <a:bodyPr wrap="square" lIns="64008" tIns="36576" rIns="64008" bIns="18288" anchor="t">
            <a:spAutoFit/>
          </a:bodyPr>
          <a:lstStyle/>
          <a:p>
            <a:pPr algn="ctr"/>
            <a:r>
              <a:rPr sz="800" b="1">
                <a:solidFill>
                  <a:srgbClr val="FFC400"/>
                </a:solidFill>
                <a:latin typeface="Aptos"/>
              </a:rPr>
              <a:t>TOTAL BOROUGHS</a:t>
            </a:r>
          </a:p>
        </p:txBody>
      </p:sp>
      <p:sp>
        <p:nvSpPr>
          <p:cNvPr id="19" name="TextBox 18"/>
          <p:cNvSpPr txBox="1"/>
          <p:nvPr/>
        </p:nvSpPr>
        <p:spPr>
          <a:xfrm>
            <a:off x="4361688" y="1975104"/>
            <a:ext cx="2185415" cy="274320"/>
          </a:xfrm>
          <a:prstGeom prst="rect">
            <a:avLst/>
          </a:prstGeom>
          <a:noFill/>
        </p:spPr>
        <p:txBody>
          <a:bodyPr wrap="square" lIns="64008" tIns="36576" rIns="64008" bIns="18288" anchor="t">
            <a:spAutoFit/>
          </a:bodyPr>
          <a:lstStyle/>
          <a:p>
            <a:pPr algn="ctr"/>
            <a:r>
              <a:rPr sz="1700" b="1">
                <a:solidFill>
                  <a:srgbClr val="FFFFFF"/>
                </a:solidFill>
                <a:latin typeface="Aptos"/>
              </a:rPr>
              <a:t>7</a:t>
            </a:r>
          </a:p>
        </p:txBody>
      </p:sp>
      <p:sp>
        <p:nvSpPr>
          <p:cNvPr id="20" name="Rounded Rectangle 19"/>
          <p:cNvSpPr/>
          <p:nvPr/>
        </p:nvSpPr>
        <p:spPr>
          <a:xfrm>
            <a:off x="6821424" y="1627632"/>
            <a:ext cx="2331720" cy="777240"/>
          </a:xfrm>
          <a:prstGeom prst="roundRect">
            <a:avLst/>
          </a:prstGeom>
          <a:solidFill>
            <a:srgbClr val="0A2033"/>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94576" y="1737360"/>
            <a:ext cx="2185415" cy="182880"/>
          </a:xfrm>
          <a:prstGeom prst="rect">
            <a:avLst/>
          </a:prstGeom>
          <a:noFill/>
        </p:spPr>
        <p:txBody>
          <a:bodyPr wrap="square" lIns="64008" tIns="36576" rIns="64008" bIns="18288" anchor="t">
            <a:spAutoFit/>
          </a:bodyPr>
          <a:lstStyle/>
          <a:p>
            <a:pPr algn="ctr"/>
            <a:r>
              <a:rPr sz="800" b="1">
                <a:solidFill>
                  <a:srgbClr val="FFC400"/>
                </a:solidFill>
                <a:latin typeface="Aptos"/>
              </a:rPr>
              <a:t>AVG TRIP DISTANCE</a:t>
            </a:r>
          </a:p>
        </p:txBody>
      </p:sp>
      <p:sp>
        <p:nvSpPr>
          <p:cNvPr id="22" name="TextBox 21"/>
          <p:cNvSpPr txBox="1"/>
          <p:nvPr/>
        </p:nvSpPr>
        <p:spPr>
          <a:xfrm>
            <a:off x="6894576" y="1975104"/>
            <a:ext cx="2185415" cy="274320"/>
          </a:xfrm>
          <a:prstGeom prst="rect">
            <a:avLst/>
          </a:prstGeom>
          <a:noFill/>
        </p:spPr>
        <p:txBody>
          <a:bodyPr wrap="square" lIns="64008" tIns="36576" rIns="64008" bIns="18288" anchor="t">
            <a:spAutoFit/>
          </a:bodyPr>
          <a:lstStyle/>
          <a:p>
            <a:pPr algn="ctr"/>
            <a:r>
              <a:rPr sz="1700" b="1">
                <a:solidFill>
                  <a:srgbClr val="FFFFFF"/>
                </a:solidFill>
                <a:latin typeface="Aptos"/>
              </a:rPr>
              <a:t>4.58</a:t>
            </a:r>
          </a:p>
        </p:txBody>
      </p:sp>
      <p:sp>
        <p:nvSpPr>
          <p:cNvPr id="23" name="Rounded Rectangle 22"/>
          <p:cNvSpPr/>
          <p:nvPr/>
        </p:nvSpPr>
        <p:spPr>
          <a:xfrm>
            <a:off x="9354312" y="1627632"/>
            <a:ext cx="2331720" cy="777240"/>
          </a:xfrm>
          <a:prstGeom prst="roundRect">
            <a:avLst/>
          </a:prstGeom>
          <a:solidFill>
            <a:srgbClr val="0A2033"/>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27464" y="1737360"/>
            <a:ext cx="2185415" cy="182880"/>
          </a:xfrm>
          <a:prstGeom prst="rect">
            <a:avLst/>
          </a:prstGeom>
          <a:noFill/>
        </p:spPr>
        <p:txBody>
          <a:bodyPr wrap="square" lIns="64008" tIns="36576" rIns="64008" bIns="18288" anchor="t">
            <a:spAutoFit/>
          </a:bodyPr>
          <a:lstStyle/>
          <a:p>
            <a:pPr algn="ctr"/>
            <a:r>
              <a:rPr sz="800" b="1">
                <a:solidFill>
                  <a:srgbClr val="FFC400"/>
                </a:solidFill>
                <a:latin typeface="Aptos"/>
              </a:rPr>
              <a:t>TOTAL TRIPS</a:t>
            </a:r>
          </a:p>
        </p:txBody>
      </p:sp>
      <p:sp>
        <p:nvSpPr>
          <p:cNvPr id="25" name="TextBox 24"/>
          <p:cNvSpPr txBox="1"/>
          <p:nvPr/>
        </p:nvSpPr>
        <p:spPr>
          <a:xfrm>
            <a:off x="9427464" y="1975104"/>
            <a:ext cx="2185415" cy="274320"/>
          </a:xfrm>
          <a:prstGeom prst="rect">
            <a:avLst/>
          </a:prstGeom>
          <a:noFill/>
        </p:spPr>
        <p:txBody>
          <a:bodyPr wrap="square" lIns="64008" tIns="36576" rIns="64008" bIns="18288" anchor="t">
            <a:spAutoFit/>
          </a:bodyPr>
          <a:lstStyle/>
          <a:p>
            <a:pPr algn="ctr"/>
            <a:r>
              <a:rPr sz="1700" b="1">
                <a:solidFill>
                  <a:srgbClr val="FFFFFF"/>
                </a:solidFill>
                <a:latin typeface="Aptos"/>
              </a:rPr>
              <a:t>18M</a:t>
            </a:r>
          </a:p>
        </p:txBody>
      </p:sp>
      <p:sp>
        <p:nvSpPr>
          <p:cNvPr id="26" name="Rounded Rectangle 25"/>
          <p:cNvSpPr/>
          <p:nvPr/>
        </p:nvSpPr>
        <p:spPr>
          <a:xfrm>
            <a:off x="1783080" y="2697480"/>
            <a:ext cx="4617720" cy="3246120"/>
          </a:xfrm>
          <a:prstGeom prst="roundRect">
            <a:avLst/>
          </a:prstGeom>
          <a:solidFill>
            <a:srgbClr val="F2F6F9"/>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993392" y="2880360"/>
            <a:ext cx="4206240" cy="292608"/>
          </a:xfrm>
          <a:prstGeom prst="rect">
            <a:avLst/>
          </a:prstGeom>
          <a:noFill/>
        </p:spPr>
        <p:txBody>
          <a:bodyPr wrap="square" lIns="64008" tIns="36576" rIns="64008" bIns="18288" anchor="t">
            <a:spAutoFit/>
          </a:bodyPr>
          <a:lstStyle/>
          <a:p>
            <a:r>
              <a:rPr sz="1200" b="1">
                <a:solidFill>
                  <a:srgbClr val="051422"/>
                </a:solidFill>
                <a:latin typeface="Aptos"/>
              </a:rPr>
              <a:t>WHAT THE DASHBOARD SHOWS</a:t>
            </a:r>
          </a:p>
        </p:txBody>
      </p:sp>
      <p:sp>
        <p:nvSpPr>
          <p:cNvPr id="28" name="Rounded Rectangle 27"/>
          <p:cNvSpPr/>
          <p:nvPr/>
        </p:nvSpPr>
        <p:spPr>
          <a:xfrm>
            <a:off x="1993392" y="337413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49424" y="3310128"/>
            <a:ext cx="3904487" cy="731519"/>
          </a:xfrm>
          <a:prstGeom prst="rect">
            <a:avLst/>
          </a:prstGeom>
          <a:noFill/>
        </p:spPr>
        <p:txBody>
          <a:bodyPr wrap="square" lIns="64008" tIns="36576" rIns="64008" bIns="18288" anchor="t">
            <a:spAutoFit/>
          </a:bodyPr>
          <a:lstStyle/>
          <a:p>
            <a:r>
              <a:rPr sz="1100" b="0">
                <a:solidFill>
                  <a:srgbClr val="192B3C"/>
                </a:solidFill>
                <a:latin typeface="Aptos"/>
              </a:rPr>
              <a:t>The borough donut shows Manhattan as the largest share, with Brooklyn and Queens also contributing substantial volume.</a:t>
            </a:r>
          </a:p>
        </p:txBody>
      </p:sp>
      <p:sp>
        <p:nvSpPr>
          <p:cNvPr id="30" name="Rounded Rectangle 29"/>
          <p:cNvSpPr/>
          <p:nvPr/>
        </p:nvSpPr>
        <p:spPr>
          <a:xfrm>
            <a:off x="1993392" y="415137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249424" y="4087368"/>
            <a:ext cx="3904487" cy="731519"/>
          </a:xfrm>
          <a:prstGeom prst="rect">
            <a:avLst/>
          </a:prstGeom>
          <a:noFill/>
        </p:spPr>
        <p:txBody>
          <a:bodyPr wrap="square" lIns="64008" tIns="36576" rIns="64008" bIns="18288" anchor="t">
            <a:spAutoFit/>
          </a:bodyPr>
          <a:lstStyle/>
          <a:p>
            <a:r>
              <a:rPr sz="1100" b="0">
                <a:solidFill>
                  <a:srgbClr val="192B3C"/>
                </a:solidFill>
                <a:latin typeface="Aptos"/>
              </a:rPr>
              <a:t>The treemap breaks activity down into borough and zone groups for drill-down exploration.</a:t>
            </a:r>
          </a:p>
        </p:txBody>
      </p:sp>
      <p:sp>
        <p:nvSpPr>
          <p:cNvPr id="32" name="Rounded Rectangle 31"/>
          <p:cNvSpPr/>
          <p:nvPr/>
        </p:nvSpPr>
        <p:spPr>
          <a:xfrm>
            <a:off x="1993392" y="492861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249424" y="4864607"/>
            <a:ext cx="3904487" cy="731519"/>
          </a:xfrm>
          <a:prstGeom prst="rect">
            <a:avLst/>
          </a:prstGeom>
          <a:noFill/>
        </p:spPr>
        <p:txBody>
          <a:bodyPr wrap="square" lIns="64008" tIns="36576" rIns="64008" bIns="18288" anchor="t">
            <a:spAutoFit/>
          </a:bodyPr>
          <a:lstStyle/>
          <a:p>
            <a:r>
              <a:rPr sz="1100" b="0">
                <a:solidFill>
                  <a:srgbClr val="192B3C"/>
                </a:solidFill>
                <a:latin typeface="Aptos"/>
              </a:rPr>
              <a:t>The pickup-zone/drop-zone chart highlights several route averages, with the highest displayed value around 19.6.</a:t>
            </a:r>
          </a:p>
        </p:txBody>
      </p:sp>
      <p:sp>
        <p:nvSpPr>
          <p:cNvPr id="34" name="Rounded Rectangle 33"/>
          <p:cNvSpPr/>
          <p:nvPr/>
        </p:nvSpPr>
        <p:spPr>
          <a:xfrm>
            <a:off x="6629400" y="2697480"/>
            <a:ext cx="4983480" cy="3246120"/>
          </a:xfrm>
          <a:prstGeom prst="roundRect">
            <a:avLst/>
          </a:prstGeom>
          <a:solidFill>
            <a:srgbClr val="FFF9E1"/>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8000" y="2880360"/>
            <a:ext cx="4480560" cy="292608"/>
          </a:xfrm>
          <a:prstGeom prst="rect">
            <a:avLst/>
          </a:prstGeom>
          <a:noFill/>
        </p:spPr>
        <p:txBody>
          <a:bodyPr wrap="square" lIns="64008" tIns="36576" rIns="64008" bIns="18288" anchor="t">
            <a:spAutoFit/>
          </a:bodyPr>
          <a:lstStyle/>
          <a:p>
            <a:r>
              <a:rPr sz="1200" b="1">
                <a:solidFill>
                  <a:srgbClr val="051422"/>
                </a:solidFill>
                <a:latin typeface="Aptos"/>
              </a:rPr>
              <a:t>HOW THE BUSINESS CAN USE IT</a:t>
            </a:r>
          </a:p>
        </p:txBody>
      </p:sp>
      <p:sp>
        <p:nvSpPr>
          <p:cNvPr id="36" name="Rounded Rectangle 35"/>
          <p:cNvSpPr/>
          <p:nvPr/>
        </p:nvSpPr>
        <p:spPr>
          <a:xfrm>
            <a:off x="6858000" y="337413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114032" y="3310128"/>
            <a:ext cx="4178807" cy="731519"/>
          </a:xfrm>
          <a:prstGeom prst="rect">
            <a:avLst/>
          </a:prstGeom>
          <a:noFill/>
        </p:spPr>
        <p:txBody>
          <a:bodyPr wrap="square" lIns="64008" tIns="36576" rIns="64008" bIns="18288" anchor="t">
            <a:spAutoFit/>
          </a:bodyPr>
          <a:lstStyle/>
          <a:p>
            <a:r>
              <a:rPr sz="1100" b="0">
                <a:solidFill>
                  <a:srgbClr val="192B3C"/>
                </a:solidFill>
                <a:latin typeface="Aptos"/>
              </a:rPr>
              <a:t>Prioritize zone-level monitoring in high-volume boroughs, while checking coverage in lower-volume areas.</a:t>
            </a:r>
          </a:p>
        </p:txBody>
      </p:sp>
      <p:sp>
        <p:nvSpPr>
          <p:cNvPr id="38" name="Rounded Rectangle 37"/>
          <p:cNvSpPr/>
          <p:nvPr/>
        </p:nvSpPr>
        <p:spPr>
          <a:xfrm>
            <a:off x="6858000" y="415137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114032" y="4087368"/>
            <a:ext cx="4178807" cy="731519"/>
          </a:xfrm>
          <a:prstGeom prst="rect">
            <a:avLst/>
          </a:prstGeom>
          <a:noFill/>
        </p:spPr>
        <p:txBody>
          <a:bodyPr wrap="square" lIns="64008" tIns="36576" rIns="64008" bIns="18288" anchor="t">
            <a:spAutoFit/>
          </a:bodyPr>
          <a:lstStyle/>
          <a:p>
            <a:r>
              <a:rPr sz="1100" b="0">
                <a:solidFill>
                  <a:srgbClr val="192B3C"/>
                </a:solidFill>
                <a:latin typeface="Aptos"/>
              </a:rPr>
              <a:t>Use the route visual to identify where short-distance and longer-distance patterns differ.</a:t>
            </a:r>
          </a:p>
        </p:txBody>
      </p:sp>
      <p:sp>
        <p:nvSpPr>
          <p:cNvPr id="40" name="Rounded Rectangle 39"/>
          <p:cNvSpPr/>
          <p:nvPr/>
        </p:nvSpPr>
        <p:spPr>
          <a:xfrm>
            <a:off x="6858000" y="492861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114032" y="4864607"/>
            <a:ext cx="4178807" cy="731519"/>
          </a:xfrm>
          <a:prstGeom prst="rect">
            <a:avLst/>
          </a:prstGeom>
          <a:noFill/>
        </p:spPr>
        <p:txBody>
          <a:bodyPr wrap="square" lIns="64008" tIns="36576" rIns="64008" bIns="18288" anchor="t">
            <a:spAutoFit/>
          </a:bodyPr>
          <a:lstStyle/>
          <a:p>
            <a:r>
              <a:rPr sz="1100" b="0">
                <a:solidFill>
                  <a:srgbClr val="192B3C"/>
                </a:solidFill>
                <a:latin typeface="Aptos"/>
              </a:rPr>
              <a:t>Validate zone/borough labels and route sample sizes before dispatch or pricing decisions; a high average alone does not imply high demand.</a:t>
            </a:r>
          </a:p>
        </p:txBody>
      </p:sp>
      <p:sp>
        <p:nvSpPr>
          <p:cNvPr id="42" name="TextBox 41"/>
          <p:cNvSpPr txBox="1"/>
          <p:nvPr/>
        </p:nvSpPr>
        <p:spPr>
          <a:xfrm>
            <a:off x="1828800" y="6144768"/>
            <a:ext cx="9692640" cy="274320"/>
          </a:xfrm>
          <a:prstGeom prst="rect">
            <a:avLst/>
          </a:prstGeom>
          <a:noFill/>
        </p:spPr>
        <p:txBody>
          <a:bodyPr wrap="square" lIns="64008" tIns="36576" rIns="64008" bIns="18288" anchor="t">
            <a:spAutoFit/>
          </a:bodyPr>
          <a:lstStyle/>
          <a:p>
            <a:r>
              <a:rPr sz="900" b="0">
                <a:solidFill>
                  <a:srgbClr val="5F6F7F"/>
                </a:solidFill>
                <a:latin typeface="Aptos"/>
              </a:rPr>
              <a:t>Interpretation is based on the values visible in the supplied screenshot; validate measures and filters in the PBIX before operational use.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37160"/>
            <a:ext cx="1325880" cy="6720840"/>
          </a:xfrm>
          <a:prstGeom prst="rect">
            <a:avLst/>
          </a:prstGeom>
          <a:solidFill>
            <a:srgbClr val="051422"/>
          </a:solidFill>
          <a:ln>
            <a:solidFill>
              <a:srgbClr val="0514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 y="256032"/>
            <a:ext cx="1024128" cy="411480"/>
          </a:xfrm>
          <a:prstGeom prst="rect">
            <a:avLst/>
          </a:prstGeom>
          <a:noFill/>
        </p:spPr>
        <p:txBody>
          <a:bodyPr wrap="square" lIns="64008" tIns="36576" rIns="64008" bIns="18288" anchor="t">
            <a:spAutoFit/>
          </a:bodyPr>
          <a:lstStyle/>
          <a:p>
            <a:pPr algn="ctr"/>
            <a:r>
              <a:rPr sz="2300" b="1">
                <a:solidFill>
                  <a:srgbClr val="FFFFFF"/>
                </a:solidFill>
                <a:latin typeface="Aptos"/>
              </a:rPr>
              <a:t>Uber</a:t>
            </a:r>
          </a:p>
        </p:txBody>
      </p:sp>
      <p:sp>
        <p:nvSpPr>
          <p:cNvPr id="5" name="Rectangle 4"/>
          <p:cNvSpPr/>
          <p:nvPr/>
        </p:nvSpPr>
        <p:spPr>
          <a:xfrm>
            <a:off x="1261872" y="256032"/>
            <a:ext cx="32004" cy="3657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1051560"/>
            <a:ext cx="960120" cy="594360"/>
          </a:xfrm>
          <a:prstGeom prst="rect">
            <a:avLst/>
          </a:prstGeom>
          <a:noFill/>
        </p:spPr>
        <p:txBody>
          <a:bodyPr wrap="square" lIns="64008" tIns="36576" rIns="64008" bIns="18288" anchor="t">
            <a:spAutoFit/>
          </a:bodyPr>
          <a:lstStyle/>
          <a:p>
            <a:pPr algn="ctr"/>
            <a:r>
              <a:rPr sz="1000" b="1">
                <a:solidFill>
                  <a:srgbClr val="FFC400"/>
                </a:solidFill>
                <a:latin typeface="Aptos"/>
              </a:rPr>
              <a:t>TRIPS
ANALYTICS</a:t>
            </a:r>
          </a:p>
        </p:txBody>
      </p:sp>
      <p:sp>
        <p:nvSpPr>
          <p:cNvPr id="7" name="TextBox 6"/>
          <p:cNvSpPr txBox="1"/>
          <p:nvPr/>
        </p:nvSpPr>
        <p:spPr>
          <a:xfrm>
            <a:off x="146304" y="4892040"/>
            <a:ext cx="1051560" cy="347472"/>
          </a:xfrm>
          <a:prstGeom prst="rect">
            <a:avLst/>
          </a:prstGeom>
          <a:noFill/>
        </p:spPr>
        <p:txBody>
          <a:bodyPr wrap="square" lIns="64008" tIns="36576" rIns="64008" bIns="18288" anchor="t">
            <a:spAutoFit/>
          </a:bodyPr>
          <a:lstStyle/>
          <a:p>
            <a:pPr algn="ctr"/>
            <a:r>
              <a:rPr sz="2600" b="0">
                <a:solidFill>
                  <a:srgbClr val="FFC400"/>
                </a:solidFill>
                <a:latin typeface="Aptos"/>
              </a:rPr>
              <a:t>🚕</a:t>
            </a:r>
          </a:p>
        </p:txBody>
      </p:sp>
      <p:sp>
        <p:nvSpPr>
          <p:cNvPr id="8" name="TextBox 7"/>
          <p:cNvSpPr txBox="1"/>
          <p:nvPr/>
        </p:nvSpPr>
        <p:spPr>
          <a:xfrm>
            <a:off x="109728" y="5303520"/>
            <a:ext cx="1097280" cy="685800"/>
          </a:xfrm>
          <a:prstGeom prst="rect">
            <a:avLst/>
          </a:prstGeom>
          <a:noFill/>
        </p:spPr>
        <p:txBody>
          <a:bodyPr wrap="square" lIns="64008" tIns="36576" rIns="64008" bIns="18288" anchor="t">
            <a:spAutoFit/>
          </a:bodyPr>
          <a:lstStyle/>
          <a:p>
            <a:pPr algn="ctr"/>
            <a:r>
              <a:rPr sz="800" b="1">
                <a:solidFill>
                  <a:srgbClr val="C3CFDA"/>
                </a:solidFill>
                <a:latin typeface="Aptos"/>
              </a:rPr>
              <a:t>NYC GREEN TAXI
DATA PROJECT</a:t>
            </a:r>
          </a:p>
        </p:txBody>
      </p:sp>
      <p:sp>
        <p:nvSpPr>
          <p:cNvPr id="9" name="TextBox 8"/>
          <p:cNvSpPr txBox="1"/>
          <p:nvPr/>
        </p:nvSpPr>
        <p:spPr>
          <a:xfrm>
            <a:off x="1645920" y="292608"/>
            <a:ext cx="9966960" cy="457200"/>
          </a:xfrm>
          <a:prstGeom prst="rect">
            <a:avLst/>
          </a:prstGeom>
          <a:noFill/>
        </p:spPr>
        <p:txBody>
          <a:bodyPr wrap="square" lIns="64008" tIns="36576" rIns="64008" bIns="18288" anchor="t">
            <a:spAutoFit/>
          </a:bodyPr>
          <a:lstStyle/>
          <a:p>
            <a:r>
              <a:rPr sz="2300" b="1">
                <a:solidFill>
                  <a:srgbClr val="051422"/>
                </a:solidFill>
                <a:latin typeface="Aptos"/>
              </a:rPr>
              <a:t>Dashboard 4: Payment &amp; Tips Insights</a:t>
            </a:r>
          </a:p>
        </p:txBody>
      </p:sp>
      <p:sp>
        <p:nvSpPr>
          <p:cNvPr id="10" name="TextBox 9"/>
          <p:cNvSpPr txBox="1"/>
          <p:nvPr/>
        </p:nvSpPr>
        <p:spPr>
          <a:xfrm>
            <a:off x="1664208" y="768096"/>
            <a:ext cx="9144000" cy="228600"/>
          </a:xfrm>
          <a:prstGeom prst="rect">
            <a:avLst/>
          </a:prstGeom>
          <a:noFill/>
        </p:spPr>
        <p:txBody>
          <a:bodyPr wrap="square" lIns="64008" tIns="36576" rIns="64008" bIns="18288" anchor="t">
            <a:spAutoFit/>
          </a:bodyPr>
          <a:lstStyle/>
          <a:p>
            <a:r>
              <a:rPr sz="900" b="1">
                <a:solidFill>
                  <a:srgbClr val="007EBE"/>
                </a:solidFill>
                <a:latin typeface="Aptos"/>
              </a:rPr>
              <a:t>ORIGINAL POWER BI SCREENSHOT</a:t>
            </a:r>
          </a:p>
        </p:txBody>
      </p:sp>
      <p:sp>
        <p:nvSpPr>
          <p:cNvPr id="11" name="Rectangle 10"/>
          <p:cNvSpPr/>
          <p:nvPr/>
        </p:nvSpPr>
        <p:spPr>
          <a:xfrm>
            <a:off x="1664208" y="1060704"/>
            <a:ext cx="68580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719072" y="1234440"/>
            <a:ext cx="10012680" cy="256032"/>
          </a:xfrm>
          <a:prstGeom prst="rect">
            <a:avLst/>
          </a:prstGeom>
          <a:noFill/>
        </p:spPr>
        <p:txBody>
          <a:bodyPr wrap="square" lIns="64008" tIns="36576" rIns="64008" bIns="18288" anchor="t">
            <a:spAutoFit/>
          </a:bodyPr>
          <a:lstStyle/>
          <a:p>
            <a:r>
              <a:rPr sz="900" b="1">
                <a:solidFill>
                  <a:srgbClr val="007EBE"/>
                </a:solidFill>
                <a:latin typeface="Aptos"/>
              </a:rPr>
              <a:t>FILTERS AND VISUALS AS PROVIDED</a:t>
            </a:r>
          </a:p>
        </p:txBody>
      </p:sp>
      <p:pic>
        <p:nvPicPr>
          <p:cNvPr id="14" name="Picture 13" descr="Screenshot 2026-10-22 101105.png"/>
          <p:cNvPicPr>
            <a:picLocks noChangeAspect="1"/>
          </p:cNvPicPr>
          <p:nvPr/>
        </p:nvPicPr>
        <p:blipFill>
          <a:blip r:embed="rId2"/>
          <a:stretch>
            <a:fillRect/>
          </a:stretch>
        </p:blipFill>
        <p:spPr>
          <a:xfrm>
            <a:off x="2632137" y="1572768"/>
            <a:ext cx="8186549" cy="507492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37160"/>
            <a:ext cx="1325880" cy="6720840"/>
          </a:xfrm>
          <a:prstGeom prst="rect">
            <a:avLst/>
          </a:prstGeom>
          <a:solidFill>
            <a:srgbClr val="051422"/>
          </a:solidFill>
          <a:ln>
            <a:solidFill>
              <a:srgbClr val="0514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 y="256032"/>
            <a:ext cx="1024128" cy="411480"/>
          </a:xfrm>
          <a:prstGeom prst="rect">
            <a:avLst/>
          </a:prstGeom>
          <a:noFill/>
        </p:spPr>
        <p:txBody>
          <a:bodyPr wrap="square" lIns="64008" tIns="36576" rIns="64008" bIns="18288" anchor="t">
            <a:spAutoFit/>
          </a:bodyPr>
          <a:lstStyle/>
          <a:p>
            <a:pPr algn="ctr"/>
            <a:r>
              <a:rPr sz="2300" b="1">
                <a:solidFill>
                  <a:srgbClr val="FFFFFF"/>
                </a:solidFill>
                <a:latin typeface="Aptos"/>
              </a:rPr>
              <a:t>Uber</a:t>
            </a:r>
          </a:p>
        </p:txBody>
      </p:sp>
      <p:sp>
        <p:nvSpPr>
          <p:cNvPr id="5" name="Rectangle 4"/>
          <p:cNvSpPr/>
          <p:nvPr/>
        </p:nvSpPr>
        <p:spPr>
          <a:xfrm>
            <a:off x="1261872" y="256032"/>
            <a:ext cx="32004" cy="3657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1051560"/>
            <a:ext cx="960120" cy="594360"/>
          </a:xfrm>
          <a:prstGeom prst="rect">
            <a:avLst/>
          </a:prstGeom>
          <a:noFill/>
        </p:spPr>
        <p:txBody>
          <a:bodyPr wrap="square" lIns="64008" tIns="36576" rIns="64008" bIns="18288" anchor="t">
            <a:spAutoFit/>
          </a:bodyPr>
          <a:lstStyle/>
          <a:p>
            <a:pPr algn="ctr"/>
            <a:r>
              <a:rPr sz="1000" b="1">
                <a:solidFill>
                  <a:srgbClr val="FFC400"/>
                </a:solidFill>
                <a:latin typeface="Aptos"/>
              </a:rPr>
              <a:t>TRIPS
ANALYTICS</a:t>
            </a:r>
          </a:p>
        </p:txBody>
      </p:sp>
      <p:sp>
        <p:nvSpPr>
          <p:cNvPr id="7" name="TextBox 6"/>
          <p:cNvSpPr txBox="1"/>
          <p:nvPr/>
        </p:nvSpPr>
        <p:spPr>
          <a:xfrm>
            <a:off x="146304" y="4892040"/>
            <a:ext cx="1051560" cy="347472"/>
          </a:xfrm>
          <a:prstGeom prst="rect">
            <a:avLst/>
          </a:prstGeom>
          <a:noFill/>
        </p:spPr>
        <p:txBody>
          <a:bodyPr wrap="square" lIns="64008" tIns="36576" rIns="64008" bIns="18288" anchor="t">
            <a:spAutoFit/>
          </a:bodyPr>
          <a:lstStyle/>
          <a:p>
            <a:pPr algn="ctr"/>
            <a:r>
              <a:rPr sz="2600" b="0">
                <a:solidFill>
                  <a:srgbClr val="FFC400"/>
                </a:solidFill>
                <a:latin typeface="Aptos"/>
              </a:rPr>
              <a:t>🚕</a:t>
            </a:r>
          </a:p>
        </p:txBody>
      </p:sp>
      <p:sp>
        <p:nvSpPr>
          <p:cNvPr id="8" name="TextBox 7"/>
          <p:cNvSpPr txBox="1"/>
          <p:nvPr/>
        </p:nvSpPr>
        <p:spPr>
          <a:xfrm>
            <a:off x="109728" y="5303520"/>
            <a:ext cx="1097280" cy="685800"/>
          </a:xfrm>
          <a:prstGeom prst="rect">
            <a:avLst/>
          </a:prstGeom>
          <a:noFill/>
        </p:spPr>
        <p:txBody>
          <a:bodyPr wrap="square" lIns="64008" tIns="36576" rIns="64008" bIns="18288" anchor="t">
            <a:spAutoFit/>
          </a:bodyPr>
          <a:lstStyle/>
          <a:p>
            <a:pPr algn="ctr"/>
            <a:r>
              <a:rPr sz="800" b="1">
                <a:solidFill>
                  <a:srgbClr val="C3CFDA"/>
                </a:solidFill>
                <a:latin typeface="Aptos"/>
              </a:rPr>
              <a:t>NYC GREEN TAXI
DATA PROJECT</a:t>
            </a:r>
          </a:p>
        </p:txBody>
      </p:sp>
      <p:sp>
        <p:nvSpPr>
          <p:cNvPr id="9" name="TextBox 8"/>
          <p:cNvSpPr txBox="1"/>
          <p:nvPr/>
        </p:nvSpPr>
        <p:spPr>
          <a:xfrm>
            <a:off x="1645920" y="292608"/>
            <a:ext cx="9966960" cy="457200"/>
          </a:xfrm>
          <a:prstGeom prst="rect">
            <a:avLst/>
          </a:prstGeom>
          <a:noFill/>
        </p:spPr>
        <p:txBody>
          <a:bodyPr wrap="square" lIns="64008" tIns="36576" rIns="64008" bIns="18288" anchor="t">
            <a:spAutoFit/>
          </a:bodyPr>
          <a:lstStyle/>
          <a:p>
            <a:r>
              <a:rPr sz="2300" b="1">
                <a:solidFill>
                  <a:srgbClr val="051422"/>
                </a:solidFill>
                <a:latin typeface="Aptos"/>
              </a:rPr>
              <a:t>Dashboard 4: Key Findings</a:t>
            </a:r>
          </a:p>
        </p:txBody>
      </p:sp>
      <p:sp>
        <p:nvSpPr>
          <p:cNvPr id="10" name="TextBox 9"/>
          <p:cNvSpPr txBox="1"/>
          <p:nvPr/>
        </p:nvSpPr>
        <p:spPr>
          <a:xfrm>
            <a:off x="1664208" y="768096"/>
            <a:ext cx="9144000" cy="228600"/>
          </a:xfrm>
          <a:prstGeom prst="rect">
            <a:avLst/>
          </a:prstGeom>
          <a:noFill/>
        </p:spPr>
        <p:txBody>
          <a:bodyPr wrap="square" lIns="64008" tIns="36576" rIns="64008" bIns="18288" anchor="t">
            <a:spAutoFit/>
          </a:bodyPr>
          <a:lstStyle/>
          <a:p>
            <a:r>
              <a:rPr sz="900" b="1">
                <a:solidFill>
                  <a:srgbClr val="007EBE"/>
                </a:solidFill>
                <a:latin typeface="Aptos"/>
              </a:rPr>
              <a:t>INTERPRETATION • BUSINESS USE</a:t>
            </a:r>
          </a:p>
        </p:txBody>
      </p:sp>
      <p:sp>
        <p:nvSpPr>
          <p:cNvPr id="11" name="Rectangle 10"/>
          <p:cNvSpPr/>
          <p:nvPr/>
        </p:nvSpPr>
        <p:spPr>
          <a:xfrm>
            <a:off x="1664208" y="1060704"/>
            <a:ext cx="68580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783080" y="1261872"/>
            <a:ext cx="9875520" cy="320040"/>
          </a:xfrm>
          <a:prstGeom prst="rect">
            <a:avLst/>
          </a:prstGeom>
          <a:noFill/>
        </p:spPr>
        <p:txBody>
          <a:bodyPr wrap="square" lIns="64008" tIns="36576" rIns="64008" bIns="18288" anchor="t">
            <a:spAutoFit/>
          </a:bodyPr>
          <a:lstStyle/>
          <a:p>
            <a:r>
              <a:rPr sz="1100" b="1">
                <a:solidFill>
                  <a:srgbClr val="007EBE"/>
                </a:solidFill>
                <a:latin typeface="Aptos"/>
              </a:rPr>
              <a:t>KEY METRICS VISIBLE IN THE DASHBOARD</a:t>
            </a:r>
          </a:p>
        </p:txBody>
      </p:sp>
      <p:sp>
        <p:nvSpPr>
          <p:cNvPr id="14" name="Rounded Rectangle 13"/>
          <p:cNvSpPr/>
          <p:nvPr/>
        </p:nvSpPr>
        <p:spPr>
          <a:xfrm>
            <a:off x="4288536" y="1627632"/>
            <a:ext cx="2331720" cy="777240"/>
          </a:xfrm>
          <a:prstGeom prst="roundRect">
            <a:avLst/>
          </a:prstGeom>
          <a:solidFill>
            <a:srgbClr val="0A2033"/>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61688" y="1737360"/>
            <a:ext cx="2185415" cy="182880"/>
          </a:xfrm>
          <a:prstGeom prst="rect">
            <a:avLst/>
          </a:prstGeom>
          <a:noFill/>
        </p:spPr>
        <p:txBody>
          <a:bodyPr wrap="square" lIns="64008" tIns="36576" rIns="64008" bIns="18288" anchor="t">
            <a:spAutoFit/>
          </a:bodyPr>
          <a:lstStyle/>
          <a:p>
            <a:pPr algn="ctr"/>
            <a:r>
              <a:rPr sz="800" b="1">
                <a:solidFill>
                  <a:srgbClr val="FFC400"/>
                </a:solidFill>
                <a:latin typeface="Aptos"/>
              </a:rPr>
              <a:t>AVERAGE TIP</a:t>
            </a:r>
          </a:p>
        </p:txBody>
      </p:sp>
      <p:sp>
        <p:nvSpPr>
          <p:cNvPr id="16" name="TextBox 15"/>
          <p:cNvSpPr txBox="1"/>
          <p:nvPr/>
        </p:nvSpPr>
        <p:spPr>
          <a:xfrm>
            <a:off x="4361688" y="1975104"/>
            <a:ext cx="2185415" cy="274320"/>
          </a:xfrm>
          <a:prstGeom prst="rect">
            <a:avLst/>
          </a:prstGeom>
          <a:noFill/>
        </p:spPr>
        <p:txBody>
          <a:bodyPr wrap="square" lIns="64008" tIns="36576" rIns="64008" bIns="18288" anchor="t">
            <a:spAutoFit/>
          </a:bodyPr>
          <a:lstStyle/>
          <a:p>
            <a:pPr algn="ctr"/>
            <a:r>
              <a:rPr sz="1700" b="1">
                <a:solidFill>
                  <a:srgbClr val="FFFFFF"/>
                </a:solidFill>
                <a:latin typeface="Aptos"/>
              </a:rPr>
              <a:t>1.04</a:t>
            </a:r>
          </a:p>
        </p:txBody>
      </p:sp>
      <p:sp>
        <p:nvSpPr>
          <p:cNvPr id="17" name="Rounded Rectangle 16"/>
          <p:cNvSpPr/>
          <p:nvPr/>
        </p:nvSpPr>
        <p:spPr>
          <a:xfrm>
            <a:off x="6821423" y="1627632"/>
            <a:ext cx="2331720" cy="777240"/>
          </a:xfrm>
          <a:prstGeom prst="roundRect">
            <a:avLst/>
          </a:prstGeom>
          <a:solidFill>
            <a:srgbClr val="0A2033"/>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94575" y="1737360"/>
            <a:ext cx="2185415" cy="182880"/>
          </a:xfrm>
          <a:prstGeom prst="rect">
            <a:avLst/>
          </a:prstGeom>
          <a:noFill/>
        </p:spPr>
        <p:txBody>
          <a:bodyPr wrap="square" lIns="64008" tIns="36576" rIns="64008" bIns="18288" anchor="t">
            <a:spAutoFit/>
          </a:bodyPr>
          <a:lstStyle/>
          <a:p>
            <a:pPr algn="ctr"/>
            <a:r>
              <a:rPr sz="800" b="1">
                <a:solidFill>
                  <a:srgbClr val="FFC400"/>
                </a:solidFill>
                <a:latin typeface="Aptos"/>
              </a:rPr>
              <a:t>PAYMENT TYPE SHARE</a:t>
            </a:r>
          </a:p>
        </p:txBody>
      </p:sp>
      <p:sp>
        <p:nvSpPr>
          <p:cNvPr id="19" name="TextBox 18"/>
          <p:cNvSpPr txBox="1"/>
          <p:nvPr/>
        </p:nvSpPr>
        <p:spPr>
          <a:xfrm>
            <a:off x="6894575" y="1975104"/>
            <a:ext cx="2185415" cy="274320"/>
          </a:xfrm>
          <a:prstGeom prst="rect">
            <a:avLst/>
          </a:prstGeom>
          <a:noFill/>
        </p:spPr>
        <p:txBody>
          <a:bodyPr wrap="square" lIns="64008" tIns="36576" rIns="64008" bIns="18288" anchor="t">
            <a:spAutoFit/>
          </a:bodyPr>
          <a:lstStyle/>
          <a:p>
            <a:pPr algn="ctr"/>
            <a:r>
              <a:rPr sz="1700" b="1">
                <a:solidFill>
                  <a:srgbClr val="FFFFFF"/>
                </a:solidFill>
                <a:latin typeface="Aptos"/>
              </a:rPr>
              <a:t>1.00</a:t>
            </a:r>
          </a:p>
        </p:txBody>
      </p:sp>
      <p:sp>
        <p:nvSpPr>
          <p:cNvPr id="20" name="Rounded Rectangle 19"/>
          <p:cNvSpPr/>
          <p:nvPr/>
        </p:nvSpPr>
        <p:spPr>
          <a:xfrm>
            <a:off x="1783080" y="2697480"/>
            <a:ext cx="4617720" cy="3246120"/>
          </a:xfrm>
          <a:prstGeom prst="roundRect">
            <a:avLst/>
          </a:prstGeom>
          <a:solidFill>
            <a:srgbClr val="F2F6F9"/>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993392" y="2880360"/>
            <a:ext cx="4206240" cy="292608"/>
          </a:xfrm>
          <a:prstGeom prst="rect">
            <a:avLst/>
          </a:prstGeom>
          <a:noFill/>
        </p:spPr>
        <p:txBody>
          <a:bodyPr wrap="square" lIns="64008" tIns="36576" rIns="64008" bIns="18288" anchor="t">
            <a:spAutoFit/>
          </a:bodyPr>
          <a:lstStyle/>
          <a:p>
            <a:r>
              <a:rPr sz="1200" b="1">
                <a:solidFill>
                  <a:srgbClr val="051422"/>
                </a:solidFill>
                <a:latin typeface="Aptos"/>
              </a:rPr>
              <a:t>WHAT THE DASHBOARD SHOWS</a:t>
            </a:r>
          </a:p>
        </p:txBody>
      </p:sp>
      <p:sp>
        <p:nvSpPr>
          <p:cNvPr id="22" name="Rounded Rectangle 21"/>
          <p:cNvSpPr/>
          <p:nvPr/>
        </p:nvSpPr>
        <p:spPr>
          <a:xfrm>
            <a:off x="1993392" y="337413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249424" y="3310128"/>
            <a:ext cx="3904487" cy="731519"/>
          </a:xfrm>
          <a:prstGeom prst="rect">
            <a:avLst/>
          </a:prstGeom>
          <a:noFill/>
        </p:spPr>
        <p:txBody>
          <a:bodyPr wrap="square" lIns="64008" tIns="36576" rIns="64008" bIns="18288" anchor="t">
            <a:spAutoFit/>
          </a:bodyPr>
          <a:lstStyle/>
          <a:p>
            <a:r>
              <a:rPr sz="1100" b="0">
                <a:solidFill>
                  <a:srgbClr val="192B3C"/>
                </a:solidFill>
                <a:latin typeface="Aptos"/>
              </a:rPr>
              <a:t>The payment distribution is led by Credit Card at about 60.11% in the visible chart.</a:t>
            </a:r>
          </a:p>
        </p:txBody>
      </p:sp>
      <p:sp>
        <p:nvSpPr>
          <p:cNvPr id="24" name="Rounded Rectangle 23"/>
          <p:cNvSpPr/>
          <p:nvPr/>
        </p:nvSpPr>
        <p:spPr>
          <a:xfrm>
            <a:off x="1993392" y="415137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49424" y="4087368"/>
            <a:ext cx="3904487" cy="731519"/>
          </a:xfrm>
          <a:prstGeom prst="rect">
            <a:avLst/>
          </a:prstGeom>
          <a:noFill/>
        </p:spPr>
        <p:txBody>
          <a:bodyPr wrap="square" lIns="64008" tIns="36576" rIns="64008" bIns="18288" anchor="t">
            <a:spAutoFit/>
          </a:bodyPr>
          <a:lstStyle/>
          <a:p>
            <a:r>
              <a:rPr sz="1100" b="0">
                <a:solidFill>
                  <a:srgbClr val="192B3C"/>
                </a:solidFill>
                <a:latin typeface="Aptos"/>
              </a:rPr>
              <a:t>Cash contributes about 29.38%, while Other / Missing is around 10.36%.</a:t>
            </a:r>
          </a:p>
        </p:txBody>
      </p:sp>
      <p:sp>
        <p:nvSpPr>
          <p:cNvPr id="26" name="Rounded Rectangle 25"/>
          <p:cNvSpPr/>
          <p:nvPr/>
        </p:nvSpPr>
        <p:spPr>
          <a:xfrm>
            <a:off x="1993392" y="492861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49424" y="4864607"/>
            <a:ext cx="3904487" cy="731519"/>
          </a:xfrm>
          <a:prstGeom prst="rect">
            <a:avLst/>
          </a:prstGeom>
          <a:noFill/>
        </p:spPr>
        <p:txBody>
          <a:bodyPr wrap="square" lIns="64008" tIns="36576" rIns="64008" bIns="18288" anchor="t">
            <a:spAutoFit/>
          </a:bodyPr>
          <a:lstStyle/>
          <a:p>
            <a:r>
              <a:rPr sz="1100" b="0">
                <a:solidFill>
                  <a:srgbClr val="192B3C"/>
                </a:solidFill>
                <a:latin typeface="Aptos"/>
              </a:rPr>
              <a:t>The borough tip chart shows EWR far above the other displayed categories, at approximately 11.8; remaining categories are much lower.</a:t>
            </a:r>
          </a:p>
        </p:txBody>
      </p:sp>
      <p:sp>
        <p:nvSpPr>
          <p:cNvPr id="28" name="Rounded Rectangle 27"/>
          <p:cNvSpPr/>
          <p:nvPr/>
        </p:nvSpPr>
        <p:spPr>
          <a:xfrm>
            <a:off x="6629400" y="2697480"/>
            <a:ext cx="4983480" cy="3246120"/>
          </a:xfrm>
          <a:prstGeom prst="roundRect">
            <a:avLst/>
          </a:prstGeom>
          <a:solidFill>
            <a:srgbClr val="FFF9E1"/>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858000" y="2880360"/>
            <a:ext cx="4480560" cy="292608"/>
          </a:xfrm>
          <a:prstGeom prst="rect">
            <a:avLst/>
          </a:prstGeom>
          <a:noFill/>
        </p:spPr>
        <p:txBody>
          <a:bodyPr wrap="square" lIns="64008" tIns="36576" rIns="64008" bIns="18288" anchor="t">
            <a:spAutoFit/>
          </a:bodyPr>
          <a:lstStyle/>
          <a:p>
            <a:r>
              <a:rPr sz="1200" b="1">
                <a:solidFill>
                  <a:srgbClr val="051422"/>
                </a:solidFill>
                <a:latin typeface="Aptos"/>
              </a:rPr>
              <a:t>HOW THE BUSINESS CAN USE IT</a:t>
            </a:r>
          </a:p>
        </p:txBody>
      </p:sp>
      <p:sp>
        <p:nvSpPr>
          <p:cNvPr id="30" name="Rounded Rectangle 29"/>
          <p:cNvSpPr/>
          <p:nvPr/>
        </p:nvSpPr>
        <p:spPr>
          <a:xfrm>
            <a:off x="6858000" y="337413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114032" y="3310128"/>
            <a:ext cx="4178807" cy="731519"/>
          </a:xfrm>
          <a:prstGeom prst="rect">
            <a:avLst/>
          </a:prstGeom>
          <a:noFill/>
        </p:spPr>
        <p:txBody>
          <a:bodyPr wrap="square" lIns="64008" tIns="36576" rIns="64008" bIns="18288" anchor="t">
            <a:spAutoFit/>
          </a:bodyPr>
          <a:lstStyle/>
          <a:p>
            <a:r>
              <a:rPr sz="1100" b="0">
                <a:solidFill>
                  <a:srgbClr val="192B3C"/>
                </a:solidFill>
                <a:latin typeface="Aptos"/>
              </a:rPr>
              <a:t>Support card-payment reliability while keeping cash workflows available for riders who use it.</a:t>
            </a:r>
          </a:p>
        </p:txBody>
      </p:sp>
      <p:sp>
        <p:nvSpPr>
          <p:cNvPr id="32" name="Rounded Rectangle 31"/>
          <p:cNvSpPr/>
          <p:nvPr/>
        </p:nvSpPr>
        <p:spPr>
          <a:xfrm>
            <a:off x="6858000" y="415137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114032" y="4087368"/>
            <a:ext cx="4178807" cy="731519"/>
          </a:xfrm>
          <a:prstGeom prst="rect">
            <a:avLst/>
          </a:prstGeom>
          <a:noFill/>
        </p:spPr>
        <p:txBody>
          <a:bodyPr wrap="square" lIns="64008" tIns="36576" rIns="64008" bIns="18288" anchor="t">
            <a:spAutoFit/>
          </a:bodyPr>
          <a:lstStyle/>
          <a:p>
            <a:r>
              <a:rPr sz="1100" b="0">
                <a:solidFill>
                  <a:srgbClr val="192B3C"/>
                </a:solidFill>
                <a:latin typeface="Aptos"/>
              </a:rPr>
              <a:t>Investigate Other / Missing records to improve payment reporting completeness.</a:t>
            </a:r>
          </a:p>
        </p:txBody>
      </p:sp>
      <p:sp>
        <p:nvSpPr>
          <p:cNvPr id="34" name="Rounded Rectangle 33"/>
          <p:cNvSpPr/>
          <p:nvPr/>
        </p:nvSpPr>
        <p:spPr>
          <a:xfrm>
            <a:off x="6858000" y="492861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114032" y="4864607"/>
            <a:ext cx="4178807" cy="731519"/>
          </a:xfrm>
          <a:prstGeom prst="rect">
            <a:avLst/>
          </a:prstGeom>
          <a:noFill/>
        </p:spPr>
        <p:txBody>
          <a:bodyPr wrap="square" lIns="64008" tIns="36576" rIns="64008" bIns="18288" anchor="t">
            <a:spAutoFit/>
          </a:bodyPr>
          <a:lstStyle/>
          <a:p>
            <a:r>
              <a:rPr sz="1100" b="0">
                <a:solidFill>
                  <a:srgbClr val="192B3C"/>
                </a:solidFill>
                <a:latin typeface="Aptos"/>
              </a:rPr>
              <a:t>Check EWR sample volume, tip outliers and the borough-versus-location classification before interpreting it as a typical borough pattern.</a:t>
            </a:r>
          </a:p>
        </p:txBody>
      </p:sp>
      <p:sp>
        <p:nvSpPr>
          <p:cNvPr id="36" name="TextBox 35"/>
          <p:cNvSpPr txBox="1"/>
          <p:nvPr/>
        </p:nvSpPr>
        <p:spPr>
          <a:xfrm>
            <a:off x="1828800" y="6144768"/>
            <a:ext cx="9692640" cy="274320"/>
          </a:xfrm>
          <a:prstGeom prst="rect">
            <a:avLst/>
          </a:prstGeom>
          <a:noFill/>
        </p:spPr>
        <p:txBody>
          <a:bodyPr wrap="square" lIns="64008" tIns="36576" rIns="64008" bIns="18288" anchor="t">
            <a:spAutoFit/>
          </a:bodyPr>
          <a:lstStyle/>
          <a:p>
            <a:r>
              <a:rPr sz="900" b="0">
                <a:solidFill>
                  <a:srgbClr val="5F6F7F"/>
                </a:solidFill>
                <a:latin typeface="Aptos"/>
              </a:rPr>
              <a:t>Interpretation is based on the values visible in the supplied screenshot; validate measures and filters in the PBIX before operational use.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37160"/>
            <a:ext cx="1325880" cy="6720840"/>
          </a:xfrm>
          <a:prstGeom prst="rect">
            <a:avLst/>
          </a:prstGeom>
          <a:solidFill>
            <a:srgbClr val="051422"/>
          </a:solidFill>
          <a:ln>
            <a:solidFill>
              <a:srgbClr val="0514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 y="256032"/>
            <a:ext cx="1024128" cy="411480"/>
          </a:xfrm>
          <a:prstGeom prst="rect">
            <a:avLst/>
          </a:prstGeom>
          <a:noFill/>
        </p:spPr>
        <p:txBody>
          <a:bodyPr wrap="square" lIns="64008" tIns="36576" rIns="64008" bIns="18288" anchor="t">
            <a:spAutoFit/>
          </a:bodyPr>
          <a:lstStyle/>
          <a:p>
            <a:pPr algn="ctr"/>
            <a:r>
              <a:rPr sz="2300" b="1">
                <a:solidFill>
                  <a:srgbClr val="FFFFFF"/>
                </a:solidFill>
                <a:latin typeface="Aptos"/>
              </a:rPr>
              <a:t>Uber</a:t>
            </a:r>
          </a:p>
        </p:txBody>
      </p:sp>
      <p:sp>
        <p:nvSpPr>
          <p:cNvPr id="5" name="Rectangle 4"/>
          <p:cNvSpPr/>
          <p:nvPr/>
        </p:nvSpPr>
        <p:spPr>
          <a:xfrm>
            <a:off x="1261872" y="256032"/>
            <a:ext cx="32004" cy="3657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1051560"/>
            <a:ext cx="960120" cy="594360"/>
          </a:xfrm>
          <a:prstGeom prst="rect">
            <a:avLst/>
          </a:prstGeom>
          <a:noFill/>
        </p:spPr>
        <p:txBody>
          <a:bodyPr wrap="square" lIns="64008" tIns="36576" rIns="64008" bIns="18288" anchor="t">
            <a:spAutoFit/>
          </a:bodyPr>
          <a:lstStyle/>
          <a:p>
            <a:pPr algn="ctr"/>
            <a:r>
              <a:rPr sz="1000" b="1">
                <a:solidFill>
                  <a:srgbClr val="FFC400"/>
                </a:solidFill>
                <a:latin typeface="Aptos"/>
              </a:rPr>
              <a:t>TRIPS
ANALYTICS</a:t>
            </a:r>
          </a:p>
        </p:txBody>
      </p:sp>
      <p:sp>
        <p:nvSpPr>
          <p:cNvPr id="7" name="TextBox 6"/>
          <p:cNvSpPr txBox="1"/>
          <p:nvPr/>
        </p:nvSpPr>
        <p:spPr>
          <a:xfrm>
            <a:off x="146304" y="4892040"/>
            <a:ext cx="1051560" cy="347472"/>
          </a:xfrm>
          <a:prstGeom prst="rect">
            <a:avLst/>
          </a:prstGeom>
          <a:noFill/>
        </p:spPr>
        <p:txBody>
          <a:bodyPr wrap="square" lIns="64008" tIns="36576" rIns="64008" bIns="18288" anchor="t">
            <a:spAutoFit/>
          </a:bodyPr>
          <a:lstStyle/>
          <a:p>
            <a:pPr algn="ctr"/>
            <a:r>
              <a:rPr sz="2600" b="0">
                <a:solidFill>
                  <a:srgbClr val="FFC400"/>
                </a:solidFill>
                <a:latin typeface="Aptos"/>
              </a:rPr>
              <a:t>🚕</a:t>
            </a:r>
          </a:p>
        </p:txBody>
      </p:sp>
      <p:sp>
        <p:nvSpPr>
          <p:cNvPr id="8" name="TextBox 7"/>
          <p:cNvSpPr txBox="1"/>
          <p:nvPr/>
        </p:nvSpPr>
        <p:spPr>
          <a:xfrm>
            <a:off x="109728" y="5303520"/>
            <a:ext cx="1097280" cy="685800"/>
          </a:xfrm>
          <a:prstGeom prst="rect">
            <a:avLst/>
          </a:prstGeom>
          <a:noFill/>
        </p:spPr>
        <p:txBody>
          <a:bodyPr wrap="square" lIns="64008" tIns="36576" rIns="64008" bIns="18288" anchor="t">
            <a:spAutoFit/>
          </a:bodyPr>
          <a:lstStyle/>
          <a:p>
            <a:pPr algn="ctr"/>
            <a:r>
              <a:rPr sz="800" b="1">
                <a:solidFill>
                  <a:srgbClr val="C3CFDA"/>
                </a:solidFill>
                <a:latin typeface="Aptos"/>
              </a:rPr>
              <a:t>NYC GREEN TAXI
DATA PROJECT</a:t>
            </a:r>
          </a:p>
        </p:txBody>
      </p:sp>
      <p:sp>
        <p:nvSpPr>
          <p:cNvPr id="9" name="TextBox 8"/>
          <p:cNvSpPr txBox="1"/>
          <p:nvPr/>
        </p:nvSpPr>
        <p:spPr>
          <a:xfrm>
            <a:off x="1645920" y="292608"/>
            <a:ext cx="9966960" cy="457200"/>
          </a:xfrm>
          <a:prstGeom prst="rect">
            <a:avLst/>
          </a:prstGeom>
          <a:noFill/>
        </p:spPr>
        <p:txBody>
          <a:bodyPr wrap="square" lIns="64008" tIns="36576" rIns="64008" bIns="18288" anchor="t">
            <a:spAutoFit/>
          </a:bodyPr>
          <a:lstStyle/>
          <a:p>
            <a:r>
              <a:rPr sz="2300" b="1">
                <a:solidFill>
                  <a:srgbClr val="051422"/>
                </a:solidFill>
                <a:latin typeface="Aptos"/>
              </a:rPr>
              <a:t>Dashboard 5: Passenger &amp; Distance Insights</a:t>
            </a:r>
          </a:p>
        </p:txBody>
      </p:sp>
      <p:sp>
        <p:nvSpPr>
          <p:cNvPr id="10" name="TextBox 9"/>
          <p:cNvSpPr txBox="1"/>
          <p:nvPr/>
        </p:nvSpPr>
        <p:spPr>
          <a:xfrm>
            <a:off x="1664208" y="768096"/>
            <a:ext cx="9144000" cy="228600"/>
          </a:xfrm>
          <a:prstGeom prst="rect">
            <a:avLst/>
          </a:prstGeom>
          <a:noFill/>
        </p:spPr>
        <p:txBody>
          <a:bodyPr wrap="square" lIns="64008" tIns="36576" rIns="64008" bIns="18288" anchor="t">
            <a:spAutoFit/>
          </a:bodyPr>
          <a:lstStyle/>
          <a:p>
            <a:r>
              <a:rPr sz="900" b="1">
                <a:solidFill>
                  <a:srgbClr val="007EBE"/>
                </a:solidFill>
                <a:latin typeface="Aptos"/>
              </a:rPr>
              <a:t>ORIGINAL POWER BI SCREENSHOT</a:t>
            </a:r>
          </a:p>
        </p:txBody>
      </p:sp>
      <p:sp>
        <p:nvSpPr>
          <p:cNvPr id="11" name="Rectangle 10"/>
          <p:cNvSpPr/>
          <p:nvPr/>
        </p:nvSpPr>
        <p:spPr>
          <a:xfrm>
            <a:off x="1664208" y="1060704"/>
            <a:ext cx="68580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719072" y="1234440"/>
            <a:ext cx="10012680" cy="256032"/>
          </a:xfrm>
          <a:prstGeom prst="rect">
            <a:avLst/>
          </a:prstGeom>
          <a:noFill/>
        </p:spPr>
        <p:txBody>
          <a:bodyPr wrap="square" lIns="64008" tIns="36576" rIns="64008" bIns="18288" anchor="t">
            <a:spAutoFit/>
          </a:bodyPr>
          <a:lstStyle/>
          <a:p>
            <a:r>
              <a:rPr sz="900" b="1">
                <a:solidFill>
                  <a:srgbClr val="007EBE"/>
                </a:solidFill>
                <a:latin typeface="Aptos"/>
              </a:rPr>
              <a:t>FILTERS AND VISUALS AS PROVIDED</a:t>
            </a:r>
          </a:p>
        </p:txBody>
      </p:sp>
      <p:pic>
        <p:nvPicPr>
          <p:cNvPr id="14" name="Picture 13" descr="Screenshot 2026-10-22 101155.png"/>
          <p:cNvPicPr>
            <a:picLocks noChangeAspect="1"/>
          </p:cNvPicPr>
          <p:nvPr/>
        </p:nvPicPr>
        <p:blipFill>
          <a:blip r:embed="rId2"/>
          <a:stretch>
            <a:fillRect/>
          </a:stretch>
        </p:blipFill>
        <p:spPr>
          <a:xfrm>
            <a:off x="2665476" y="1572768"/>
            <a:ext cx="8119871" cy="507492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37160"/>
            <a:ext cx="1325880" cy="6720840"/>
          </a:xfrm>
          <a:prstGeom prst="rect">
            <a:avLst/>
          </a:prstGeom>
          <a:solidFill>
            <a:srgbClr val="051422"/>
          </a:solidFill>
          <a:ln>
            <a:solidFill>
              <a:srgbClr val="0514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 y="256032"/>
            <a:ext cx="1024128" cy="411480"/>
          </a:xfrm>
          <a:prstGeom prst="rect">
            <a:avLst/>
          </a:prstGeom>
          <a:noFill/>
        </p:spPr>
        <p:txBody>
          <a:bodyPr wrap="square" lIns="64008" tIns="36576" rIns="64008" bIns="18288" anchor="t">
            <a:spAutoFit/>
          </a:bodyPr>
          <a:lstStyle/>
          <a:p>
            <a:pPr algn="ctr"/>
            <a:r>
              <a:rPr sz="2300" b="1">
                <a:solidFill>
                  <a:srgbClr val="FFFFFF"/>
                </a:solidFill>
                <a:latin typeface="Aptos"/>
              </a:rPr>
              <a:t>Uber</a:t>
            </a:r>
          </a:p>
        </p:txBody>
      </p:sp>
      <p:sp>
        <p:nvSpPr>
          <p:cNvPr id="5" name="Rectangle 4"/>
          <p:cNvSpPr/>
          <p:nvPr/>
        </p:nvSpPr>
        <p:spPr>
          <a:xfrm>
            <a:off x="1261872" y="256032"/>
            <a:ext cx="32004" cy="3657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1051560"/>
            <a:ext cx="960120" cy="594360"/>
          </a:xfrm>
          <a:prstGeom prst="rect">
            <a:avLst/>
          </a:prstGeom>
          <a:noFill/>
        </p:spPr>
        <p:txBody>
          <a:bodyPr wrap="square" lIns="64008" tIns="36576" rIns="64008" bIns="18288" anchor="t">
            <a:spAutoFit/>
          </a:bodyPr>
          <a:lstStyle/>
          <a:p>
            <a:pPr algn="ctr"/>
            <a:r>
              <a:rPr sz="1000" b="1">
                <a:solidFill>
                  <a:srgbClr val="FFC400"/>
                </a:solidFill>
                <a:latin typeface="Aptos"/>
              </a:rPr>
              <a:t>TRIPS
ANALYTICS</a:t>
            </a:r>
          </a:p>
        </p:txBody>
      </p:sp>
      <p:sp>
        <p:nvSpPr>
          <p:cNvPr id="7" name="TextBox 6"/>
          <p:cNvSpPr txBox="1"/>
          <p:nvPr/>
        </p:nvSpPr>
        <p:spPr>
          <a:xfrm>
            <a:off x="146304" y="4892040"/>
            <a:ext cx="1051560" cy="347472"/>
          </a:xfrm>
          <a:prstGeom prst="rect">
            <a:avLst/>
          </a:prstGeom>
          <a:noFill/>
        </p:spPr>
        <p:txBody>
          <a:bodyPr wrap="square" lIns="64008" tIns="36576" rIns="64008" bIns="18288" anchor="t">
            <a:spAutoFit/>
          </a:bodyPr>
          <a:lstStyle/>
          <a:p>
            <a:pPr algn="ctr"/>
            <a:r>
              <a:rPr sz="2600" b="0">
                <a:solidFill>
                  <a:srgbClr val="FFC400"/>
                </a:solidFill>
                <a:latin typeface="Aptos"/>
              </a:rPr>
              <a:t>🚕</a:t>
            </a:r>
          </a:p>
        </p:txBody>
      </p:sp>
      <p:sp>
        <p:nvSpPr>
          <p:cNvPr id="8" name="TextBox 7"/>
          <p:cNvSpPr txBox="1"/>
          <p:nvPr/>
        </p:nvSpPr>
        <p:spPr>
          <a:xfrm>
            <a:off x="109728" y="5303520"/>
            <a:ext cx="1097280" cy="685800"/>
          </a:xfrm>
          <a:prstGeom prst="rect">
            <a:avLst/>
          </a:prstGeom>
          <a:noFill/>
        </p:spPr>
        <p:txBody>
          <a:bodyPr wrap="square" lIns="64008" tIns="36576" rIns="64008" bIns="18288" anchor="t">
            <a:spAutoFit/>
          </a:bodyPr>
          <a:lstStyle/>
          <a:p>
            <a:pPr algn="ctr"/>
            <a:r>
              <a:rPr sz="800" b="1">
                <a:solidFill>
                  <a:srgbClr val="C3CFDA"/>
                </a:solidFill>
                <a:latin typeface="Aptos"/>
              </a:rPr>
              <a:t>NYC GREEN TAXI
DATA PROJECT</a:t>
            </a:r>
          </a:p>
        </p:txBody>
      </p:sp>
      <p:sp>
        <p:nvSpPr>
          <p:cNvPr id="9" name="TextBox 8"/>
          <p:cNvSpPr txBox="1"/>
          <p:nvPr/>
        </p:nvSpPr>
        <p:spPr>
          <a:xfrm>
            <a:off x="1645920" y="292608"/>
            <a:ext cx="9966960" cy="457200"/>
          </a:xfrm>
          <a:prstGeom prst="rect">
            <a:avLst/>
          </a:prstGeom>
          <a:noFill/>
        </p:spPr>
        <p:txBody>
          <a:bodyPr wrap="square" lIns="64008" tIns="36576" rIns="64008" bIns="18288" anchor="t">
            <a:spAutoFit/>
          </a:bodyPr>
          <a:lstStyle/>
          <a:p>
            <a:r>
              <a:rPr sz="2300" b="1">
                <a:solidFill>
                  <a:srgbClr val="051422"/>
                </a:solidFill>
                <a:latin typeface="Aptos"/>
              </a:rPr>
              <a:t>Dashboard 5: Key Findings</a:t>
            </a:r>
          </a:p>
        </p:txBody>
      </p:sp>
      <p:sp>
        <p:nvSpPr>
          <p:cNvPr id="10" name="TextBox 9"/>
          <p:cNvSpPr txBox="1"/>
          <p:nvPr/>
        </p:nvSpPr>
        <p:spPr>
          <a:xfrm>
            <a:off x="1664208" y="768096"/>
            <a:ext cx="9144000" cy="228600"/>
          </a:xfrm>
          <a:prstGeom prst="rect">
            <a:avLst/>
          </a:prstGeom>
          <a:noFill/>
        </p:spPr>
        <p:txBody>
          <a:bodyPr wrap="square" lIns="64008" tIns="36576" rIns="64008" bIns="18288" anchor="t">
            <a:spAutoFit/>
          </a:bodyPr>
          <a:lstStyle/>
          <a:p>
            <a:r>
              <a:rPr sz="900" b="1">
                <a:solidFill>
                  <a:srgbClr val="007EBE"/>
                </a:solidFill>
                <a:latin typeface="Aptos"/>
              </a:rPr>
              <a:t>INTERPRETATION • BUSINESS USE</a:t>
            </a:r>
          </a:p>
        </p:txBody>
      </p:sp>
      <p:sp>
        <p:nvSpPr>
          <p:cNvPr id="11" name="Rectangle 10"/>
          <p:cNvSpPr/>
          <p:nvPr/>
        </p:nvSpPr>
        <p:spPr>
          <a:xfrm>
            <a:off x="1664208" y="1060704"/>
            <a:ext cx="68580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783080" y="1261872"/>
            <a:ext cx="9875520" cy="320040"/>
          </a:xfrm>
          <a:prstGeom prst="rect">
            <a:avLst/>
          </a:prstGeom>
          <a:noFill/>
        </p:spPr>
        <p:txBody>
          <a:bodyPr wrap="square" lIns="64008" tIns="36576" rIns="64008" bIns="18288" anchor="t">
            <a:spAutoFit/>
          </a:bodyPr>
          <a:lstStyle/>
          <a:p>
            <a:r>
              <a:rPr sz="1100" b="1">
                <a:solidFill>
                  <a:srgbClr val="007EBE"/>
                </a:solidFill>
                <a:latin typeface="Aptos"/>
              </a:rPr>
              <a:t>KEY METRICS VISIBLE IN THE DASHBOARD</a:t>
            </a:r>
          </a:p>
        </p:txBody>
      </p:sp>
      <p:sp>
        <p:nvSpPr>
          <p:cNvPr id="14" name="Rounded Rectangle 13"/>
          <p:cNvSpPr/>
          <p:nvPr/>
        </p:nvSpPr>
        <p:spPr>
          <a:xfrm>
            <a:off x="4288536" y="1627632"/>
            <a:ext cx="2331720" cy="777240"/>
          </a:xfrm>
          <a:prstGeom prst="roundRect">
            <a:avLst/>
          </a:prstGeom>
          <a:solidFill>
            <a:srgbClr val="0A2033"/>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61688" y="1737360"/>
            <a:ext cx="2185415" cy="182880"/>
          </a:xfrm>
          <a:prstGeom prst="rect">
            <a:avLst/>
          </a:prstGeom>
          <a:noFill/>
        </p:spPr>
        <p:txBody>
          <a:bodyPr wrap="square" lIns="64008" tIns="36576" rIns="64008" bIns="18288" anchor="t">
            <a:spAutoFit/>
          </a:bodyPr>
          <a:lstStyle/>
          <a:p>
            <a:pPr algn="ctr"/>
            <a:r>
              <a:rPr sz="800" b="1">
                <a:solidFill>
                  <a:srgbClr val="FFC400"/>
                </a:solidFill>
                <a:latin typeface="Aptos"/>
              </a:rPr>
              <a:t>AVG PASSENGERS / TRIP</a:t>
            </a:r>
          </a:p>
        </p:txBody>
      </p:sp>
      <p:sp>
        <p:nvSpPr>
          <p:cNvPr id="16" name="TextBox 15"/>
          <p:cNvSpPr txBox="1"/>
          <p:nvPr/>
        </p:nvSpPr>
        <p:spPr>
          <a:xfrm>
            <a:off x="4361688" y="1975104"/>
            <a:ext cx="2185415" cy="274320"/>
          </a:xfrm>
          <a:prstGeom prst="rect">
            <a:avLst/>
          </a:prstGeom>
          <a:noFill/>
        </p:spPr>
        <p:txBody>
          <a:bodyPr wrap="square" lIns="64008" tIns="36576" rIns="64008" bIns="18288" anchor="t">
            <a:spAutoFit/>
          </a:bodyPr>
          <a:lstStyle/>
          <a:p>
            <a:pPr algn="ctr"/>
            <a:r>
              <a:rPr sz="1700" b="1">
                <a:solidFill>
                  <a:srgbClr val="FFFFFF"/>
                </a:solidFill>
                <a:latin typeface="Aptos"/>
              </a:rPr>
              <a:t>1.33</a:t>
            </a:r>
          </a:p>
        </p:txBody>
      </p:sp>
      <p:sp>
        <p:nvSpPr>
          <p:cNvPr id="17" name="Rounded Rectangle 16"/>
          <p:cNvSpPr/>
          <p:nvPr/>
        </p:nvSpPr>
        <p:spPr>
          <a:xfrm>
            <a:off x="6821423" y="1627632"/>
            <a:ext cx="2331720" cy="777240"/>
          </a:xfrm>
          <a:prstGeom prst="roundRect">
            <a:avLst/>
          </a:prstGeom>
          <a:solidFill>
            <a:srgbClr val="0A2033"/>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94575" y="1737360"/>
            <a:ext cx="2185415" cy="182880"/>
          </a:xfrm>
          <a:prstGeom prst="rect">
            <a:avLst/>
          </a:prstGeom>
          <a:noFill/>
        </p:spPr>
        <p:txBody>
          <a:bodyPr wrap="square" lIns="64008" tIns="36576" rIns="64008" bIns="18288" anchor="t">
            <a:spAutoFit/>
          </a:bodyPr>
          <a:lstStyle/>
          <a:p>
            <a:pPr algn="ctr"/>
            <a:r>
              <a:rPr sz="800" b="1">
                <a:solidFill>
                  <a:srgbClr val="FFC400"/>
                </a:solidFill>
                <a:latin typeface="Aptos"/>
              </a:rPr>
              <a:t>AVG TRIP DISTANCE</a:t>
            </a:r>
          </a:p>
        </p:txBody>
      </p:sp>
      <p:sp>
        <p:nvSpPr>
          <p:cNvPr id="19" name="TextBox 18"/>
          <p:cNvSpPr txBox="1"/>
          <p:nvPr/>
        </p:nvSpPr>
        <p:spPr>
          <a:xfrm>
            <a:off x="6894575" y="1975104"/>
            <a:ext cx="2185415" cy="274320"/>
          </a:xfrm>
          <a:prstGeom prst="rect">
            <a:avLst/>
          </a:prstGeom>
          <a:noFill/>
        </p:spPr>
        <p:txBody>
          <a:bodyPr wrap="square" lIns="64008" tIns="36576" rIns="64008" bIns="18288" anchor="t">
            <a:spAutoFit/>
          </a:bodyPr>
          <a:lstStyle/>
          <a:p>
            <a:pPr algn="ctr"/>
            <a:r>
              <a:rPr sz="1700" b="1">
                <a:solidFill>
                  <a:srgbClr val="FFFFFF"/>
                </a:solidFill>
                <a:latin typeface="Aptos"/>
              </a:rPr>
              <a:t>4.58</a:t>
            </a:r>
          </a:p>
        </p:txBody>
      </p:sp>
      <p:sp>
        <p:nvSpPr>
          <p:cNvPr id="20" name="Rounded Rectangle 19"/>
          <p:cNvSpPr/>
          <p:nvPr/>
        </p:nvSpPr>
        <p:spPr>
          <a:xfrm>
            <a:off x="1783080" y="2697480"/>
            <a:ext cx="4617720" cy="3246120"/>
          </a:xfrm>
          <a:prstGeom prst="roundRect">
            <a:avLst/>
          </a:prstGeom>
          <a:solidFill>
            <a:srgbClr val="F2F6F9"/>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993392" y="2880360"/>
            <a:ext cx="4206240" cy="292608"/>
          </a:xfrm>
          <a:prstGeom prst="rect">
            <a:avLst/>
          </a:prstGeom>
          <a:noFill/>
        </p:spPr>
        <p:txBody>
          <a:bodyPr wrap="square" lIns="64008" tIns="36576" rIns="64008" bIns="18288" anchor="t">
            <a:spAutoFit/>
          </a:bodyPr>
          <a:lstStyle/>
          <a:p>
            <a:r>
              <a:rPr sz="1200" b="1">
                <a:solidFill>
                  <a:srgbClr val="051422"/>
                </a:solidFill>
                <a:latin typeface="Aptos"/>
              </a:rPr>
              <a:t>WHAT THE DASHBOARD SHOWS</a:t>
            </a:r>
          </a:p>
        </p:txBody>
      </p:sp>
      <p:sp>
        <p:nvSpPr>
          <p:cNvPr id="22" name="Rounded Rectangle 21"/>
          <p:cNvSpPr/>
          <p:nvPr/>
        </p:nvSpPr>
        <p:spPr>
          <a:xfrm>
            <a:off x="1993392" y="337413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249424" y="3310128"/>
            <a:ext cx="3904487" cy="731519"/>
          </a:xfrm>
          <a:prstGeom prst="rect">
            <a:avLst/>
          </a:prstGeom>
          <a:noFill/>
        </p:spPr>
        <p:txBody>
          <a:bodyPr wrap="square" lIns="64008" tIns="36576" rIns="64008" bIns="18288" anchor="t">
            <a:spAutoFit/>
          </a:bodyPr>
          <a:lstStyle/>
          <a:p>
            <a:r>
              <a:rPr sz="1100" b="0">
                <a:solidFill>
                  <a:srgbClr val="192B3C"/>
                </a:solidFill>
                <a:latin typeface="Aptos"/>
              </a:rPr>
              <a:t>The passenger-count donut is dominated by one-passenger trips (about 80.74% shown).</a:t>
            </a:r>
          </a:p>
        </p:txBody>
      </p:sp>
      <p:sp>
        <p:nvSpPr>
          <p:cNvPr id="24" name="Rounded Rectangle 23"/>
          <p:cNvSpPr/>
          <p:nvPr/>
        </p:nvSpPr>
        <p:spPr>
          <a:xfrm>
            <a:off x="1993392" y="415137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49424" y="4087368"/>
            <a:ext cx="3904487" cy="731519"/>
          </a:xfrm>
          <a:prstGeom prst="rect">
            <a:avLst/>
          </a:prstGeom>
          <a:noFill/>
        </p:spPr>
        <p:txBody>
          <a:bodyPr wrap="square" lIns="64008" tIns="36576" rIns="64008" bIns="18288" anchor="t">
            <a:spAutoFit/>
          </a:bodyPr>
          <a:lstStyle/>
          <a:p>
            <a:r>
              <a:rPr sz="1100" b="0">
                <a:solidFill>
                  <a:srgbClr val="192B3C"/>
                </a:solidFill>
                <a:latin typeface="Aptos"/>
              </a:rPr>
              <a:t>The average trip distance differs by borough: Staten Island is highest in the displayed chart, followed by the Bronx.</a:t>
            </a:r>
          </a:p>
        </p:txBody>
      </p:sp>
      <p:sp>
        <p:nvSpPr>
          <p:cNvPr id="26" name="Rounded Rectangle 25"/>
          <p:cNvSpPr/>
          <p:nvPr/>
        </p:nvSpPr>
        <p:spPr>
          <a:xfrm>
            <a:off x="1993392" y="492861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49424" y="4864607"/>
            <a:ext cx="3904487" cy="731519"/>
          </a:xfrm>
          <a:prstGeom prst="rect">
            <a:avLst/>
          </a:prstGeom>
          <a:noFill/>
        </p:spPr>
        <p:txBody>
          <a:bodyPr wrap="square" lIns="64008" tIns="36576" rIns="64008" bIns="18288" anchor="t">
            <a:spAutoFit/>
          </a:bodyPr>
          <a:lstStyle/>
          <a:p>
            <a:r>
              <a:rPr sz="1100" b="0">
                <a:solidFill>
                  <a:srgbClr val="192B3C"/>
                </a:solidFill>
                <a:latin typeface="Aptos"/>
              </a:rPr>
              <a:t>The dashboard combines passenger-load distribution with a borough comparison of average distance.</a:t>
            </a:r>
          </a:p>
        </p:txBody>
      </p:sp>
      <p:sp>
        <p:nvSpPr>
          <p:cNvPr id="28" name="Rounded Rectangle 27"/>
          <p:cNvSpPr/>
          <p:nvPr/>
        </p:nvSpPr>
        <p:spPr>
          <a:xfrm>
            <a:off x="6629400" y="2697480"/>
            <a:ext cx="4983480" cy="3246120"/>
          </a:xfrm>
          <a:prstGeom prst="roundRect">
            <a:avLst/>
          </a:prstGeom>
          <a:solidFill>
            <a:srgbClr val="FFF9E1"/>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858000" y="2880360"/>
            <a:ext cx="4480560" cy="292608"/>
          </a:xfrm>
          <a:prstGeom prst="rect">
            <a:avLst/>
          </a:prstGeom>
          <a:noFill/>
        </p:spPr>
        <p:txBody>
          <a:bodyPr wrap="square" lIns="64008" tIns="36576" rIns="64008" bIns="18288" anchor="t">
            <a:spAutoFit/>
          </a:bodyPr>
          <a:lstStyle/>
          <a:p>
            <a:r>
              <a:rPr sz="1200" b="1">
                <a:solidFill>
                  <a:srgbClr val="051422"/>
                </a:solidFill>
                <a:latin typeface="Aptos"/>
              </a:rPr>
              <a:t>HOW THE BUSINESS CAN USE IT</a:t>
            </a:r>
          </a:p>
        </p:txBody>
      </p:sp>
      <p:sp>
        <p:nvSpPr>
          <p:cNvPr id="30" name="Rounded Rectangle 29"/>
          <p:cNvSpPr/>
          <p:nvPr/>
        </p:nvSpPr>
        <p:spPr>
          <a:xfrm>
            <a:off x="6858000" y="337413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114032" y="3310128"/>
            <a:ext cx="4178807" cy="731519"/>
          </a:xfrm>
          <a:prstGeom prst="rect">
            <a:avLst/>
          </a:prstGeom>
          <a:noFill/>
        </p:spPr>
        <p:txBody>
          <a:bodyPr wrap="square" lIns="64008" tIns="36576" rIns="64008" bIns="18288" anchor="t">
            <a:spAutoFit/>
          </a:bodyPr>
          <a:lstStyle/>
          <a:p>
            <a:r>
              <a:rPr sz="1100" b="0">
                <a:solidFill>
                  <a:srgbClr val="192B3C"/>
                </a:solidFill>
                <a:latin typeface="Aptos"/>
              </a:rPr>
              <a:t>Use the high share of single-passenger trips when planning capacity, but do not assume every trip needs a larger vehicle.</a:t>
            </a:r>
          </a:p>
        </p:txBody>
      </p:sp>
      <p:sp>
        <p:nvSpPr>
          <p:cNvPr id="32" name="Rounded Rectangle 31"/>
          <p:cNvSpPr/>
          <p:nvPr/>
        </p:nvSpPr>
        <p:spPr>
          <a:xfrm>
            <a:off x="6858000" y="415137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114032" y="4087368"/>
            <a:ext cx="4178807" cy="731519"/>
          </a:xfrm>
          <a:prstGeom prst="rect">
            <a:avLst/>
          </a:prstGeom>
          <a:noFill/>
        </p:spPr>
        <p:txBody>
          <a:bodyPr wrap="square" lIns="64008" tIns="36576" rIns="64008" bIns="18288" anchor="t">
            <a:spAutoFit/>
          </a:bodyPr>
          <a:lstStyle/>
          <a:p>
            <a:r>
              <a:rPr sz="1100" b="0">
                <a:solidFill>
                  <a:srgbClr val="192B3C"/>
                </a:solidFill>
                <a:latin typeface="Aptos"/>
              </a:rPr>
              <a:t>Review long-distance borough patterns for suitable vehicle positioning and service coverage.</a:t>
            </a:r>
          </a:p>
        </p:txBody>
      </p:sp>
      <p:sp>
        <p:nvSpPr>
          <p:cNvPr id="34" name="Rounded Rectangle 33"/>
          <p:cNvSpPr/>
          <p:nvPr/>
        </p:nvSpPr>
        <p:spPr>
          <a:xfrm>
            <a:off x="6858000" y="492861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114032" y="4864607"/>
            <a:ext cx="4178807" cy="731519"/>
          </a:xfrm>
          <a:prstGeom prst="rect">
            <a:avLst/>
          </a:prstGeom>
          <a:noFill/>
        </p:spPr>
        <p:txBody>
          <a:bodyPr wrap="square" lIns="64008" tIns="36576" rIns="64008" bIns="18288" anchor="t">
            <a:spAutoFit/>
          </a:bodyPr>
          <a:lstStyle/>
          <a:p>
            <a:r>
              <a:rPr sz="1100" b="0">
                <a:solidFill>
                  <a:srgbClr val="192B3C"/>
                </a:solidFill>
                <a:latin typeface="Aptos"/>
              </a:rPr>
              <a:t>Validate blank/zero passenger counts and confirm distance units before using the chart for operational targets.</a:t>
            </a:r>
          </a:p>
        </p:txBody>
      </p:sp>
      <p:sp>
        <p:nvSpPr>
          <p:cNvPr id="36" name="TextBox 35"/>
          <p:cNvSpPr txBox="1"/>
          <p:nvPr/>
        </p:nvSpPr>
        <p:spPr>
          <a:xfrm>
            <a:off x="1828800" y="6144768"/>
            <a:ext cx="9692640" cy="274320"/>
          </a:xfrm>
          <a:prstGeom prst="rect">
            <a:avLst/>
          </a:prstGeom>
          <a:noFill/>
        </p:spPr>
        <p:txBody>
          <a:bodyPr wrap="square" lIns="64008" tIns="36576" rIns="64008" bIns="18288" anchor="t">
            <a:spAutoFit/>
          </a:bodyPr>
          <a:lstStyle/>
          <a:p>
            <a:r>
              <a:rPr sz="900" b="0">
                <a:solidFill>
                  <a:srgbClr val="5F6F7F"/>
                </a:solidFill>
                <a:latin typeface="Aptos"/>
              </a:rPr>
              <a:t>Interpretation is based on the values visible in the supplied screenshot; validate measures and filters in the PBIX before operational use.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37160"/>
            <a:ext cx="1325880" cy="6720840"/>
          </a:xfrm>
          <a:prstGeom prst="rect">
            <a:avLst/>
          </a:prstGeom>
          <a:solidFill>
            <a:srgbClr val="051422"/>
          </a:solidFill>
          <a:ln>
            <a:solidFill>
              <a:srgbClr val="0514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 y="256032"/>
            <a:ext cx="1024128" cy="411480"/>
          </a:xfrm>
          <a:prstGeom prst="rect">
            <a:avLst/>
          </a:prstGeom>
          <a:noFill/>
        </p:spPr>
        <p:txBody>
          <a:bodyPr wrap="square" lIns="64008" tIns="36576" rIns="64008" bIns="18288" anchor="t">
            <a:spAutoFit/>
          </a:bodyPr>
          <a:lstStyle/>
          <a:p>
            <a:pPr algn="ctr"/>
            <a:r>
              <a:rPr sz="2300" b="1">
                <a:solidFill>
                  <a:srgbClr val="FFFFFF"/>
                </a:solidFill>
                <a:latin typeface="Aptos"/>
              </a:rPr>
              <a:t>Uber</a:t>
            </a:r>
          </a:p>
        </p:txBody>
      </p:sp>
      <p:sp>
        <p:nvSpPr>
          <p:cNvPr id="5" name="Rectangle 4"/>
          <p:cNvSpPr/>
          <p:nvPr/>
        </p:nvSpPr>
        <p:spPr>
          <a:xfrm>
            <a:off x="1261872" y="256032"/>
            <a:ext cx="32004" cy="3657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1051560"/>
            <a:ext cx="960120" cy="594360"/>
          </a:xfrm>
          <a:prstGeom prst="rect">
            <a:avLst/>
          </a:prstGeom>
          <a:noFill/>
        </p:spPr>
        <p:txBody>
          <a:bodyPr wrap="square" lIns="64008" tIns="36576" rIns="64008" bIns="18288" anchor="t">
            <a:spAutoFit/>
          </a:bodyPr>
          <a:lstStyle/>
          <a:p>
            <a:pPr algn="ctr"/>
            <a:r>
              <a:rPr sz="1000" b="1">
                <a:solidFill>
                  <a:srgbClr val="FFC400"/>
                </a:solidFill>
                <a:latin typeface="Aptos"/>
              </a:rPr>
              <a:t>TRIPS
ANALYTICS</a:t>
            </a:r>
          </a:p>
        </p:txBody>
      </p:sp>
      <p:sp>
        <p:nvSpPr>
          <p:cNvPr id="7" name="TextBox 6"/>
          <p:cNvSpPr txBox="1"/>
          <p:nvPr/>
        </p:nvSpPr>
        <p:spPr>
          <a:xfrm>
            <a:off x="146304" y="4892040"/>
            <a:ext cx="1051560" cy="347472"/>
          </a:xfrm>
          <a:prstGeom prst="rect">
            <a:avLst/>
          </a:prstGeom>
          <a:noFill/>
        </p:spPr>
        <p:txBody>
          <a:bodyPr wrap="square" lIns="64008" tIns="36576" rIns="64008" bIns="18288" anchor="t">
            <a:spAutoFit/>
          </a:bodyPr>
          <a:lstStyle/>
          <a:p>
            <a:pPr algn="ctr"/>
            <a:r>
              <a:rPr sz="2600" b="0">
                <a:solidFill>
                  <a:srgbClr val="FFC400"/>
                </a:solidFill>
                <a:latin typeface="Aptos"/>
              </a:rPr>
              <a:t>🚕</a:t>
            </a:r>
          </a:p>
        </p:txBody>
      </p:sp>
      <p:sp>
        <p:nvSpPr>
          <p:cNvPr id="8" name="TextBox 7"/>
          <p:cNvSpPr txBox="1"/>
          <p:nvPr/>
        </p:nvSpPr>
        <p:spPr>
          <a:xfrm>
            <a:off x="109728" y="5303520"/>
            <a:ext cx="1097280" cy="685800"/>
          </a:xfrm>
          <a:prstGeom prst="rect">
            <a:avLst/>
          </a:prstGeom>
          <a:noFill/>
        </p:spPr>
        <p:txBody>
          <a:bodyPr wrap="square" lIns="64008" tIns="36576" rIns="64008" bIns="18288" anchor="t">
            <a:spAutoFit/>
          </a:bodyPr>
          <a:lstStyle/>
          <a:p>
            <a:pPr algn="ctr"/>
            <a:r>
              <a:rPr sz="800" b="1">
                <a:solidFill>
                  <a:srgbClr val="C3CFDA"/>
                </a:solidFill>
                <a:latin typeface="Aptos"/>
              </a:rPr>
              <a:t>NYC GREEN TAXI
DATA PROJECT</a:t>
            </a:r>
          </a:p>
        </p:txBody>
      </p:sp>
      <p:sp>
        <p:nvSpPr>
          <p:cNvPr id="9" name="TextBox 8"/>
          <p:cNvSpPr txBox="1"/>
          <p:nvPr/>
        </p:nvSpPr>
        <p:spPr>
          <a:xfrm>
            <a:off x="1645920" y="292608"/>
            <a:ext cx="9966960" cy="457200"/>
          </a:xfrm>
          <a:prstGeom prst="rect">
            <a:avLst/>
          </a:prstGeom>
          <a:noFill/>
        </p:spPr>
        <p:txBody>
          <a:bodyPr wrap="square" lIns="64008" tIns="36576" rIns="64008" bIns="18288" anchor="t">
            <a:spAutoFit/>
          </a:bodyPr>
          <a:lstStyle/>
          <a:p>
            <a:r>
              <a:rPr sz="2300" b="1">
                <a:solidFill>
                  <a:srgbClr val="051422"/>
                </a:solidFill>
                <a:latin typeface="Aptos"/>
              </a:rPr>
              <a:t>Problems This Project Helps Identify</a:t>
            </a:r>
          </a:p>
        </p:txBody>
      </p:sp>
      <p:sp>
        <p:nvSpPr>
          <p:cNvPr id="10" name="TextBox 9"/>
          <p:cNvSpPr txBox="1"/>
          <p:nvPr/>
        </p:nvSpPr>
        <p:spPr>
          <a:xfrm>
            <a:off x="1664208" y="768096"/>
            <a:ext cx="9144000" cy="228600"/>
          </a:xfrm>
          <a:prstGeom prst="rect">
            <a:avLst/>
          </a:prstGeom>
          <a:noFill/>
        </p:spPr>
        <p:txBody>
          <a:bodyPr wrap="square" lIns="64008" tIns="36576" rIns="64008" bIns="18288" anchor="t">
            <a:spAutoFit/>
          </a:bodyPr>
          <a:lstStyle/>
          <a:p>
            <a:r>
              <a:rPr sz="900" b="1">
                <a:solidFill>
                  <a:srgbClr val="007EBE"/>
                </a:solidFill>
                <a:latin typeface="Aptos"/>
              </a:rPr>
              <a:t>FROM ANALYTICS TO ACTION</a:t>
            </a:r>
          </a:p>
        </p:txBody>
      </p:sp>
      <p:sp>
        <p:nvSpPr>
          <p:cNvPr id="11" name="Rectangle 10"/>
          <p:cNvSpPr/>
          <p:nvPr/>
        </p:nvSpPr>
        <p:spPr>
          <a:xfrm>
            <a:off x="1664208" y="1060704"/>
            <a:ext cx="68580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783080" y="1389888"/>
            <a:ext cx="109728" cy="53035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029968" y="1389888"/>
            <a:ext cx="2423160" cy="274320"/>
          </a:xfrm>
          <a:prstGeom prst="rect">
            <a:avLst/>
          </a:prstGeom>
          <a:noFill/>
        </p:spPr>
        <p:txBody>
          <a:bodyPr wrap="square" lIns="64008" tIns="36576" rIns="64008" bIns="18288" anchor="t">
            <a:spAutoFit/>
          </a:bodyPr>
          <a:lstStyle/>
          <a:p>
            <a:r>
              <a:rPr sz="1300" b="1">
                <a:solidFill>
                  <a:srgbClr val="051422"/>
                </a:solidFill>
                <a:latin typeface="Aptos"/>
              </a:rPr>
              <a:t>Demand imbalance</a:t>
            </a:r>
          </a:p>
        </p:txBody>
      </p:sp>
      <p:sp>
        <p:nvSpPr>
          <p:cNvPr id="15" name="TextBox 14"/>
          <p:cNvSpPr txBox="1"/>
          <p:nvPr/>
        </p:nvSpPr>
        <p:spPr>
          <a:xfrm>
            <a:off x="4434840" y="1389888"/>
            <a:ext cx="6858000" cy="420624"/>
          </a:xfrm>
          <a:prstGeom prst="rect">
            <a:avLst/>
          </a:prstGeom>
          <a:noFill/>
        </p:spPr>
        <p:txBody>
          <a:bodyPr wrap="square" lIns="64008" tIns="36576" rIns="64008" bIns="18288" anchor="t">
            <a:spAutoFit/>
          </a:bodyPr>
          <a:lstStyle/>
          <a:p>
            <a:r>
              <a:rPr sz="1100" b="0">
                <a:solidFill>
                  <a:srgbClr val="192B3C"/>
                </a:solidFill>
                <a:latin typeface="Aptos"/>
              </a:rPr>
              <a:t>Which years, weekdays and hours have higher or falling trip activity?</a:t>
            </a:r>
          </a:p>
        </p:txBody>
      </p:sp>
      <p:sp>
        <p:nvSpPr>
          <p:cNvPr id="16" name="Rounded Rectangle 15"/>
          <p:cNvSpPr/>
          <p:nvPr/>
        </p:nvSpPr>
        <p:spPr>
          <a:xfrm>
            <a:off x="1783080" y="2139696"/>
            <a:ext cx="109728" cy="530352"/>
          </a:xfrm>
          <a:prstGeom prst="round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029968" y="2139696"/>
            <a:ext cx="2423160" cy="274320"/>
          </a:xfrm>
          <a:prstGeom prst="rect">
            <a:avLst/>
          </a:prstGeom>
          <a:noFill/>
        </p:spPr>
        <p:txBody>
          <a:bodyPr wrap="square" lIns="64008" tIns="36576" rIns="64008" bIns="18288" anchor="t">
            <a:spAutoFit/>
          </a:bodyPr>
          <a:lstStyle/>
          <a:p>
            <a:r>
              <a:rPr sz="1300" b="1">
                <a:solidFill>
                  <a:srgbClr val="051422"/>
                </a:solidFill>
                <a:latin typeface="Aptos"/>
              </a:rPr>
              <a:t>Revenue volatility</a:t>
            </a:r>
          </a:p>
        </p:txBody>
      </p:sp>
      <p:sp>
        <p:nvSpPr>
          <p:cNvPr id="18" name="TextBox 17"/>
          <p:cNvSpPr txBox="1"/>
          <p:nvPr/>
        </p:nvSpPr>
        <p:spPr>
          <a:xfrm>
            <a:off x="4434840" y="2139696"/>
            <a:ext cx="6858000" cy="420624"/>
          </a:xfrm>
          <a:prstGeom prst="rect">
            <a:avLst/>
          </a:prstGeom>
          <a:noFill/>
        </p:spPr>
        <p:txBody>
          <a:bodyPr wrap="square" lIns="64008" tIns="36576" rIns="64008" bIns="18288" anchor="t">
            <a:spAutoFit/>
          </a:bodyPr>
          <a:lstStyle/>
          <a:p>
            <a:r>
              <a:rPr sz="1100" b="0">
                <a:solidFill>
                  <a:srgbClr val="192B3C"/>
                </a:solidFill>
                <a:latin typeface="Aptos"/>
              </a:rPr>
              <a:t>Are revenue changes driven by trip volume, fare levels or data completeness?</a:t>
            </a:r>
          </a:p>
        </p:txBody>
      </p:sp>
      <p:sp>
        <p:nvSpPr>
          <p:cNvPr id="19" name="Rounded Rectangle 18"/>
          <p:cNvSpPr/>
          <p:nvPr/>
        </p:nvSpPr>
        <p:spPr>
          <a:xfrm>
            <a:off x="1783080" y="2889503"/>
            <a:ext cx="109728" cy="53035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029968" y="2889503"/>
            <a:ext cx="2423160" cy="274320"/>
          </a:xfrm>
          <a:prstGeom prst="rect">
            <a:avLst/>
          </a:prstGeom>
          <a:noFill/>
        </p:spPr>
        <p:txBody>
          <a:bodyPr wrap="square" lIns="64008" tIns="36576" rIns="64008" bIns="18288" anchor="t">
            <a:spAutoFit/>
          </a:bodyPr>
          <a:lstStyle/>
          <a:p>
            <a:r>
              <a:rPr sz="1300" b="1">
                <a:solidFill>
                  <a:srgbClr val="051422"/>
                </a:solidFill>
                <a:latin typeface="Aptos"/>
              </a:rPr>
              <a:t>Geographic coverage gaps</a:t>
            </a:r>
          </a:p>
        </p:txBody>
      </p:sp>
      <p:sp>
        <p:nvSpPr>
          <p:cNvPr id="21" name="TextBox 20"/>
          <p:cNvSpPr txBox="1"/>
          <p:nvPr/>
        </p:nvSpPr>
        <p:spPr>
          <a:xfrm>
            <a:off x="4434840" y="2889503"/>
            <a:ext cx="6858000" cy="420624"/>
          </a:xfrm>
          <a:prstGeom prst="rect">
            <a:avLst/>
          </a:prstGeom>
          <a:noFill/>
        </p:spPr>
        <p:txBody>
          <a:bodyPr wrap="square" lIns="64008" tIns="36576" rIns="64008" bIns="18288" anchor="t">
            <a:spAutoFit/>
          </a:bodyPr>
          <a:lstStyle/>
          <a:p>
            <a:r>
              <a:rPr sz="1100" b="0">
                <a:solidFill>
                  <a:srgbClr val="192B3C"/>
                </a:solidFill>
                <a:latin typeface="Aptos"/>
              </a:rPr>
              <a:t>Which boroughs/zones dominate activity, and where might fleet positioning need review?</a:t>
            </a:r>
          </a:p>
        </p:txBody>
      </p:sp>
      <p:sp>
        <p:nvSpPr>
          <p:cNvPr id="22" name="Rounded Rectangle 21"/>
          <p:cNvSpPr/>
          <p:nvPr/>
        </p:nvSpPr>
        <p:spPr>
          <a:xfrm>
            <a:off x="1783080" y="3639311"/>
            <a:ext cx="109728" cy="530352"/>
          </a:xfrm>
          <a:prstGeom prst="round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029968" y="3639311"/>
            <a:ext cx="2423160" cy="274320"/>
          </a:xfrm>
          <a:prstGeom prst="rect">
            <a:avLst/>
          </a:prstGeom>
          <a:noFill/>
        </p:spPr>
        <p:txBody>
          <a:bodyPr wrap="square" lIns="64008" tIns="36576" rIns="64008" bIns="18288" anchor="t">
            <a:spAutoFit/>
          </a:bodyPr>
          <a:lstStyle/>
          <a:p>
            <a:r>
              <a:rPr sz="1300" b="1">
                <a:solidFill>
                  <a:srgbClr val="051422"/>
                </a:solidFill>
                <a:latin typeface="Aptos"/>
              </a:rPr>
              <a:t>Route efficiency</a:t>
            </a:r>
          </a:p>
        </p:txBody>
      </p:sp>
      <p:sp>
        <p:nvSpPr>
          <p:cNvPr id="24" name="TextBox 23"/>
          <p:cNvSpPr txBox="1"/>
          <p:nvPr/>
        </p:nvSpPr>
        <p:spPr>
          <a:xfrm>
            <a:off x="4434840" y="3639311"/>
            <a:ext cx="6858000" cy="420624"/>
          </a:xfrm>
          <a:prstGeom prst="rect">
            <a:avLst/>
          </a:prstGeom>
          <a:noFill/>
        </p:spPr>
        <p:txBody>
          <a:bodyPr wrap="square" lIns="64008" tIns="36576" rIns="64008" bIns="18288" anchor="t">
            <a:spAutoFit/>
          </a:bodyPr>
          <a:lstStyle/>
          <a:p>
            <a:r>
              <a:rPr sz="1100" b="0">
                <a:solidFill>
                  <a:srgbClr val="192B3C"/>
                </a:solidFill>
                <a:latin typeface="Aptos"/>
              </a:rPr>
              <a:t>Which pickup–drop-off pairs are common, unusually long, or operationally important?</a:t>
            </a:r>
          </a:p>
        </p:txBody>
      </p:sp>
      <p:sp>
        <p:nvSpPr>
          <p:cNvPr id="25" name="Rounded Rectangle 24"/>
          <p:cNvSpPr/>
          <p:nvPr/>
        </p:nvSpPr>
        <p:spPr>
          <a:xfrm>
            <a:off x="1783080" y="4389120"/>
            <a:ext cx="109728" cy="53035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029968" y="4389120"/>
            <a:ext cx="2423160" cy="274320"/>
          </a:xfrm>
          <a:prstGeom prst="rect">
            <a:avLst/>
          </a:prstGeom>
          <a:noFill/>
        </p:spPr>
        <p:txBody>
          <a:bodyPr wrap="square" lIns="64008" tIns="36576" rIns="64008" bIns="18288" anchor="t">
            <a:spAutoFit/>
          </a:bodyPr>
          <a:lstStyle/>
          <a:p>
            <a:r>
              <a:rPr sz="1300" b="1">
                <a:solidFill>
                  <a:srgbClr val="051422"/>
                </a:solidFill>
                <a:latin typeface="Aptos"/>
              </a:rPr>
              <a:t>Payment and tip issues</a:t>
            </a:r>
          </a:p>
        </p:txBody>
      </p:sp>
      <p:sp>
        <p:nvSpPr>
          <p:cNvPr id="27" name="TextBox 26"/>
          <p:cNvSpPr txBox="1"/>
          <p:nvPr/>
        </p:nvSpPr>
        <p:spPr>
          <a:xfrm>
            <a:off x="4434840" y="4389120"/>
            <a:ext cx="6858000" cy="420624"/>
          </a:xfrm>
          <a:prstGeom prst="rect">
            <a:avLst/>
          </a:prstGeom>
          <a:noFill/>
        </p:spPr>
        <p:txBody>
          <a:bodyPr wrap="square" lIns="64008" tIns="36576" rIns="64008" bIns="18288" anchor="t">
            <a:spAutoFit/>
          </a:bodyPr>
          <a:lstStyle/>
          <a:p>
            <a:r>
              <a:rPr sz="1100" b="0">
                <a:solidFill>
                  <a:srgbClr val="192B3C"/>
                </a:solidFill>
                <a:latin typeface="Aptos"/>
              </a:rPr>
              <a:t>Which payment types dominate, where are missing categories, and which tip averages need validation?</a:t>
            </a:r>
          </a:p>
        </p:txBody>
      </p:sp>
      <p:sp>
        <p:nvSpPr>
          <p:cNvPr id="28" name="Rounded Rectangle 27"/>
          <p:cNvSpPr/>
          <p:nvPr/>
        </p:nvSpPr>
        <p:spPr>
          <a:xfrm>
            <a:off x="1783080" y="5138928"/>
            <a:ext cx="109728" cy="530352"/>
          </a:xfrm>
          <a:prstGeom prst="roundRect">
            <a:avLst/>
          </a:prstGeom>
          <a:solidFill>
            <a:srgbClr val="007EBE"/>
          </a:solidFill>
          <a:ln>
            <a:solidFill>
              <a:srgbClr val="00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029968" y="5138928"/>
            <a:ext cx="2423160" cy="274320"/>
          </a:xfrm>
          <a:prstGeom prst="rect">
            <a:avLst/>
          </a:prstGeom>
          <a:noFill/>
        </p:spPr>
        <p:txBody>
          <a:bodyPr wrap="square" lIns="64008" tIns="36576" rIns="64008" bIns="18288" anchor="t">
            <a:spAutoFit/>
          </a:bodyPr>
          <a:lstStyle/>
          <a:p>
            <a:r>
              <a:rPr sz="1300" b="1">
                <a:solidFill>
                  <a:srgbClr val="051422"/>
                </a:solidFill>
                <a:latin typeface="Aptos"/>
              </a:rPr>
              <a:t>Passenger and distance patterns</a:t>
            </a:r>
          </a:p>
        </p:txBody>
      </p:sp>
      <p:sp>
        <p:nvSpPr>
          <p:cNvPr id="30" name="TextBox 29"/>
          <p:cNvSpPr txBox="1"/>
          <p:nvPr/>
        </p:nvSpPr>
        <p:spPr>
          <a:xfrm>
            <a:off x="4434840" y="5138928"/>
            <a:ext cx="6858000" cy="420624"/>
          </a:xfrm>
          <a:prstGeom prst="rect">
            <a:avLst/>
          </a:prstGeom>
          <a:noFill/>
        </p:spPr>
        <p:txBody>
          <a:bodyPr wrap="square" lIns="64008" tIns="36576" rIns="64008" bIns="18288" anchor="t">
            <a:spAutoFit/>
          </a:bodyPr>
          <a:lstStyle/>
          <a:p>
            <a:r>
              <a:rPr sz="1100" b="0">
                <a:solidFill>
                  <a:srgbClr val="192B3C"/>
                </a:solidFill>
                <a:latin typeface="Aptos"/>
              </a:rPr>
              <a:t>How often are trips single-passenger, and which boroughs show longer average journeys?</a:t>
            </a:r>
          </a:p>
        </p:txBody>
      </p:sp>
      <p:sp>
        <p:nvSpPr>
          <p:cNvPr id="31" name="Rounded Rectangle 30"/>
          <p:cNvSpPr/>
          <p:nvPr/>
        </p:nvSpPr>
        <p:spPr>
          <a:xfrm>
            <a:off x="1783080" y="5989320"/>
            <a:ext cx="9784080" cy="429768"/>
          </a:xfrm>
          <a:prstGeom prst="roundRect">
            <a:avLst/>
          </a:prstGeom>
          <a:solidFill>
            <a:srgbClr val="0A2033"/>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965960" y="6071616"/>
            <a:ext cx="9418320" cy="201168"/>
          </a:xfrm>
          <a:prstGeom prst="rect">
            <a:avLst/>
          </a:prstGeom>
          <a:noFill/>
        </p:spPr>
        <p:txBody>
          <a:bodyPr wrap="square" lIns="64008" tIns="36576" rIns="64008" bIns="18288" anchor="t">
            <a:spAutoFit/>
          </a:bodyPr>
          <a:lstStyle/>
          <a:p>
            <a:pPr algn="ctr"/>
            <a:r>
              <a:rPr sz="1100" b="1">
                <a:solidFill>
                  <a:srgbClr val="FFFFFF"/>
                </a:solidFill>
                <a:latin typeface="Aptos"/>
              </a:rPr>
              <a:t>SQL quantifies the questions; Power BI makes patterns and exceptions easier to explore.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37160"/>
            <a:ext cx="1325880" cy="6720840"/>
          </a:xfrm>
          <a:prstGeom prst="rect">
            <a:avLst/>
          </a:prstGeom>
          <a:solidFill>
            <a:srgbClr val="051422"/>
          </a:solidFill>
          <a:ln>
            <a:solidFill>
              <a:srgbClr val="0514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 y="256032"/>
            <a:ext cx="1024128" cy="411480"/>
          </a:xfrm>
          <a:prstGeom prst="rect">
            <a:avLst/>
          </a:prstGeom>
          <a:noFill/>
        </p:spPr>
        <p:txBody>
          <a:bodyPr wrap="square" lIns="64008" tIns="36576" rIns="64008" bIns="18288" anchor="t">
            <a:spAutoFit/>
          </a:bodyPr>
          <a:lstStyle/>
          <a:p>
            <a:pPr algn="ctr"/>
            <a:r>
              <a:rPr sz="2300" b="1">
                <a:solidFill>
                  <a:srgbClr val="FFFFFF"/>
                </a:solidFill>
                <a:latin typeface="Aptos"/>
              </a:rPr>
              <a:t>Uber</a:t>
            </a:r>
          </a:p>
        </p:txBody>
      </p:sp>
      <p:sp>
        <p:nvSpPr>
          <p:cNvPr id="5" name="Rectangle 4"/>
          <p:cNvSpPr/>
          <p:nvPr/>
        </p:nvSpPr>
        <p:spPr>
          <a:xfrm>
            <a:off x="1261872" y="256032"/>
            <a:ext cx="32004" cy="3657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1051560"/>
            <a:ext cx="960120" cy="594360"/>
          </a:xfrm>
          <a:prstGeom prst="rect">
            <a:avLst/>
          </a:prstGeom>
          <a:noFill/>
        </p:spPr>
        <p:txBody>
          <a:bodyPr wrap="square" lIns="64008" tIns="36576" rIns="64008" bIns="18288" anchor="t">
            <a:spAutoFit/>
          </a:bodyPr>
          <a:lstStyle/>
          <a:p>
            <a:pPr algn="ctr"/>
            <a:r>
              <a:rPr sz="1000" b="1">
                <a:solidFill>
                  <a:srgbClr val="FFC400"/>
                </a:solidFill>
                <a:latin typeface="Aptos"/>
              </a:rPr>
              <a:t>TRIPS
ANALYTICS</a:t>
            </a:r>
          </a:p>
        </p:txBody>
      </p:sp>
      <p:sp>
        <p:nvSpPr>
          <p:cNvPr id="7" name="TextBox 6"/>
          <p:cNvSpPr txBox="1"/>
          <p:nvPr/>
        </p:nvSpPr>
        <p:spPr>
          <a:xfrm>
            <a:off x="146304" y="4892040"/>
            <a:ext cx="1051560" cy="347472"/>
          </a:xfrm>
          <a:prstGeom prst="rect">
            <a:avLst/>
          </a:prstGeom>
          <a:noFill/>
        </p:spPr>
        <p:txBody>
          <a:bodyPr wrap="square" lIns="64008" tIns="36576" rIns="64008" bIns="18288" anchor="t">
            <a:spAutoFit/>
          </a:bodyPr>
          <a:lstStyle/>
          <a:p>
            <a:pPr algn="ctr"/>
            <a:r>
              <a:rPr sz="2600" b="0">
                <a:solidFill>
                  <a:srgbClr val="FFC400"/>
                </a:solidFill>
                <a:latin typeface="Aptos"/>
              </a:rPr>
              <a:t>🚕</a:t>
            </a:r>
          </a:p>
        </p:txBody>
      </p:sp>
      <p:sp>
        <p:nvSpPr>
          <p:cNvPr id="8" name="TextBox 7"/>
          <p:cNvSpPr txBox="1"/>
          <p:nvPr/>
        </p:nvSpPr>
        <p:spPr>
          <a:xfrm>
            <a:off x="109728" y="5303520"/>
            <a:ext cx="1097280" cy="685800"/>
          </a:xfrm>
          <a:prstGeom prst="rect">
            <a:avLst/>
          </a:prstGeom>
          <a:noFill/>
        </p:spPr>
        <p:txBody>
          <a:bodyPr wrap="square" lIns="64008" tIns="36576" rIns="64008" bIns="18288" anchor="t">
            <a:spAutoFit/>
          </a:bodyPr>
          <a:lstStyle/>
          <a:p>
            <a:pPr algn="ctr"/>
            <a:r>
              <a:rPr sz="800" b="1">
                <a:solidFill>
                  <a:srgbClr val="C3CFDA"/>
                </a:solidFill>
                <a:latin typeface="Aptos"/>
              </a:rPr>
              <a:t>NYC GREEN TAXI
DATA PROJECT</a:t>
            </a:r>
          </a:p>
        </p:txBody>
      </p:sp>
      <p:sp>
        <p:nvSpPr>
          <p:cNvPr id="9" name="TextBox 8"/>
          <p:cNvSpPr txBox="1"/>
          <p:nvPr/>
        </p:nvSpPr>
        <p:spPr>
          <a:xfrm>
            <a:off x="1645920" y="292608"/>
            <a:ext cx="9966960" cy="457200"/>
          </a:xfrm>
          <a:prstGeom prst="rect">
            <a:avLst/>
          </a:prstGeom>
          <a:noFill/>
        </p:spPr>
        <p:txBody>
          <a:bodyPr wrap="square" lIns="64008" tIns="36576" rIns="64008" bIns="18288" anchor="t">
            <a:spAutoFit/>
          </a:bodyPr>
          <a:lstStyle/>
          <a:p>
            <a:r>
              <a:rPr sz="2300" b="1">
                <a:solidFill>
                  <a:srgbClr val="051422"/>
                </a:solidFill>
                <a:latin typeface="Aptos"/>
              </a:rPr>
              <a:t>Data Quality &amp; Interpretation Checks</a:t>
            </a:r>
          </a:p>
        </p:txBody>
      </p:sp>
      <p:sp>
        <p:nvSpPr>
          <p:cNvPr id="10" name="TextBox 9"/>
          <p:cNvSpPr txBox="1"/>
          <p:nvPr/>
        </p:nvSpPr>
        <p:spPr>
          <a:xfrm>
            <a:off x="1664208" y="768096"/>
            <a:ext cx="9144000" cy="228600"/>
          </a:xfrm>
          <a:prstGeom prst="rect">
            <a:avLst/>
          </a:prstGeom>
          <a:noFill/>
        </p:spPr>
        <p:txBody>
          <a:bodyPr wrap="square" lIns="64008" tIns="36576" rIns="64008" bIns="18288" anchor="t">
            <a:spAutoFit/>
          </a:bodyPr>
          <a:lstStyle/>
          <a:p>
            <a:r>
              <a:rPr sz="900" b="1">
                <a:solidFill>
                  <a:srgbClr val="007EBE"/>
                </a:solidFill>
                <a:latin typeface="Aptos"/>
              </a:rPr>
              <a:t>IMPORTANT BEFORE FINAL SUBMISSION</a:t>
            </a:r>
          </a:p>
        </p:txBody>
      </p:sp>
      <p:sp>
        <p:nvSpPr>
          <p:cNvPr id="11" name="Rectangle 10"/>
          <p:cNvSpPr/>
          <p:nvPr/>
        </p:nvSpPr>
        <p:spPr>
          <a:xfrm>
            <a:off x="1664208" y="1060704"/>
            <a:ext cx="68580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828800" y="1572768"/>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084832" y="1508760"/>
            <a:ext cx="9528048" cy="795528"/>
          </a:xfrm>
          <a:prstGeom prst="rect">
            <a:avLst/>
          </a:prstGeom>
          <a:noFill/>
        </p:spPr>
        <p:txBody>
          <a:bodyPr wrap="square" lIns="64008" tIns="36576" rIns="64008" bIns="18288" anchor="t">
            <a:spAutoFit/>
          </a:bodyPr>
          <a:lstStyle/>
          <a:p>
            <a:r>
              <a:rPr sz="1300" b="0">
                <a:solidFill>
                  <a:srgbClr val="192B3C"/>
                </a:solidFill>
                <a:latin typeface="Aptos"/>
              </a:rPr>
              <a:t>The SQL results and dashboard cards show different total-trip figures in places; reconcile date range, table coverage and filters.</a:t>
            </a:r>
          </a:p>
        </p:txBody>
      </p:sp>
      <p:sp>
        <p:nvSpPr>
          <p:cNvPr id="15" name="Rounded Rectangle 14"/>
          <p:cNvSpPr/>
          <p:nvPr/>
        </p:nvSpPr>
        <p:spPr>
          <a:xfrm>
            <a:off x="1828800" y="2414015"/>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084832" y="2350008"/>
            <a:ext cx="9528048" cy="795528"/>
          </a:xfrm>
          <a:prstGeom prst="rect">
            <a:avLst/>
          </a:prstGeom>
          <a:noFill/>
        </p:spPr>
        <p:txBody>
          <a:bodyPr wrap="square" lIns="64008" tIns="36576" rIns="64008" bIns="18288" anchor="t">
            <a:spAutoFit/>
          </a:bodyPr>
          <a:lstStyle/>
          <a:p>
            <a:r>
              <a:rPr sz="1300" b="0">
                <a:solidFill>
                  <a:srgbClr val="192B3C"/>
                </a:solidFill>
                <a:latin typeface="Aptos"/>
              </a:rPr>
              <a:t>The YoY Trips card displays -8E-16, which is a formatting / floating-point artifact and should not be presented as a meaningful percentage.</a:t>
            </a:r>
          </a:p>
        </p:txBody>
      </p:sp>
      <p:sp>
        <p:nvSpPr>
          <p:cNvPr id="17" name="Rounded Rectangle 16"/>
          <p:cNvSpPr/>
          <p:nvPr/>
        </p:nvSpPr>
        <p:spPr>
          <a:xfrm>
            <a:off x="1828800" y="3255263"/>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84832" y="3191256"/>
            <a:ext cx="9528048" cy="795528"/>
          </a:xfrm>
          <a:prstGeom prst="rect">
            <a:avLst/>
          </a:prstGeom>
          <a:noFill/>
        </p:spPr>
        <p:txBody>
          <a:bodyPr wrap="square" lIns="64008" tIns="36576" rIns="64008" bIns="18288" anchor="t">
            <a:spAutoFit/>
          </a:bodyPr>
          <a:lstStyle/>
          <a:p>
            <a:r>
              <a:rPr sz="1300" b="0">
                <a:solidFill>
                  <a:srgbClr val="192B3C"/>
                </a:solidFill>
                <a:latin typeface="Aptos"/>
              </a:rPr>
              <a:t>Some visuals appear to use mismatched measures or labels (for example, repeated total-revenue labels in a time-slot donut).</a:t>
            </a:r>
          </a:p>
        </p:txBody>
      </p:sp>
      <p:sp>
        <p:nvSpPr>
          <p:cNvPr id="19" name="Rounded Rectangle 18"/>
          <p:cNvSpPr/>
          <p:nvPr/>
        </p:nvSpPr>
        <p:spPr>
          <a:xfrm>
            <a:off x="1828800" y="4096512"/>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084832" y="4032504"/>
            <a:ext cx="9528048" cy="795528"/>
          </a:xfrm>
          <a:prstGeom prst="rect">
            <a:avLst/>
          </a:prstGeom>
          <a:noFill/>
        </p:spPr>
        <p:txBody>
          <a:bodyPr wrap="square" lIns="64008" tIns="36576" rIns="64008" bIns="18288" anchor="t">
            <a:spAutoFit/>
          </a:bodyPr>
          <a:lstStyle/>
          <a:p>
            <a:r>
              <a:rPr sz="1300" b="0">
                <a:solidFill>
                  <a:srgbClr val="192B3C"/>
                </a:solidFill>
                <a:latin typeface="Aptos"/>
              </a:rPr>
              <a:t>Confirm currency, distance units, missing values, payment code mappings and passenger-count outliers.</a:t>
            </a:r>
          </a:p>
        </p:txBody>
      </p:sp>
      <p:sp>
        <p:nvSpPr>
          <p:cNvPr id="21" name="Rounded Rectangle 20"/>
          <p:cNvSpPr/>
          <p:nvPr/>
        </p:nvSpPr>
        <p:spPr>
          <a:xfrm>
            <a:off x="1828800" y="4937760"/>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084832" y="4873752"/>
            <a:ext cx="9528048" cy="795528"/>
          </a:xfrm>
          <a:prstGeom prst="rect">
            <a:avLst/>
          </a:prstGeom>
          <a:noFill/>
        </p:spPr>
        <p:txBody>
          <a:bodyPr wrap="square" lIns="64008" tIns="36576" rIns="64008" bIns="18288" anchor="t">
            <a:spAutoFit/>
          </a:bodyPr>
          <a:lstStyle/>
          <a:p>
            <a:r>
              <a:rPr sz="1300" b="0">
                <a:solidFill>
                  <a:srgbClr val="192B3C"/>
                </a:solidFill>
                <a:latin typeface="Aptos"/>
              </a:rPr>
              <a:t>For route and tip analysis, include minimum trip counts and inspect outliers before making recommendations.</a:t>
            </a:r>
          </a:p>
        </p:txBody>
      </p:sp>
      <p:sp>
        <p:nvSpPr>
          <p:cNvPr id="23" name="Rounded Rectangle 22"/>
          <p:cNvSpPr/>
          <p:nvPr/>
        </p:nvSpPr>
        <p:spPr>
          <a:xfrm>
            <a:off x="1828800" y="5897880"/>
            <a:ext cx="9692640" cy="457200"/>
          </a:xfrm>
          <a:prstGeom prst="roundRect">
            <a:avLst/>
          </a:prstGeom>
          <a:solidFill>
            <a:srgbClr val="FFF8DE"/>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993392" y="5998464"/>
            <a:ext cx="9326880" cy="228600"/>
          </a:xfrm>
          <a:prstGeom prst="rect">
            <a:avLst/>
          </a:prstGeom>
          <a:noFill/>
        </p:spPr>
        <p:txBody>
          <a:bodyPr wrap="square" lIns="64008" tIns="36576" rIns="64008" bIns="18288" anchor="t">
            <a:spAutoFit/>
          </a:bodyPr>
          <a:lstStyle/>
          <a:p>
            <a:pPr algn="ctr"/>
            <a:r>
              <a:rPr sz="1100" b="1">
                <a:solidFill>
                  <a:srgbClr val="051422"/>
                </a:solidFill>
                <a:latin typeface="Aptos"/>
              </a:rPr>
              <a:t>A transparent validation slide strengthens the credibility of the capstone.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37160"/>
            <a:ext cx="1325880" cy="6720840"/>
          </a:xfrm>
          <a:prstGeom prst="rect">
            <a:avLst/>
          </a:prstGeom>
          <a:solidFill>
            <a:srgbClr val="051422"/>
          </a:solidFill>
          <a:ln>
            <a:solidFill>
              <a:srgbClr val="0514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 y="256032"/>
            <a:ext cx="1024128" cy="411480"/>
          </a:xfrm>
          <a:prstGeom prst="rect">
            <a:avLst/>
          </a:prstGeom>
          <a:noFill/>
        </p:spPr>
        <p:txBody>
          <a:bodyPr wrap="square" lIns="64008" tIns="36576" rIns="64008" bIns="18288" anchor="t">
            <a:spAutoFit/>
          </a:bodyPr>
          <a:lstStyle/>
          <a:p>
            <a:pPr algn="ctr"/>
            <a:r>
              <a:rPr sz="2300" b="1">
                <a:solidFill>
                  <a:srgbClr val="FFFFFF"/>
                </a:solidFill>
                <a:latin typeface="Aptos"/>
              </a:rPr>
              <a:t>Uber</a:t>
            </a:r>
          </a:p>
        </p:txBody>
      </p:sp>
      <p:sp>
        <p:nvSpPr>
          <p:cNvPr id="5" name="Rectangle 4"/>
          <p:cNvSpPr/>
          <p:nvPr/>
        </p:nvSpPr>
        <p:spPr>
          <a:xfrm>
            <a:off x="1261872" y="256032"/>
            <a:ext cx="32004" cy="365760"/>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1051560"/>
            <a:ext cx="960120" cy="594360"/>
          </a:xfrm>
          <a:prstGeom prst="rect">
            <a:avLst/>
          </a:prstGeom>
          <a:noFill/>
        </p:spPr>
        <p:txBody>
          <a:bodyPr wrap="square" lIns="64008" tIns="36576" rIns="64008" bIns="18288" anchor="t">
            <a:spAutoFit/>
          </a:bodyPr>
          <a:lstStyle/>
          <a:p>
            <a:pPr algn="ctr"/>
            <a:r>
              <a:rPr sz="1000" b="1">
                <a:solidFill>
                  <a:srgbClr val="FFC400"/>
                </a:solidFill>
                <a:latin typeface="Aptos"/>
              </a:rPr>
              <a:t>TRIPS
ANALYTICS</a:t>
            </a:r>
          </a:p>
        </p:txBody>
      </p:sp>
      <p:sp>
        <p:nvSpPr>
          <p:cNvPr id="7" name="TextBox 6"/>
          <p:cNvSpPr txBox="1"/>
          <p:nvPr/>
        </p:nvSpPr>
        <p:spPr>
          <a:xfrm>
            <a:off x="146304" y="4892040"/>
            <a:ext cx="1051560" cy="347472"/>
          </a:xfrm>
          <a:prstGeom prst="rect">
            <a:avLst/>
          </a:prstGeom>
          <a:noFill/>
        </p:spPr>
        <p:txBody>
          <a:bodyPr wrap="square" lIns="64008" tIns="36576" rIns="64008" bIns="18288" anchor="t">
            <a:spAutoFit/>
          </a:bodyPr>
          <a:lstStyle/>
          <a:p>
            <a:pPr algn="ctr"/>
            <a:r>
              <a:rPr sz="2600" b="0">
                <a:solidFill>
                  <a:srgbClr val="FFC400"/>
                </a:solidFill>
                <a:latin typeface="Aptos"/>
              </a:rPr>
              <a:t>🚕</a:t>
            </a:r>
          </a:p>
        </p:txBody>
      </p:sp>
      <p:sp>
        <p:nvSpPr>
          <p:cNvPr id="8" name="TextBox 7"/>
          <p:cNvSpPr txBox="1"/>
          <p:nvPr/>
        </p:nvSpPr>
        <p:spPr>
          <a:xfrm>
            <a:off x="109728" y="5303520"/>
            <a:ext cx="1097280" cy="685800"/>
          </a:xfrm>
          <a:prstGeom prst="rect">
            <a:avLst/>
          </a:prstGeom>
          <a:noFill/>
        </p:spPr>
        <p:txBody>
          <a:bodyPr wrap="square" lIns="64008" tIns="36576" rIns="64008" bIns="18288" anchor="t">
            <a:spAutoFit/>
          </a:bodyPr>
          <a:lstStyle/>
          <a:p>
            <a:pPr algn="ctr"/>
            <a:r>
              <a:rPr sz="800" b="1">
                <a:solidFill>
                  <a:srgbClr val="C3CFDA"/>
                </a:solidFill>
                <a:latin typeface="Aptos"/>
              </a:rPr>
              <a:t>NYC GREEN TAXI
DATA PROJECT</a:t>
            </a:r>
          </a:p>
        </p:txBody>
      </p:sp>
      <p:sp>
        <p:nvSpPr>
          <p:cNvPr id="9" name="TextBox 8"/>
          <p:cNvSpPr txBox="1"/>
          <p:nvPr/>
        </p:nvSpPr>
        <p:spPr>
          <a:xfrm>
            <a:off x="1645920" y="292608"/>
            <a:ext cx="9966960" cy="457200"/>
          </a:xfrm>
          <a:prstGeom prst="rect">
            <a:avLst/>
          </a:prstGeom>
          <a:noFill/>
        </p:spPr>
        <p:txBody>
          <a:bodyPr wrap="square" lIns="64008" tIns="36576" rIns="64008" bIns="18288" anchor="t">
            <a:spAutoFit/>
          </a:bodyPr>
          <a:lstStyle/>
          <a:p>
            <a:r>
              <a:rPr sz="2300" b="1">
                <a:solidFill>
                  <a:srgbClr val="051422"/>
                </a:solidFill>
                <a:latin typeface="Aptos"/>
              </a:rPr>
              <a:t>Final Conclusion: SQL + Power BI</a:t>
            </a:r>
          </a:p>
        </p:txBody>
      </p:sp>
      <p:sp>
        <p:nvSpPr>
          <p:cNvPr id="10" name="TextBox 9"/>
          <p:cNvSpPr txBox="1"/>
          <p:nvPr/>
        </p:nvSpPr>
        <p:spPr>
          <a:xfrm>
            <a:off x="1664208" y="768096"/>
            <a:ext cx="9144000" cy="228600"/>
          </a:xfrm>
          <a:prstGeom prst="rect">
            <a:avLst/>
          </a:prstGeom>
          <a:noFill/>
        </p:spPr>
        <p:txBody>
          <a:bodyPr wrap="square" lIns="64008" tIns="36576" rIns="64008" bIns="18288" anchor="t">
            <a:spAutoFit/>
          </a:bodyPr>
          <a:lstStyle/>
          <a:p>
            <a:r>
              <a:rPr sz="900" b="1">
                <a:solidFill>
                  <a:srgbClr val="007EBE"/>
                </a:solidFill>
                <a:latin typeface="Aptos"/>
              </a:rPr>
              <a:t>CAPSTONE PROJECT • END-TO-END VALUE</a:t>
            </a:r>
          </a:p>
        </p:txBody>
      </p:sp>
      <p:sp>
        <p:nvSpPr>
          <p:cNvPr id="11" name="Rectangle 10"/>
          <p:cNvSpPr/>
          <p:nvPr/>
        </p:nvSpPr>
        <p:spPr>
          <a:xfrm>
            <a:off x="1664208" y="1060704"/>
            <a:ext cx="685800" cy="50292"/>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828800" y="1371600"/>
            <a:ext cx="9601200" cy="502920"/>
          </a:xfrm>
          <a:prstGeom prst="rect">
            <a:avLst/>
          </a:prstGeom>
          <a:noFill/>
        </p:spPr>
        <p:txBody>
          <a:bodyPr wrap="square" lIns="64008" tIns="36576" rIns="64008" bIns="18288" anchor="t">
            <a:spAutoFit/>
          </a:bodyPr>
          <a:lstStyle/>
          <a:p>
            <a:r>
              <a:rPr sz="2000" b="1">
                <a:solidFill>
                  <a:srgbClr val="051422"/>
                </a:solidFill>
                <a:latin typeface="Aptos"/>
              </a:rPr>
              <a:t>SQL provides the evidence. Power BI turns it into an operational story.</a:t>
            </a:r>
          </a:p>
        </p:txBody>
      </p:sp>
      <p:sp>
        <p:nvSpPr>
          <p:cNvPr id="14" name="Rounded Rectangle 13"/>
          <p:cNvSpPr/>
          <p:nvPr/>
        </p:nvSpPr>
        <p:spPr>
          <a:xfrm>
            <a:off x="1828800" y="2057400"/>
            <a:ext cx="4663440" cy="2240280"/>
          </a:xfrm>
          <a:prstGeom prst="roundRect">
            <a:avLst/>
          </a:prstGeom>
          <a:solidFill>
            <a:srgbClr val="F2F6F9"/>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057400" y="2267712"/>
            <a:ext cx="4206240" cy="320040"/>
          </a:xfrm>
          <a:prstGeom prst="rect">
            <a:avLst/>
          </a:prstGeom>
          <a:noFill/>
        </p:spPr>
        <p:txBody>
          <a:bodyPr wrap="square" lIns="64008" tIns="36576" rIns="64008" bIns="18288" anchor="t">
            <a:spAutoFit/>
          </a:bodyPr>
          <a:lstStyle/>
          <a:p>
            <a:r>
              <a:rPr sz="1400" b="1">
                <a:solidFill>
                  <a:srgbClr val="007EBE"/>
                </a:solidFill>
                <a:latin typeface="Aptos"/>
              </a:rPr>
              <a:t>WHAT SQL CONTRIBUTES</a:t>
            </a:r>
          </a:p>
        </p:txBody>
      </p:sp>
      <p:sp>
        <p:nvSpPr>
          <p:cNvPr id="16" name="Rounded Rectangle 15"/>
          <p:cNvSpPr/>
          <p:nvPr/>
        </p:nvSpPr>
        <p:spPr>
          <a:xfrm>
            <a:off x="2057400" y="2788920"/>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13432" y="2724912"/>
            <a:ext cx="3904487" cy="429768"/>
          </a:xfrm>
          <a:prstGeom prst="rect">
            <a:avLst/>
          </a:prstGeom>
          <a:noFill/>
        </p:spPr>
        <p:txBody>
          <a:bodyPr wrap="square" lIns="64008" tIns="36576" rIns="64008" bIns="18288" anchor="t">
            <a:spAutoFit/>
          </a:bodyPr>
          <a:lstStyle/>
          <a:p>
            <a:r>
              <a:rPr sz="1100" b="0">
                <a:solidFill>
                  <a:srgbClr val="192B3C"/>
                </a:solidFill>
                <a:latin typeface="Aptos"/>
              </a:rPr>
              <a:t>Combines annual trip tables and calculates trip, revenue and route metrics.</a:t>
            </a:r>
          </a:p>
        </p:txBody>
      </p:sp>
      <p:sp>
        <p:nvSpPr>
          <p:cNvPr id="18" name="Rounded Rectangle 17"/>
          <p:cNvSpPr/>
          <p:nvPr/>
        </p:nvSpPr>
        <p:spPr>
          <a:xfrm>
            <a:off x="2057400" y="3264408"/>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313432" y="3200400"/>
            <a:ext cx="3904487" cy="429768"/>
          </a:xfrm>
          <a:prstGeom prst="rect">
            <a:avLst/>
          </a:prstGeom>
          <a:noFill/>
        </p:spPr>
        <p:txBody>
          <a:bodyPr wrap="square" lIns="64008" tIns="36576" rIns="64008" bIns="18288" anchor="t">
            <a:spAutoFit/>
          </a:bodyPr>
          <a:lstStyle/>
          <a:p>
            <a:r>
              <a:rPr sz="1100" b="0">
                <a:solidFill>
                  <a:srgbClr val="192B3C"/>
                </a:solidFill>
                <a:latin typeface="Aptos"/>
              </a:rPr>
              <a:t>Ranks peak periods, borough shares, frequent routes, passenger loads and tip/payment patterns.</a:t>
            </a:r>
          </a:p>
        </p:txBody>
      </p:sp>
      <p:sp>
        <p:nvSpPr>
          <p:cNvPr id="20" name="Rounded Rectangle 19"/>
          <p:cNvSpPr/>
          <p:nvPr/>
        </p:nvSpPr>
        <p:spPr>
          <a:xfrm>
            <a:off x="2057400" y="373989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313432" y="3675887"/>
            <a:ext cx="3904487" cy="429768"/>
          </a:xfrm>
          <a:prstGeom prst="rect">
            <a:avLst/>
          </a:prstGeom>
          <a:noFill/>
        </p:spPr>
        <p:txBody>
          <a:bodyPr wrap="square" lIns="64008" tIns="36576" rIns="64008" bIns="18288" anchor="t">
            <a:spAutoFit/>
          </a:bodyPr>
          <a:lstStyle/>
          <a:p>
            <a:r>
              <a:rPr sz="1100" b="0">
                <a:solidFill>
                  <a:srgbClr val="192B3C"/>
                </a:solidFill>
                <a:latin typeface="Aptos"/>
              </a:rPr>
              <a:t>Makes business questions measurable and reproducible.</a:t>
            </a:r>
          </a:p>
        </p:txBody>
      </p:sp>
      <p:sp>
        <p:nvSpPr>
          <p:cNvPr id="22" name="Rounded Rectangle 21"/>
          <p:cNvSpPr/>
          <p:nvPr/>
        </p:nvSpPr>
        <p:spPr>
          <a:xfrm>
            <a:off x="6720840" y="2057400"/>
            <a:ext cx="4709160" cy="2240280"/>
          </a:xfrm>
          <a:prstGeom prst="roundRect">
            <a:avLst/>
          </a:prstGeom>
          <a:solidFill>
            <a:srgbClr val="FFF9E1"/>
          </a:solidFill>
          <a:ln>
            <a:solidFill>
              <a:srgbClr val="F5D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967728" y="2267712"/>
            <a:ext cx="4206240" cy="320040"/>
          </a:xfrm>
          <a:prstGeom prst="rect">
            <a:avLst/>
          </a:prstGeom>
          <a:noFill/>
        </p:spPr>
        <p:txBody>
          <a:bodyPr wrap="square" lIns="64008" tIns="36576" rIns="64008" bIns="18288" anchor="t">
            <a:spAutoFit/>
          </a:bodyPr>
          <a:lstStyle/>
          <a:p>
            <a:r>
              <a:rPr sz="1400" b="1">
                <a:solidFill>
                  <a:srgbClr val="007EBE"/>
                </a:solidFill>
                <a:latin typeface="Aptos"/>
              </a:rPr>
              <a:t>WHAT POWER BI CONTRIBUTES</a:t>
            </a:r>
          </a:p>
        </p:txBody>
      </p:sp>
      <p:sp>
        <p:nvSpPr>
          <p:cNvPr id="24" name="Rounded Rectangle 23"/>
          <p:cNvSpPr/>
          <p:nvPr/>
        </p:nvSpPr>
        <p:spPr>
          <a:xfrm>
            <a:off x="6967728" y="2788920"/>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223760" y="2724912"/>
            <a:ext cx="3904487" cy="429768"/>
          </a:xfrm>
          <a:prstGeom prst="rect">
            <a:avLst/>
          </a:prstGeom>
          <a:noFill/>
        </p:spPr>
        <p:txBody>
          <a:bodyPr wrap="square" lIns="64008" tIns="36576" rIns="64008" bIns="18288" anchor="t">
            <a:spAutoFit/>
          </a:bodyPr>
          <a:lstStyle/>
          <a:p>
            <a:r>
              <a:rPr sz="1100" b="0">
                <a:solidFill>
                  <a:srgbClr val="192B3C"/>
                </a:solidFill>
                <a:latin typeface="Aptos"/>
              </a:rPr>
              <a:t>Shows KPIs and trends together across five dashboard pages.</a:t>
            </a:r>
          </a:p>
        </p:txBody>
      </p:sp>
      <p:sp>
        <p:nvSpPr>
          <p:cNvPr id="26" name="Rounded Rectangle 25"/>
          <p:cNvSpPr/>
          <p:nvPr/>
        </p:nvSpPr>
        <p:spPr>
          <a:xfrm>
            <a:off x="6967728" y="3264408"/>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223760" y="3200400"/>
            <a:ext cx="3904487" cy="429768"/>
          </a:xfrm>
          <a:prstGeom prst="rect">
            <a:avLst/>
          </a:prstGeom>
          <a:noFill/>
        </p:spPr>
        <p:txBody>
          <a:bodyPr wrap="square" lIns="64008" tIns="36576" rIns="64008" bIns="18288" anchor="t">
            <a:spAutoFit/>
          </a:bodyPr>
          <a:lstStyle/>
          <a:p>
            <a:r>
              <a:rPr sz="1100" b="0">
                <a:solidFill>
                  <a:srgbClr val="192B3C"/>
                </a:solidFill>
                <a:latin typeface="Aptos"/>
              </a:rPr>
              <a:t>Allows interactive filtering by time, borough, zone and payment category.</a:t>
            </a:r>
          </a:p>
        </p:txBody>
      </p:sp>
      <p:sp>
        <p:nvSpPr>
          <p:cNvPr id="28" name="Rounded Rectangle 27"/>
          <p:cNvSpPr/>
          <p:nvPr/>
        </p:nvSpPr>
        <p:spPr>
          <a:xfrm>
            <a:off x="6967728" y="3739896"/>
            <a:ext cx="118872" cy="118872"/>
          </a:xfrm>
          <a:prstGeom prst="round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223760" y="3675887"/>
            <a:ext cx="3904487" cy="429768"/>
          </a:xfrm>
          <a:prstGeom prst="rect">
            <a:avLst/>
          </a:prstGeom>
          <a:noFill/>
        </p:spPr>
        <p:txBody>
          <a:bodyPr wrap="square" lIns="64008" tIns="36576" rIns="64008" bIns="18288" anchor="t">
            <a:spAutoFit/>
          </a:bodyPr>
          <a:lstStyle/>
          <a:p>
            <a:r>
              <a:rPr sz="1100" b="0">
                <a:solidFill>
                  <a:srgbClr val="192B3C"/>
                </a:solidFill>
                <a:latin typeface="Aptos"/>
              </a:rPr>
              <a:t>Helps stakeholders explore patterns without rerunning SQL manually.</a:t>
            </a:r>
          </a:p>
        </p:txBody>
      </p:sp>
      <p:sp>
        <p:nvSpPr>
          <p:cNvPr id="30" name="Rounded Rectangle 29"/>
          <p:cNvSpPr/>
          <p:nvPr/>
        </p:nvSpPr>
        <p:spPr>
          <a:xfrm>
            <a:off x="1828800" y="4617720"/>
            <a:ext cx="9601200" cy="1097280"/>
          </a:xfrm>
          <a:prstGeom prst="roundRect">
            <a:avLst/>
          </a:prstGeom>
          <a:solidFill>
            <a:srgbClr val="0A2033"/>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084831" y="4800600"/>
            <a:ext cx="9098280" cy="685800"/>
          </a:xfrm>
          <a:prstGeom prst="rect">
            <a:avLst/>
          </a:prstGeom>
          <a:noFill/>
        </p:spPr>
        <p:txBody>
          <a:bodyPr wrap="square" lIns="64008" tIns="36576" rIns="64008" bIns="18288" anchor="t">
            <a:spAutoFit/>
          </a:bodyPr>
          <a:lstStyle/>
          <a:p>
            <a:r>
              <a:rPr sz="1200" b="1">
                <a:solidFill>
                  <a:srgbClr val="FFFFFF"/>
                </a:solidFill>
                <a:latin typeface="Aptos"/>
              </a:rPr>
              <a:t>Together, SQL and Power BI can help teams investigate demand peaks, revenue shifts, geographic imbalances, route patterns, payment-quality issues and passenger-distance trends. The results support better-informed fleet scheduling and service planning—but recommendations should be confirmed after reconciling totals, validating measures, and checking data quality.</a:t>
            </a:r>
          </a:p>
        </p:txBody>
      </p:sp>
      <p:sp>
        <p:nvSpPr>
          <p:cNvPr id="32" name="TextBox 31"/>
          <p:cNvSpPr txBox="1"/>
          <p:nvPr/>
        </p:nvSpPr>
        <p:spPr>
          <a:xfrm>
            <a:off x="1828800" y="5989320"/>
            <a:ext cx="9692640" cy="320040"/>
          </a:xfrm>
          <a:prstGeom prst="rect">
            <a:avLst/>
          </a:prstGeom>
          <a:noFill/>
        </p:spPr>
        <p:txBody>
          <a:bodyPr wrap="square" lIns="64008" tIns="36576" rIns="64008" bIns="18288" anchor="t">
            <a:spAutoFit/>
          </a:bodyPr>
          <a:lstStyle/>
          <a:p>
            <a:r>
              <a:rPr sz="1000" b="1">
                <a:solidFill>
                  <a:srgbClr val="007EBE"/>
                </a:solidFill>
                <a:latin typeface="Aptos"/>
              </a:rPr>
              <a:t>NEXT STEP: validate the underlying model, finalize the report filters, and combine this deck with the SQL edition for submission.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1696"/>
            <a:ext cx="12191695" cy="146304"/>
          </a:xfrm>
          <a:prstGeom prst="rect">
            <a:avLst/>
          </a:prstGeom>
          <a:solidFill>
            <a:srgbClr val="FFC400"/>
          </a:solidFill>
          <a:ln>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234440"/>
            <a:ext cx="10332720" cy="640080"/>
          </a:xfrm>
          <a:prstGeom prst="rect">
            <a:avLst/>
          </a:prstGeom>
          <a:noFill/>
        </p:spPr>
        <p:txBody>
          <a:bodyPr wrap="square" lIns="64008" tIns="36576" rIns="64008" bIns="18288" anchor="t">
            <a:spAutoFit/>
          </a:bodyPr>
          <a:lstStyle/>
          <a:p>
            <a:pPr algn="ctr"/>
            <a:r>
              <a:rPr sz="3400" b="1">
                <a:solidFill>
                  <a:srgbClr val="FFFFFF"/>
                </a:solidFill>
                <a:latin typeface="Aptos"/>
              </a:rPr>
              <a:t>THANK YOU</a:t>
            </a:r>
          </a:p>
        </p:txBody>
      </p:sp>
      <p:sp>
        <p:nvSpPr>
          <p:cNvPr id="5" name="TextBox 4"/>
          <p:cNvSpPr txBox="1"/>
          <p:nvPr/>
        </p:nvSpPr>
        <p:spPr>
          <a:xfrm>
            <a:off x="914400" y="2057400"/>
            <a:ext cx="10332720" cy="502920"/>
          </a:xfrm>
          <a:prstGeom prst="rect">
            <a:avLst/>
          </a:prstGeom>
          <a:noFill/>
        </p:spPr>
        <p:txBody>
          <a:bodyPr wrap="square" lIns="64008" tIns="36576" rIns="64008" bIns="18288" anchor="t">
            <a:spAutoFit/>
          </a:bodyPr>
          <a:lstStyle/>
          <a:p>
            <a:pPr algn="ctr"/>
            <a:r>
              <a:rPr sz="2100" b="1">
                <a:solidFill>
                  <a:srgbClr val="FFC400"/>
                </a:solidFill>
                <a:latin typeface="Aptos"/>
              </a:rPr>
              <a:t>UBER TRIPS ANALYTICS</a:t>
            </a:r>
          </a:p>
        </p:txBody>
      </p:sp>
      <p:sp>
        <p:nvSpPr>
          <p:cNvPr id="6" name="TextBox 5"/>
          <p:cNvSpPr txBox="1"/>
          <p:nvPr/>
        </p:nvSpPr>
        <p:spPr>
          <a:xfrm>
            <a:off x="1097280" y="2788920"/>
            <a:ext cx="9966960" cy="777240"/>
          </a:xfrm>
          <a:prstGeom prst="rect">
            <a:avLst/>
          </a:prstGeom>
          <a:noFill/>
        </p:spPr>
        <p:txBody>
          <a:bodyPr wrap="square" lIns="64008" tIns="36576" rIns="64008" bIns="18288" anchor="t">
            <a:spAutoFit/>
          </a:bodyPr>
          <a:lstStyle/>
          <a:p>
            <a:pPr algn="ctr"/>
            <a:r>
              <a:rPr sz="1600" b="0">
                <a:solidFill>
                  <a:srgbClr val="C3CFDA"/>
                </a:solidFill>
                <a:latin typeface="Aptos"/>
              </a:rPr>
              <a:t>SQL analysis + Power BI dashboards
From raw trip data to actionable operational insights</a:t>
            </a:r>
          </a:p>
        </p:txBody>
      </p:sp>
      <p:sp>
        <p:nvSpPr>
          <p:cNvPr id="7" name="TextBox 6"/>
          <p:cNvSpPr txBox="1"/>
          <p:nvPr/>
        </p:nvSpPr>
        <p:spPr>
          <a:xfrm>
            <a:off x="1828800" y="4983480"/>
            <a:ext cx="8503920" cy="411480"/>
          </a:xfrm>
          <a:prstGeom prst="rect">
            <a:avLst/>
          </a:prstGeom>
          <a:noFill/>
        </p:spPr>
        <p:txBody>
          <a:bodyPr wrap="square" lIns="64008" tIns="36576" rIns="64008" bIns="18288" anchor="t">
            <a:spAutoFit/>
          </a:bodyPr>
          <a:lstStyle/>
          <a:p>
            <a:pPr algn="ctr"/>
            <a:r>
              <a:rPr sz="1100" b="1">
                <a:solidFill>
                  <a:srgbClr val="FFFFFF"/>
                </a:solidFill>
                <a:latin typeface="Aptos"/>
              </a:rPr>
              <a:t>POWER BI EDITION  •  5 DASHBOARDS  •  NYC GREEN TAXI DATA</a:t>
            </a:r>
          </a:p>
        </p:txBody>
      </p:sp>
      <p:sp>
        <p:nvSpPr>
          <p:cNvPr id="8" name="TextBox 7"/>
          <p:cNvSpPr txBox="1"/>
          <p:nvPr/>
        </p:nvSpPr>
        <p:spPr>
          <a:xfrm>
            <a:off x="10789920" y="4892040"/>
            <a:ext cx="640080" cy="502920"/>
          </a:xfrm>
          <a:prstGeom prst="rect">
            <a:avLst/>
          </a:prstGeom>
          <a:noFill/>
        </p:spPr>
        <p:txBody>
          <a:bodyPr wrap="square" lIns="64008" tIns="36576" rIns="64008" bIns="18288" anchor="t">
            <a:spAutoFit/>
          </a:bodyPr>
          <a:lstStyle/>
          <a:p>
            <a:pPr algn="ctr"/>
            <a:r>
              <a:rPr sz="3000" b="0">
                <a:solidFill>
                  <a:srgbClr val="FFC400"/>
                </a:solidFill>
                <a:latin typeface="Aptos"/>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4562</Words>
  <Application>Microsoft Office PowerPoint</Application>
  <PresentationFormat>Widescreen</PresentationFormat>
  <Paragraphs>555</Paragraphs>
  <Slides>50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Bhoopendra singh</cp:lastModifiedBy>
  <cp:revision>2</cp:revision>
  <dcterms:created xsi:type="dcterms:W3CDTF">2013-01-27T09:14:16Z</dcterms:created>
  <dcterms:modified xsi:type="dcterms:W3CDTF">2026-10-23T20:37:51Z</dcterms:modified>
  <cp:category/>
</cp:coreProperties>
</file>